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29.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tags/tag27.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docProps/custom.xml" ContentType="application/vnd.openxmlformats-officedocument.custom-propertie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34.xml" ContentType="application/vnd.openxmlformats-officedocument.presentationml.tag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21.xml" ContentType="application/vnd.openxmlformats-officedocument.presentationml.tags+xml"/>
  <Override PartName="/ppt/tags/tag30.xml" ContentType="application/vnd.openxmlformats-officedocument.presentationml.tags+xml"/>
  <Override PartName="/ppt/notesSlides/notesSlide5.xml" ContentType="application/vnd.openxmlformats-officedocument.presentationml.notesSlide+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tags/tag7.xml" ContentType="application/vnd.openxmlformats-officedocument.presentationml.tags+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23"/>
  </p:notesMasterIdLst>
  <p:handoutMasterIdLst>
    <p:handoutMasterId r:id="rId24"/>
  </p:handoutMasterIdLst>
  <p:sldIdLst>
    <p:sldId id="265" r:id="rId5"/>
    <p:sldId id="259" r:id="rId6"/>
    <p:sldId id="266" r:id="rId7"/>
    <p:sldId id="279" r:id="rId8"/>
    <p:sldId id="287" r:id="rId9"/>
    <p:sldId id="288" r:id="rId10"/>
    <p:sldId id="285" r:id="rId11"/>
    <p:sldId id="278" r:id="rId12"/>
    <p:sldId id="286" r:id="rId13"/>
    <p:sldId id="267" r:id="rId14"/>
    <p:sldId id="282" r:id="rId15"/>
    <p:sldId id="283" r:id="rId16"/>
    <p:sldId id="280" r:id="rId17"/>
    <p:sldId id="284" r:id="rId18"/>
    <p:sldId id="281" r:id="rId19"/>
    <p:sldId id="273" r:id="rId20"/>
    <p:sldId id="275" r:id="rId21"/>
    <p:sldId id="276"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od V Satpute" initials="VVS" lastIdx="16" clrIdx="0"/>
  <p:cmAuthor id="1" name="Tanmaya K Acharya" initials="TKA" lastIdx="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showOutlineIcons="0">
    <p:restoredLeft sz="16378" autoAdjust="0"/>
    <p:restoredTop sz="89499"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5" d="100"/>
          <a:sy n="75" d="100"/>
        </p:scale>
        <p:origin x="-1968" y="-120"/>
      </p:cViewPr>
      <p:guideLst>
        <p:guide orient="horz" pos="2806"/>
        <p:guide pos="123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907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9264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25600" y="580073"/>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and Development Tools	                                                     Multithreading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56046" y="8803917"/>
            <a:ext cx="2946699" cy="330559"/>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20-</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92313" y="720725"/>
            <a:ext cx="4800600" cy="3600450"/>
          </a:xfrm>
        </p:spPr>
      </p:sp>
      <p:sp>
        <p:nvSpPr>
          <p:cNvPr id="6" name="Notes Placeholder 5"/>
          <p:cNvSpPr>
            <a:spLocks noGrp="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This lesson covers the usage of Thread in application. It explains how to create Thread program and implement</a:t>
            </a:r>
            <a:r>
              <a:rPr lang="en-US" baseline="0" dirty="0" smtClean="0"/>
              <a:t> multi threading.</a:t>
            </a:r>
            <a:endParaRPr lang="en-US" dirty="0" smtClean="0"/>
          </a:p>
          <a:p>
            <a:endParaRPr lang="en-US" dirty="0" smtClean="0"/>
          </a:p>
          <a:p>
            <a:r>
              <a:rPr lang="en-US" dirty="0" smtClean="0"/>
              <a:t>Lesson outline: </a:t>
            </a:r>
          </a:p>
          <a:p>
            <a:endParaRPr lang="en-US" dirty="0" smtClean="0"/>
          </a:p>
          <a:p>
            <a:pPr lvl="1"/>
            <a:r>
              <a:rPr lang="en-US" dirty="0" smtClean="0"/>
              <a:t>20.1:</a:t>
            </a:r>
            <a:r>
              <a:rPr lang="en-US" baseline="0" dirty="0" smtClean="0"/>
              <a:t> Understanding Threads.</a:t>
            </a:r>
            <a:endParaRPr lang="en-US" dirty="0" smtClean="0"/>
          </a:p>
          <a:p>
            <a:pPr lvl="1"/>
            <a:r>
              <a:rPr lang="en-US" dirty="0" smtClean="0"/>
              <a:t>20.2: Thread Life cycle </a:t>
            </a:r>
          </a:p>
          <a:p>
            <a:pPr lvl="1"/>
            <a:r>
              <a:rPr lang="en-US" dirty="0" smtClean="0"/>
              <a:t>20.3: Scheduling Thread Priorities</a:t>
            </a:r>
          </a:p>
          <a:p>
            <a:pPr lvl="1"/>
            <a:r>
              <a:rPr lang="en-US" dirty="0" smtClean="0"/>
              <a:t>20.4: Controlling thread using sleep() and join()</a:t>
            </a:r>
          </a:p>
          <a:p>
            <a:pPr lvl="1"/>
            <a:endParaRPr lang="en-US" dirty="0" smtClean="0"/>
          </a:p>
          <a:p>
            <a:endParaRPr lang="en-US" dirty="0"/>
          </a:p>
        </p:txBody>
      </p:sp>
      <p:sp>
        <p:nvSpPr>
          <p:cNvPr id="6" name="Slide Image Placeholder 5"/>
          <p:cNvSpPr>
            <a:spLocks noGrp="1" noRot="1" noChangeAspect="1"/>
          </p:cNvSpPr>
          <p:nvPr>
            <p:ph type="sldImg"/>
          </p:nvPr>
        </p:nvSpPr>
        <p:spPr>
          <a:xfrm>
            <a:off x="1992313"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Rectangle 3"/>
          <p:cNvSpPr>
            <a:spLocks noGrp="1" noChangeArrowheads="1"/>
          </p:cNvSpPr>
          <p:nvPr>
            <p:ph type="body" idx="1"/>
          </p:nvPr>
        </p:nvSpPr>
        <p:spPr>
          <a:xfrm>
            <a:off x="1992641" y="4447616"/>
            <a:ext cx="4892673" cy="4620183"/>
          </a:xfrm>
        </p:spPr>
        <p:txBody>
          <a:bodyPr>
            <a:normAutofit lnSpcReduction="10000"/>
          </a:bodyPr>
          <a:lstStyle/>
          <a:p>
            <a:r>
              <a:rPr lang="en-US" dirty="0" smtClean="0">
                <a:latin typeface="Arial (Body)"/>
              </a:rPr>
              <a:t>Process  Vs   Thread :</a:t>
            </a:r>
          </a:p>
          <a:p>
            <a:endParaRPr lang="en-US" dirty="0" smtClean="0">
              <a:latin typeface="Arial (Body)"/>
            </a:endParaRPr>
          </a:p>
          <a:p>
            <a:r>
              <a:rPr lang="en-US" b="1" dirty="0" smtClean="0">
                <a:latin typeface="Arial (Body)"/>
              </a:rPr>
              <a:t>Understanding Process</a:t>
            </a:r>
            <a:r>
              <a:rPr lang="en-US" b="1" baseline="0" dirty="0" smtClean="0">
                <a:latin typeface="Arial (Body)"/>
              </a:rPr>
              <a:t> </a:t>
            </a:r>
            <a:r>
              <a:rPr lang="en-US" dirty="0" smtClean="0">
                <a:latin typeface="Arial (Body)"/>
              </a:rPr>
              <a:t>:   A process is nothing but an executing instance of a program</a:t>
            </a:r>
            <a:r>
              <a:rPr lang="en-US" baseline="0" dirty="0" smtClean="0">
                <a:latin typeface="Arial (Body)"/>
              </a:rPr>
              <a:t> which </a:t>
            </a:r>
            <a:r>
              <a:rPr lang="en-US" sz="1100" dirty="0">
                <a:latin typeface="Arial (Body)"/>
              </a:rPr>
              <a:t>run in separate memory spaces .Processes don’t share the same address space and always stored in the main memory . Once the machine is rebooted it disappears .</a:t>
            </a:r>
            <a:r>
              <a:rPr lang="en-US" altLang="en-US" dirty="0" smtClean="0">
                <a:latin typeface="Arial (Body)"/>
                <a:cs typeface="Times New Roman" pitchFamily="18" charset="0"/>
              </a:rPr>
              <a:t>The execution shifts between the tasks of different processes</a:t>
            </a:r>
            <a:r>
              <a:rPr lang="en-US" altLang="en-US" baseline="0" dirty="0" smtClean="0">
                <a:latin typeface="Arial (Body)"/>
                <a:cs typeface="Times New Roman" pitchFamily="18" charset="0"/>
              </a:rPr>
              <a:t> </a:t>
            </a:r>
            <a:r>
              <a:rPr lang="en-US" altLang="en-US" dirty="0" smtClean="0">
                <a:latin typeface="Arial (Body)"/>
                <a:cs typeface="Times New Roman" pitchFamily="18" charset="0"/>
              </a:rPr>
              <a:t>is known as </a:t>
            </a:r>
            <a:r>
              <a:rPr lang="en-US" altLang="en-US" b="1" dirty="0" smtClean="0">
                <a:latin typeface="Arial (Body)"/>
                <a:cs typeface="Times New Roman" pitchFamily="18" charset="0"/>
              </a:rPr>
              <a:t>heavyweight process .Therefore , </a:t>
            </a:r>
            <a:r>
              <a:rPr lang="en-US" sz="1100" dirty="0">
                <a:latin typeface="Arial (Body)"/>
              </a:rPr>
              <a:t>Inter process communication is always slower </a:t>
            </a:r>
            <a:endParaRPr lang="en-US" altLang="en-US" b="1" dirty="0" smtClean="0">
              <a:latin typeface="Arial (Body)"/>
              <a:cs typeface="Times New Roman" pitchFamily="18" charset="0"/>
            </a:endParaRPr>
          </a:p>
          <a:p>
            <a:endParaRPr lang="en-US" b="1" dirty="0" smtClean="0">
              <a:latin typeface="Arial (Body)"/>
              <a:cs typeface="Times New Roman" pitchFamily="18" charset="0"/>
            </a:endParaRPr>
          </a:p>
          <a:p>
            <a:r>
              <a:rPr lang="en-US" b="0" dirty="0" err="1" smtClean="0">
                <a:latin typeface="Arial (Body)"/>
                <a:cs typeface="Times New Roman" pitchFamily="18" charset="0"/>
              </a:rPr>
              <a:t>Exp</a:t>
            </a:r>
            <a:r>
              <a:rPr lang="en-US" b="0" dirty="0" smtClean="0">
                <a:latin typeface="Arial (Body)"/>
                <a:cs typeface="Times New Roman" pitchFamily="18" charset="0"/>
              </a:rPr>
              <a:t> :-  Running</a:t>
            </a:r>
            <a:r>
              <a:rPr lang="en-US" b="0" baseline="0" dirty="0" smtClean="0">
                <a:latin typeface="Arial (Body)"/>
                <a:cs typeface="Times New Roman" pitchFamily="18" charset="0"/>
              </a:rPr>
              <a:t> </a:t>
            </a:r>
            <a:r>
              <a:rPr lang="en-US" b="0" baseline="0" dirty="0" err="1" smtClean="0">
                <a:latin typeface="Arial (Body)"/>
                <a:cs typeface="Times New Roman" pitchFamily="18" charset="0"/>
              </a:rPr>
              <a:t>MicrosoftWord</a:t>
            </a:r>
            <a:r>
              <a:rPr lang="en-US" b="0" baseline="0" dirty="0" smtClean="0">
                <a:latin typeface="Arial (Body)"/>
                <a:cs typeface="Times New Roman" pitchFamily="18" charset="0"/>
              </a:rPr>
              <a:t> , Notepad , Different instance of Calculator , all works on multiple process .</a:t>
            </a:r>
          </a:p>
          <a:p>
            <a:endParaRPr lang="en-US" b="1" baseline="0" dirty="0" smtClean="0">
              <a:latin typeface="Arial (Body)"/>
              <a:cs typeface="Times New Roman" pitchFamily="18" charset="0"/>
            </a:endParaRPr>
          </a:p>
          <a:p>
            <a:pPr defTabSz="966612">
              <a:defRPr/>
            </a:pPr>
            <a:r>
              <a:rPr lang="en-US" b="1" dirty="0" smtClean="0">
                <a:latin typeface="Arial (Body)"/>
              </a:rPr>
              <a:t>Understanding Thread</a:t>
            </a:r>
            <a:r>
              <a:rPr lang="en-US" b="1" baseline="0" dirty="0" smtClean="0">
                <a:latin typeface="Arial (Body)"/>
              </a:rPr>
              <a:t> </a:t>
            </a:r>
            <a:r>
              <a:rPr lang="en-US" baseline="0" dirty="0" smtClean="0">
                <a:latin typeface="Arial (Body)"/>
              </a:rPr>
              <a:t>:   </a:t>
            </a:r>
            <a:r>
              <a:rPr lang="en-US" altLang="en-US" dirty="0" smtClean="0">
                <a:latin typeface="Arial (Body)"/>
                <a:cs typeface="Times New Roman" pitchFamily="18" charset="0"/>
              </a:rPr>
              <a:t>A thread is a single sequential flow of control within a process and it lives within the process . A Java process can be divided into a number of threads (or to say, modules) and each thread is given the responsibility of executing a block of statements</a:t>
            </a:r>
            <a:r>
              <a:rPr lang="en-US" baseline="0" dirty="0" smtClean="0">
                <a:latin typeface="Arial (Body)"/>
              </a:rPr>
              <a:t>   . </a:t>
            </a:r>
            <a:r>
              <a:rPr lang="en-US" sz="1100" dirty="0">
                <a:latin typeface="Arial (Body)"/>
              </a:rPr>
              <a:t>It is termed as a </a:t>
            </a:r>
            <a:r>
              <a:rPr lang="en-US" sz="1100" b="1" dirty="0">
                <a:latin typeface="Arial (Body)"/>
              </a:rPr>
              <a:t>lightweight process</a:t>
            </a:r>
            <a:r>
              <a:rPr lang="en-US" sz="1100" dirty="0">
                <a:latin typeface="Arial (Body)"/>
              </a:rPr>
              <a:t>, since it is similar to a real process but executes within the context of a process and shares the same resources allotted to the process by the kernel. </a:t>
            </a:r>
            <a:r>
              <a:rPr lang="en-US" altLang="en-US" dirty="0" smtClean="0">
                <a:latin typeface="Arial (Body)"/>
                <a:cs typeface="Times New Roman" pitchFamily="18" charset="0"/>
              </a:rPr>
              <a:t>Inter process Communication is always slower than intra process communication. </a:t>
            </a:r>
            <a:r>
              <a:rPr lang="en-US" sz="1100" dirty="0">
                <a:latin typeface="Arial (Body)"/>
              </a:rPr>
              <a:t>Process are not easily created where threads are easily created .</a:t>
            </a:r>
          </a:p>
          <a:p>
            <a:pPr defTabSz="966612">
              <a:defRPr/>
            </a:pPr>
            <a:endParaRPr lang="en-US" sz="1100" dirty="0">
              <a:latin typeface="Arial (Body)"/>
            </a:endParaRPr>
          </a:p>
          <a:p>
            <a:pPr defTabSz="966612">
              <a:defRPr/>
            </a:pPr>
            <a:r>
              <a:rPr lang="en-US" sz="1100" dirty="0">
                <a:latin typeface="Arial (Body)"/>
              </a:rPr>
              <a:t> Basically a process has only one thread of control – one set of machine instructions executing at one time. In some cases , a process may also be made up of multiple threads of execution that execute instructions concurrently.</a:t>
            </a:r>
          </a:p>
          <a:p>
            <a:pPr defTabSz="966612">
              <a:defRPr/>
            </a:pPr>
            <a:endParaRPr lang="en-US" sz="1100" dirty="0">
              <a:latin typeface="Arial (Body)"/>
            </a:endParaRPr>
          </a:p>
          <a:p>
            <a:pPr defTabSz="966612">
              <a:defRPr/>
            </a:pPr>
            <a:r>
              <a:rPr lang="en-US" sz="1100" dirty="0">
                <a:latin typeface="Arial (Body)"/>
              </a:rPr>
              <a:t>In a </a:t>
            </a:r>
            <a:r>
              <a:rPr lang="en-US" sz="1100" dirty="0" err="1">
                <a:latin typeface="Arial (Body)"/>
              </a:rPr>
              <a:t>uni</a:t>
            </a:r>
            <a:r>
              <a:rPr lang="en-US" sz="1100" dirty="0">
                <a:latin typeface="Arial (Body)"/>
              </a:rPr>
              <a:t>-processor system, a thread scheduling algorithm is applied and the processor is scheduled to run each thread one at a time.</a:t>
            </a:r>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xmlns="" val="1473079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pPr>
              <a:lnSpc>
                <a:spcPct val="90000"/>
              </a:lnSpc>
            </a:pPr>
            <a:r>
              <a:rPr lang="en-US" altLang="en-US" dirty="0" smtClean="0">
                <a:latin typeface="Arial" charset="0"/>
                <a:cs typeface="Arial" charset="0"/>
              </a:rPr>
              <a:t>To create threads, your class must extend the Thread class and must override the run() method. Call start() method to begin execution of the thread. run() method defines the code that constitutes a new thread. run()</a:t>
            </a:r>
            <a:r>
              <a:rPr lang="en-US" altLang="en-US" b="1" dirty="0" smtClean="0">
                <a:latin typeface="Arial" charset="0"/>
                <a:cs typeface="Arial" charset="0"/>
              </a:rPr>
              <a:t> </a:t>
            </a:r>
            <a:r>
              <a:rPr lang="en-US" altLang="en-US" dirty="0" smtClean="0">
                <a:latin typeface="Arial" charset="0"/>
                <a:cs typeface="Arial" charset="0"/>
              </a:rPr>
              <a:t>can call other methods, use other classes, and declare variables just like the main thread.  The only difference is that run()</a:t>
            </a:r>
            <a:r>
              <a:rPr lang="en-US" altLang="en-US" b="1" dirty="0" smtClean="0">
                <a:latin typeface="Arial" charset="0"/>
                <a:cs typeface="Arial" charset="0"/>
              </a:rPr>
              <a:t> </a:t>
            </a:r>
            <a:r>
              <a:rPr lang="en-US" altLang="en-US" dirty="0" smtClean="0">
                <a:latin typeface="Arial" charset="0"/>
                <a:cs typeface="Arial" charset="0"/>
              </a:rPr>
              <a:t>establishes the entry point for another, concurrent thread of execution within your program.  This ends when run() returns.</a:t>
            </a:r>
          </a:p>
          <a:p>
            <a:pPr>
              <a:lnSpc>
                <a:spcPct val="90000"/>
              </a:lnSpc>
            </a:pPr>
            <a:endParaRPr lang="en-US" altLang="en-US" dirty="0" smtClean="0">
              <a:latin typeface="Arial" charset="0"/>
              <a:cs typeface="Arial" charset="0"/>
            </a:endParaRPr>
          </a:p>
          <a:p>
            <a:endParaRPr lang="en-US" sz="1100" dirty="0">
              <a:latin typeface="Candara" panose="020E0502030303020204" pitchFamily="34" charset="0"/>
            </a:endParaRPr>
          </a:p>
          <a:p>
            <a:r>
              <a:rPr lang="en-US" sz="1100" dirty="0">
                <a:latin typeface="Candara" panose="020E0502030303020204" pitchFamily="34" charset="0"/>
              </a:rPr>
              <a:t>        </a:t>
            </a:r>
          </a:p>
          <a:p>
            <a:endParaRPr lang="en-US" sz="1100" dirty="0">
              <a:latin typeface="Candara" panose="020E0502030303020204" pitchFamily="34" charset="0"/>
            </a:endParaRPr>
          </a:p>
          <a:p>
            <a:endParaRPr lang="en-US" sz="1100" dirty="0">
              <a:latin typeface="Candara" panose="020E0502030303020204" pitchFamily="34" charset="0"/>
            </a:endParaRPr>
          </a:p>
          <a:p>
            <a:endParaRPr lang="en-US" sz="1100" dirty="0">
              <a:latin typeface="Candara" panose="020E0502030303020204" pitchFamily="34" charset="0"/>
            </a:endParaRPr>
          </a:p>
          <a:p>
            <a:endParaRPr lang="en-US" sz="1100" dirty="0">
              <a:latin typeface="Candara" panose="020E0502030303020204" pitchFamily="34" charset="0"/>
            </a:endParaRPr>
          </a:p>
          <a:p>
            <a:r>
              <a:rPr lang="en-US" sz="1100" dirty="0">
                <a:latin typeface="Candara" panose="020E0502030303020204" pitchFamily="34" charset="0"/>
              </a:rPr>
              <a:t>}</a:t>
            </a:r>
          </a:p>
          <a:p>
            <a:endParaRPr lang="en-US" dirty="0"/>
          </a:p>
        </p:txBody>
      </p:sp>
    </p:spTree>
    <p:extLst>
      <p:ext uri="{BB962C8B-B14F-4D97-AF65-F5344CB8AC3E}">
        <p14:creationId xmlns:p14="http://schemas.microsoft.com/office/powerpoint/2010/main" xmlns="" val="1326467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r>
              <a:rPr lang="en-US" sz="1100" dirty="0">
                <a:latin typeface="Arial (Body)"/>
              </a:rPr>
              <a:t>The </a:t>
            </a:r>
            <a:r>
              <a:rPr lang="en-US" dirty="0" smtClean="0">
                <a:latin typeface="Arial (Body)"/>
              </a:rPr>
              <a:t>Runnable</a:t>
            </a:r>
            <a:r>
              <a:rPr lang="en-US" sz="1100" dirty="0">
                <a:latin typeface="Arial (Body)"/>
              </a:rPr>
              <a:t> interface should be implemented by any class whose instances are intended to be executed by a thread. The class must define a method of no arguments called </a:t>
            </a:r>
            <a:r>
              <a:rPr lang="en-US" dirty="0" smtClean="0">
                <a:latin typeface="Arial (Body)"/>
              </a:rPr>
              <a:t>run</a:t>
            </a:r>
            <a:r>
              <a:rPr lang="en-US" sz="1100" dirty="0">
                <a:latin typeface="Arial (Body)"/>
              </a:rPr>
              <a:t>.</a:t>
            </a:r>
          </a:p>
          <a:p>
            <a:endParaRPr lang="en-US" sz="1100" dirty="0">
              <a:latin typeface="Arial (Body)"/>
            </a:endParaRPr>
          </a:p>
          <a:p>
            <a:endParaRPr lang="en-US" sz="1100" dirty="0">
              <a:latin typeface="Arial (Body)"/>
            </a:endParaRPr>
          </a:p>
          <a:p>
            <a:r>
              <a:rPr lang="en-US" sz="1100" b="1" dirty="0">
                <a:latin typeface="Arial (Body)"/>
              </a:rPr>
              <a:t>Find below the main class to use </a:t>
            </a:r>
            <a:r>
              <a:rPr lang="en-US" sz="1100" b="1" dirty="0" err="1">
                <a:latin typeface="Arial (Body)"/>
              </a:rPr>
              <a:t>HelloRunnable</a:t>
            </a:r>
            <a:r>
              <a:rPr lang="en-US" sz="1100" b="1" dirty="0">
                <a:latin typeface="Arial (Body)"/>
              </a:rPr>
              <a:t> Thread</a:t>
            </a:r>
          </a:p>
          <a:p>
            <a:endParaRPr lang="en-US" sz="1100" b="1" dirty="0">
              <a:latin typeface="Arial (Body)"/>
            </a:endParaRPr>
          </a:p>
          <a:p>
            <a:r>
              <a:rPr lang="en-US" sz="1100" b="1" dirty="0">
                <a:latin typeface="Arial (Body)"/>
              </a:rPr>
              <a:t>public class </a:t>
            </a:r>
            <a:r>
              <a:rPr lang="en-US" sz="1100" b="1" dirty="0" err="1">
                <a:latin typeface="Arial (Body)"/>
              </a:rPr>
              <a:t>HelloMain</a:t>
            </a:r>
            <a:r>
              <a:rPr lang="en-US" sz="1100" b="1" dirty="0">
                <a:latin typeface="Arial (Body)"/>
              </a:rPr>
              <a:t> {</a:t>
            </a:r>
          </a:p>
          <a:p>
            <a:endParaRPr lang="en-US" sz="1100" dirty="0">
              <a:latin typeface="Arial (Body)"/>
            </a:endParaRPr>
          </a:p>
          <a:p>
            <a:r>
              <a:rPr lang="en-US" sz="1100" b="1" dirty="0">
                <a:latin typeface="Arial (Body)"/>
              </a:rPr>
              <a:t>public static void main(String[] </a:t>
            </a:r>
            <a:r>
              <a:rPr lang="en-US" sz="1100" b="1" dirty="0" err="1">
                <a:latin typeface="Arial (Body)"/>
              </a:rPr>
              <a:t>args</a:t>
            </a:r>
            <a:r>
              <a:rPr lang="en-US" sz="1100" b="1" dirty="0">
                <a:latin typeface="Arial (Body)"/>
              </a:rPr>
              <a:t>) {</a:t>
            </a:r>
          </a:p>
          <a:p>
            <a:endParaRPr lang="en-US" sz="1100" dirty="0">
              <a:latin typeface="Arial (Body)"/>
            </a:endParaRPr>
          </a:p>
          <a:p>
            <a:endParaRPr lang="en-US" sz="1100" dirty="0">
              <a:latin typeface="Arial (Body)"/>
            </a:endParaRPr>
          </a:p>
          <a:p>
            <a:r>
              <a:rPr lang="en-US" sz="1100" dirty="0">
                <a:latin typeface="Arial (Body)"/>
              </a:rPr>
              <a:t>    </a:t>
            </a:r>
            <a:r>
              <a:rPr lang="en-US" sz="1100" dirty="0" err="1">
                <a:latin typeface="Arial (Body)"/>
              </a:rPr>
              <a:t>HelloRunnable</a:t>
            </a:r>
            <a:r>
              <a:rPr lang="en-US" sz="1100" dirty="0">
                <a:latin typeface="Arial (Body)"/>
              </a:rPr>
              <a:t> hello = </a:t>
            </a:r>
            <a:r>
              <a:rPr lang="en-US" sz="1100" b="1" dirty="0">
                <a:latin typeface="Arial (Body)"/>
              </a:rPr>
              <a:t>new </a:t>
            </a:r>
            <a:r>
              <a:rPr lang="en-US" sz="1100" b="1" dirty="0" err="1">
                <a:latin typeface="Arial (Body)"/>
              </a:rPr>
              <a:t>HelloRunnable</a:t>
            </a:r>
            <a:r>
              <a:rPr lang="en-US" sz="1100" b="1" dirty="0">
                <a:latin typeface="Arial (Body)"/>
              </a:rPr>
              <a:t>();</a:t>
            </a:r>
          </a:p>
          <a:p>
            <a:r>
              <a:rPr lang="en-US" sz="1100" dirty="0">
                <a:latin typeface="Arial (Body)"/>
              </a:rPr>
              <a:t>Thread </a:t>
            </a:r>
            <a:r>
              <a:rPr lang="en-US" sz="1100" dirty="0" err="1">
                <a:latin typeface="Arial (Body)"/>
              </a:rPr>
              <a:t>helloThread</a:t>
            </a:r>
            <a:r>
              <a:rPr lang="en-US" sz="1100" dirty="0">
                <a:latin typeface="Arial (Body)"/>
              </a:rPr>
              <a:t> = </a:t>
            </a:r>
            <a:r>
              <a:rPr lang="en-US" sz="1100" b="1" dirty="0">
                <a:latin typeface="Arial (Body)"/>
              </a:rPr>
              <a:t>new Thread(hello);</a:t>
            </a:r>
          </a:p>
          <a:p>
            <a:endParaRPr lang="en-US" sz="1100" dirty="0">
              <a:latin typeface="Arial (Body)"/>
            </a:endParaRPr>
          </a:p>
          <a:p>
            <a:r>
              <a:rPr lang="en-US" sz="1100" dirty="0" err="1">
                <a:latin typeface="Arial (Body)"/>
              </a:rPr>
              <a:t>helloThread.start</a:t>
            </a:r>
            <a:r>
              <a:rPr lang="en-US" sz="1100" dirty="0">
                <a:latin typeface="Arial (Body)"/>
              </a:rPr>
              <a:t>();</a:t>
            </a:r>
          </a:p>
          <a:p>
            <a:endParaRPr lang="en-US" sz="1100" dirty="0">
              <a:latin typeface="Arial (Body)"/>
            </a:endParaRPr>
          </a:p>
          <a:p>
            <a:r>
              <a:rPr lang="en-US" sz="1100" dirty="0">
                <a:latin typeface="Arial (Body)"/>
              </a:rPr>
              <a:t>}</a:t>
            </a:r>
          </a:p>
          <a:p>
            <a:endParaRPr lang="en-US" sz="1100" dirty="0">
              <a:latin typeface="Arial (Body)"/>
            </a:endParaRPr>
          </a:p>
          <a:p>
            <a:r>
              <a:rPr lang="en-US" sz="1100" dirty="0">
                <a:latin typeface="Arial (Body)"/>
              </a:rPr>
              <a:t>}</a:t>
            </a:r>
          </a:p>
        </p:txBody>
      </p:sp>
    </p:spTree>
    <p:extLst>
      <p:ext uri="{BB962C8B-B14F-4D97-AF65-F5344CB8AC3E}">
        <p14:creationId xmlns:p14="http://schemas.microsoft.com/office/powerpoint/2010/main" xmlns="" val="1337105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xmlns="" val="3384650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r>
              <a:rPr lang="en-GB" altLang="en-US" dirty="0" smtClean="0">
                <a:latin typeface="Arial (Body)"/>
                <a:cs typeface="Times New Roman" pitchFamily="18" charset="0"/>
              </a:rPr>
              <a:t>Threads can be created either of these two ways</a:t>
            </a:r>
            <a:endParaRPr lang="en-US" dirty="0" smtClean="0">
              <a:solidFill>
                <a:schemeClr val="tx1"/>
              </a:solidFill>
              <a:latin typeface="Arial (Body)"/>
            </a:endParaRPr>
          </a:p>
          <a:p>
            <a:pPr marL="881027" lvl="1" indent="-397721">
              <a:spcBef>
                <a:spcPts val="634"/>
              </a:spcBef>
              <a:tabLst>
                <a:tab pos="605811" algn="l"/>
                <a:tab pos="1089117" algn="l"/>
                <a:tab pos="1572424" algn="l"/>
                <a:tab pos="2055730" algn="l"/>
                <a:tab pos="2539036" algn="l"/>
                <a:tab pos="3022342" algn="l"/>
                <a:tab pos="3505648" algn="l"/>
                <a:tab pos="3988954" algn="l"/>
                <a:tab pos="4472260" algn="l"/>
                <a:tab pos="4955566" algn="l"/>
                <a:tab pos="5438873" algn="l"/>
                <a:tab pos="5922179" algn="l"/>
                <a:tab pos="6405485" algn="l"/>
                <a:tab pos="6888791" algn="l"/>
                <a:tab pos="7372097" algn="l"/>
                <a:tab pos="7855403" algn="l"/>
                <a:tab pos="8338709" algn="l"/>
                <a:tab pos="8822015" algn="l"/>
                <a:tab pos="9305321" algn="l"/>
                <a:tab pos="9788628" algn="l"/>
              </a:tabLst>
            </a:pPr>
            <a:r>
              <a:rPr lang="en-GB" altLang="en-US" dirty="0" smtClean="0">
                <a:latin typeface="Arial (Body)"/>
                <a:cs typeface="Times New Roman" pitchFamily="18" charset="0"/>
              </a:rPr>
              <a:t>Creating a </a:t>
            </a:r>
            <a:r>
              <a:rPr lang="en-GB" altLang="en-US" b="1" dirty="0" smtClean="0">
                <a:latin typeface="Arial (Body)"/>
                <a:cs typeface="Times New Roman" pitchFamily="18" charset="0"/>
              </a:rPr>
              <a:t>worker</a:t>
            </a:r>
            <a:r>
              <a:rPr lang="en-GB" altLang="en-US" dirty="0" smtClean="0">
                <a:latin typeface="Arial (Body)"/>
                <a:cs typeface="Times New Roman" pitchFamily="18" charset="0"/>
              </a:rPr>
              <a:t> object of the java.lang.Thread class</a:t>
            </a:r>
          </a:p>
          <a:p>
            <a:pPr marL="881027" lvl="1" indent="-397721">
              <a:spcBef>
                <a:spcPts val="634"/>
              </a:spcBef>
              <a:tabLst>
                <a:tab pos="605811" algn="l"/>
                <a:tab pos="1089117" algn="l"/>
                <a:tab pos="1572424" algn="l"/>
                <a:tab pos="2055730" algn="l"/>
                <a:tab pos="2539036" algn="l"/>
                <a:tab pos="3022342" algn="l"/>
                <a:tab pos="3505648" algn="l"/>
                <a:tab pos="3988954" algn="l"/>
                <a:tab pos="4472260" algn="l"/>
                <a:tab pos="4955566" algn="l"/>
                <a:tab pos="5438873" algn="l"/>
                <a:tab pos="5922179" algn="l"/>
                <a:tab pos="6405485" algn="l"/>
                <a:tab pos="6888791" algn="l"/>
                <a:tab pos="7372097" algn="l"/>
                <a:tab pos="7855403" algn="l"/>
                <a:tab pos="8338709" algn="l"/>
                <a:tab pos="8822015" algn="l"/>
                <a:tab pos="9305321" algn="l"/>
                <a:tab pos="9788628" algn="l"/>
              </a:tabLst>
            </a:pPr>
            <a:endParaRPr lang="en-GB" altLang="en-US" dirty="0" smtClean="0">
              <a:latin typeface="Arial (Body)"/>
              <a:cs typeface="Times New Roman" pitchFamily="18" charset="0"/>
            </a:endParaRPr>
          </a:p>
          <a:p>
            <a:pPr lvl="1"/>
            <a:r>
              <a:rPr lang="en-GB" altLang="en-US" dirty="0" smtClean="0">
                <a:latin typeface="Arial (Body)"/>
                <a:cs typeface="Times New Roman" pitchFamily="18" charset="0"/>
              </a:rPr>
              <a:t>Creating the </a:t>
            </a:r>
            <a:r>
              <a:rPr lang="en-GB" altLang="en-US" b="1" dirty="0" smtClean="0">
                <a:latin typeface="Arial (Body)"/>
                <a:cs typeface="Times New Roman" pitchFamily="18" charset="0"/>
              </a:rPr>
              <a:t>task</a:t>
            </a:r>
            <a:r>
              <a:rPr lang="en-GB" altLang="en-US" dirty="0" smtClean="0">
                <a:latin typeface="Arial (Body)"/>
                <a:cs typeface="Times New Roman" pitchFamily="18" charset="0"/>
              </a:rPr>
              <a:t> object which is implementing the java.lang.Runnable interface</a:t>
            </a:r>
            <a:endParaRPr lang="en-US" altLang="en-US" dirty="0" smtClean="0">
              <a:latin typeface="Arial (Body)"/>
              <a:cs typeface="Times New Roman" pitchFamily="18" charset="0"/>
            </a:endParaRPr>
          </a:p>
          <a:p>
            <a:pPr marL="483306" lvl="1"/>
            <a:endParaRPr lang="en-US" altLang="en-US" dirty="0" smtClean="0">
              <a:latin typeface="Arial (Body)"/>
              <a:cs typeface="Times New Roman" pitchFamily="18" charset="0"/>
            </a:endParaRPr>
          </a:p>
          <a:p>
            <a:pPr lvl="1"/>
            <a:r>
              <a:rPr lang="en-GB" altLang="en-US" dirty="0" smtClean="0">
                <a:latin typeface="Arial (Body)"/>
                <a:cs typeface="Times New Roman" pitchFamily="18" charset="0"/>
              </a:rPr>
              <a:t>Using Executor framework which </a:t>
            </a:r>
            <a:r>
              <a:rPr lang="en-GB" altLang="en-US" b="1" dirty="0" smtClean="0">
                <a:latin typeface="Arial (Body)"/>
                <a:cs typeface="Times New Roman" pitchFamily="18" charset="0"/>
              </a:rPr>
              <a:t>decouples Task submission from policy of worker threads</a:t>
            </a:r>
          </a:p>
          <a:p>
            <a:pPr lvl="1"/>
            <a:endParaRPr lang="en-GB" altLang="en-US" b="1" dirty="0" smtClean="0">
              <a:latin typeface="Arial (Body)"/>
              <a:cs typeface="Times New Roman" pitchFamily="18" charset="0"/>
            </a:endParaRPr>
          </a:p>
          <a:p>
            <a:pPr marL="362480" indent="-362480">
              <a:lnSpc>
                <a:spcPct val="150000"/>
              </a:lnSpc>
              <a:spcAft>
                <a:spcPts val="846"/>
              </a:spcAft>
              <a:buFont typeface="+mj-lt"/>
              <a:buAutoNum type="arabicPeriod"/>
              <a:tabLst>
                <a:tab pos="483306" algn="l"/>
              </a:tabLst>
              <a:defRPr/>
            </a:pPr>
            <a:r>
              <a:rPr lang="en-US" b="1" dirty="0" smtClean="0">
                <a:latin typeface="Arial (Body)"/>
                <a:ea typeface="Times New Roman" panose="02020603050405020304" pitchFamily="18" charset="0"/>
                <a:cs typeface="Times New Roman" panose="02020603050405020304" pitchFamily="18" charset="0"/>
              </a:rPr>
              <a:t>InterruptedException :</a:t>
            </a:r>
            <a:r>
              <a:rPr lang="en-US" dirty="0" smtClean="0">
                <a:latin typeface="Arial (Body)"/>
                <a:ea typeface="Times New Roman" panose="02020603050405020304" pitchFamily="18" charset="0"/>
                <a:cs typeface="Times New Roman" panose="02020603050405020304" pitchFamily="18" charset="0"/>
              </a:rPr>
              <a:t> It is thrown when the waiting or sleeping state is disrupted by another thread.</a:t>
            </a:r>
            <a:endParaRPr lang="en-US" sz="1700" dirty="0">
              <a:latin typeface="Arial (Body)"/>
              <a:ea typeface="Calibri" panose="020F0502020204030204" pitchFamily="34" charset="0"/>
              <a:cs typeface="Times New Roman" panose="02020603050405020304" pitchFamily="18" charset="0"/>
            </a:endParaRPr>
          </a:p>
          <a:p>
            <a:pPr marL="362480" indent="-362480">
              <a:lnSpc>
                <a:spcPct val="150000"/>
              </a:lnSpc>
              <a:spcAft>
                <a:spcPts val="846"/>
              </a:spcAft>
              <a:buFont typeface="+mj-lt"/>
              <a:buAutoNum type="arabicPeriod"/>
              <a:tabLst>
                <a:tab pos="483306" algn="l"/>
              </a:tabLst>
              <a:defRPr/>
            </a:pPr>
            <a:r>
              <a:rPr lang="en-US" b="1" dirty="0" err="1" smtClean="0">
                <a:latin typeface="Arial (Body)"/>
                <a:ea typeface="Times New Roman" panose="02020603050405020304" pitchFamily="18" charset="0"/>
                <a:cs typeface="Times New Roman" panose="02020603050405020304" pitchFamily="18" charset="0"/>
              </a:rPr>
              <a:t>IllegalStateException</a:t>
            </a:r>
            <a:r>
              <a:rPr lang="en-US" b="1" dirty="0" smtClean="0">
                <a:latin typeface="Arial (Body)"/>
                <a:ea typeface="Times New Roman" panose="02020603050405020304" pitchFamily="18" charset="0"/>
                <a:cs typeface="Times New Roman" panose="02020603050405020304" pitchFamily="18" charset="0"/>
              </a:rPr>
              <a:t> :</a:t>
            </a:r>
            <a:r>
              <a:rPr lang="en-US" dirty="0" smtClean="0">
                <a:latin typeface="Arial (Body)"/>
                <a:ea typeface="Times New Roman" panose="02020603050405020304" pitchFamily="18" charset="0"/>
                <a:cs typeface="Times New Roman" panose="02020603050405020304" pitchFamily="18" charset="0"/>
              </a:rPr>
              <a:t> It is thrown when a thread is tried to start that is already started.</a:t>
            </a:r>
            <a:endParaRPr lang="en-US" sz="1700" dirty="0">
              <a:latin typeface="Arial (Body)"/>
              <a:ea typeface="Calibri" panose="020F0502020204030204" pitchFamily="34" charset="0"/>
              <a:cs typeface="Times New Roman" panose="02020603050405020304" pitchFamily="18" charset="0"/>
            </a:endParaRPr>
          </a:p>
          <a:p>
            <a:pPr lvl="1"/>
            <a:endParaRPr lang="en-US" altLang="en-US" dirty="0" smtClean="0">
              <a:latin typeface="Arial (Body)"/>
              <a:cs typeface="Times New Roman" pitchFamily="18" charset="0"/>
            </a:endParaRPr>
          </a:p>
          <a:p>
            <a:endParaRPr lang="en-US" dirty="0" smtClean="0">
              <a:latin typeface="Arial (Body)"/>
            </a:endParaRPr>
          </a:p>
          <a:p>
            <a:endParaRPr lang="en-US" dirty="0">
              <a:latin typeface="Arial (Body)"/>
            </a:endParaRPr>
          </a:p>
        </p:txBody>
      </p:sp>
    </p:spTree>
    <p:extLst>
      <p:ext uri="{BB962C8B-B14F-4D97-AF65-F5344CB8AC3E}">
        <p14:creationId xmlns:p14="http://schemas.microsoft.com/office/powerpoint/2010/main" xmlns="" val="3446253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xmlns="" val="3124122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9" name="Rectangle 3"/>
          <p:cNvSpPr>
            <a:spLocks noGrp="1" noChangeArrowheads="1"/>
          </p:cNvSpPr>
          <p:nvPr>
            <p:ph type="body" idx="1"/>
          </p:nvPr>
        </p:nvSpPr>
        <p:spPr/>
        <p:txBody>
          <a:bodyPr>
            <a:normAutofit fontScale="92500" lnSpcReduction="20000"/>
          </a:bodyPr>
          <a:lstStyle/>
          <a:p>
            <a:pPr eaLnBrk="1" hangingPunct="1"/>
            <a:r>
              <a:rPr lang="en-US" altLang="en-US" dirty="0" smtClean="0"/>
              <a:t>Above-mentioned stages are explained here:</a:t>
            </a:r>
          </a:p>
          <a:p>
            <a:pPr eaLnBrk="1" hangingPunct="1">
              <a:buFont typeface="Arial" charset="0"/>
              <a:buChar char="•"/>
            </a:pPr>
            <a:r>
              <a:rPr lang="en-US" altLang="en-US" b="1" dirty="0" smtClean="0"/>
              <a:t>New:</a:t>
            </a:r>
            <a:r>
              <a:rPr lang="en-US" altLang="en-US" dirty="0" smtClean="0"/>
              <a:t> </a:t>
            </a:r>
            <a:r>
              <a:rPr lang="en-US" altLang="en-US" sz="1100" dirty="0"/>
              <a:t>A new thread begins its life cycle in the new state. It remains in this state until the program starts the thread. It is also referred to as a born thread.</a:t>
            </a:r>
          </a:p>
          <a:p>
            <a:pPr eaLnBrk="1" hangingPunct="1">
              <a:buFont typeface="Arial" charset="0"/>
              <a:buNone/>
            </a:pPr>
            <a:endParaRPr lang="en-US" altLang="en-US" sz="1100" dirty="0"/>
          </a:p>
          <a:p>
            <a:pPr eaLnBrk="1" hangingPunct="1">
              <a:buFont typeface="Arial" charset="0"/>
              <a:buNone/>
            </a:pPr>
            <a:r>
              <a:rPr lang="en-US" altLang="en-US" sz="1100" dirty="0"/>
              <a:t>          Thread </a:t>
            </a:r>
            <a:r>
              <a:rPr lang="en-US" altLang="en-US" sz="1100" dirty="0" err="1"/>
              <a:t>thread</a:t>
            </a:r>
            <a:r>
              <a:rPr lang="en-US" altLang="en-US" sz="1100" dirty="0"/>
              <a:t> = new Thread(); // New Stage</a:t>
            </a:r>
          </a:p>
          <a:p>
            <a:pPr eaLnBrk="1" hangingPunct="1">
              <a:buFont typeface="Arial" charset="0"/>
              <a:buChar char="•"/>
            </a:pPr>
            <a:endParaRPr lang="en-US" altLang="en-US" sz="1100" dirty="0"/>
          </a:p>
          <a:p>
            <a:pPr eaLnBrk="1" hangingPunct="1">
              <a:buFont typeface="Arial" charset="0"/>
              <a:buChar char="•"/>
            </a:pPr>
            <a:r>
              <a:rPr lang="en-US" altLang="en-US" b="1" dirty="0" smtClean="0"/>
              <a:t>Runnable:</a:t>
            </a:r>
            <a:r>
              <a:rPr lang="en-US" altLang="en-US" dirty="0" smtClean="0"/>
              <a:t> </a:t>
            </a:r>
            <a:r>
              <a:rPr lang="en-US" altLang="en-US" sz="1100" dirty="0"/>
              <a:t>After a newly born thread is started, the thread becomes runnable. A thread in this state is considered to be executing its task.</a:t>
            </a:r>
          </a:p>
          <a:p>
            <a:pPr eaLnBrk="1" hangingPunct="1">
              <a:buFont typeface="Arial" charset="0"/>
              <a:buChar char="•"/>
            </a:pPr>
            <a:endParaRPr lang="en-US" altLang="en-US" sz="1100" dirty="0"/>
          </a:p>
          <a:p>
            <a:pPr eaLnBrk="1" hangingPunct="1">
              <a:buFont typeface="Arial" charset="0"/>
              <a:buNone/>
            </a:pPr>
            <a:r>
              <a:rPr lang="en-US" altLang="en-US" sz="1100" dirty="0"/>
              <a:t>        </a:t>
            </a:r>
            <a:r>
              <a:rPr lang="en-US" altLang="en-US" sz="1100" dirty="0" err="1"/>
              <a:t>thread.start</a:t>
            </a:r>
            <a:r>
              <a:rPr lang="en-US" altLang="en-US" sz="1100" dirty="0"/>
              <a:t>() ; // thread is runnable stage where run() is invoked .</a:t>
            </a:r>
          </a:p>
          <a:p>
            <a:pPr eaLnBrk="1" hangingPunct="1">
              <a:buFont typeface="Arial" charset="0"/>
              <a:buNone/>
            </a:pPr>
            <a:endParaRPr lang="en-US" altLang="en-US" sz="1100" dirty="0"/>
          </a:p>
          <a:p>
            <a:pPr eaLnBrk="1" hangingPunct="1">
              <a:buFont typeface="Arial" charset="0"/>
              <a:buNone/>
            </a:pPr>
            <a:endParaRPr lang="en-US" altLang="en-US" sz="1100" dirty="0"/>
          </a:p>
          <a:p>
            <a:pPr eaLnBrk="1" hangingPunct="1">
              <a:buFont typeface="Arial" charset="0"/>
              <a:buChar char="•"/>
            </a:pPr>
            <a:r>
              <a:rPr lang="en-US" altLang="en-US" b="1" dirty="0" smtClean="0"/>
              <a:t>Waiting:</a:t>
            </a:r>
            <a:r>
              <a:rPr lang="en-US" altLang="en-US" dirty="0" smtClean="0"/>
              <a:t> </a:t>
            </a:r>
            <a:r>
              <a:rPr lang="en-US" altLang="en-US" sz="1100" dirty="0"/>
              <a:t>Sometimes, a thread transitions to the waiting state while the thread waits for another thread to perform a task. A thread transitions back to the runnable state only when another thread signals the waiting thread to continue executing.</a:t>
            </a:r>
          </a:p>
          <a:p>
            <a:pPr eaLnBrk="1" hangingPunct="1">
              <a:buFont typeface="Arial" charset="0"/>
              <a:buNone/>
            </a:pPr>
            <a:endParaRPr lang="en-US" altLang="en-US" sz="1100" dirty="0"/>
          </a:p>
          <a:p>
            <a:pPr eaLnBrk="1" hangingPunct="1">
              <a:buFont typeface="Arial" charset="0"/>
              <a:buNone/>
            </a:pPr>
            <a:r>
              <a:rPr lang="en-US" altLang="en-US" sz="1100" dirty="0"/>
              <a:t>          </a:t>
            </a:r>
          </a:p>
          <a:p>
            <a:pPr eaLnBrk="1" hangingPunct="1">
              <a:buFont typeface="Arial" charset="0"/>
              <a:buNone/>
            </a:pPr>
            <a:r>
              <a:rPr lang="en-US" altLang="en-US" sz="1100" dirty="0"/>
              <a:t>    wait()  is used to send  thread  to waiting stage and   notify()   invoked by another thread to bring the waiting thread to runnable stage once again .Those Methods belong to Object class basically used with synchronization method in Multi threading program .</a:t>
            </a:r>
          </a:p>
          <a:p>
            <a:pPr eaLnBrk="1" hangingPunct="1">
              <a:buFont typeface="Arial" charset="0"/>
              <a:buChar char="•"/>
            </a:pPr>
            <a:endParaRPr lang="en-US" altLang="en-US" sz="1100" dirty="0"/>
          </a:p>
          <a:p>
            <a:pPr eaLnBrk="1" hangingPunct="1">
              <a:buFont typeface="Arial" charset="0"/>
              <a:buNone/>
            </a:pPr>
            <a:endParaRPr lang="en-US" altLang="en-US" sz="1100" dirty="0"/>
          </a:p>
          <a:p>
            <a:pPr eaLnBrk="1" hangingPunct="1">
              <a:buFont typeface="Arial" charset="0"/>
              <a:buChar char="•"/>
            </a:pPr>
            <a:r>
              <a:rPr lang="en-US" altLang="en-US" b="1" dirty="0" smtClean="0"/>
              <a:t>Timed waiting:</a:t>
            </a:r>
            <a:r>
              <a:rPr lang="en-US" altLang="en-US" dirty="0" smtClean="0"/>
              <a:t> </a:t>
            </a:r>
            <a:r>
              <a:rPr lang="en-US" altLang="en-US" sz="1100" dirty="0"/>
              <a:t>A runnable thread can enter the timed waiting state for a specified interval of time. A thread in this state transitions back to the runnable state when that time interval expires or when the event it is waiting for occurs.</a:t>
            </a:r>
          </a:p>
          <a:p>
            <a:pPr eaLnBrk="1" hangingPunct="1">
              <a:buFont typeface="Arial" charset="0"/>
              <a:buChar char="•"/>
            </a:pPr>
            <a:endParaRPr lang="en-US" altLang="en-US" sz="1100" dirty="0"/>
          </a:p>
          <a:p>
            <a:pPr eaLnBrk="1" hangingPunct="1">
              <a:buFont typeface="Arial" charset="0"/>
              <a:buNone/>
            </a:pPr>
            <a:r>
              <a:rPr lang="en-US" altLang="en-US" sz="1100" dirty="0"/>
              <a:t>        sleep()  </a:t>
            </a:r>
          </a:p>
          <a:p>
            <a:pPr eaLnBrk="1" hangingPunct="1">
              <a:buFont typeface="Arial" charset="0"/>
              <a:buChar char="•"/>
            </a:pPr>
            <a:endParaRPr lang="en-US" altLang="en-US" sz="1100" dirty="0"/>
          </a:p>
          <a:p>
            <a:pPr eaLnBrk="1" hangingPunct="1">
              <a:buFont typeface="Arial" charset="0"/>
              <a:buChar char="•"/>
            </a:pPr>
            <a:r>
              <a:rPr lang="en-US" altLang="en-US" b="1" dirty="0" smtClean="0"/>
              <a:t>Terminated: </a:t>
            </a:r>
            <a:r>
              <a:rPr lang="en-US" altLang="en-US" sz="1100" dirty="0"/>
              <a:t>A runnable thread enters the terminated state when it completes its task or otherwise terminates. </a:t>
            </a:r>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a:xfrm>
            <a:off x="1992641" y="4447617"/>
            <a:ext cx="4892673" cy="4833543"/>
          </a:xfrm>
        </p:spPr>
        <p:txBody>
          <a:bodyPr>
            <a:noAutofit/>
          </a:bodyPr>
          <a:lstStyle/>
          <a:p>
            <a:pPr defTabSz="966612">
              <a:defRPr/>
            </a:pPr>
            <a:r>
              <a:rPr lang="en-US" b="0" i="0" kern="1200" dirty="0" smtClean="0">
                <a:solidFill>
                  <a:schemeClr val="tx1"/>
                </a:solidFill>
                <a:effectLst/>
                <a:latin typeface="Arial (Body)"/>
              </a:rPr>
              <a:t>One can modify the thread priority using the </a:t>
            </a:r>
            <a:r>
              <a:rPr lang="en-US" b="1" i="0" kern="1200" dirty="0" err="1" smtClean="0">
                <a:solidFill>
                  <a:schemeClr val="tx1"/>
                </a:solidFill>
                <a:effectLst/>
                <a:latin typeface="Arial (Body)"/>
              </a:rPr>
              <a:t>setPriority</a:t>
            </a:r>
            <a:r>
              <a:rPr lang="en-US" b="1" i="0" kern="1200" dirty="0" smtClean="0">
                <a:solidFill>
                  <a:schemeClr val="tx1"/>
                </a:solidFill>
                <a:effectLst/>
                <a:latin typeface="Arial (Body)"/>
              </a:rPr>
              <a:t>(</a:t>
            </a:r>
            <a:r>
              <a:rPr lang="en-US" dirty="0" smtClean="0">
                <a:latin typeface="Arial (Body)"/>
              </a:rPr>
              <a:t>PRIORITY_LEVEL</a:t>
            </a:r>
            <a:r>
              <a:rPr lang="en-US" b="1" i="0" kern="1200" dirty="0" smtClean="0">
                <a:solidFill>
                  <a:schemeClr val="tx1"/>
                </a:solidFill>
                <a:effectLst/>
                <a:latin typeface="Arial (Body)"/>
              </a:rPr>
              <a:t>)</a:t>
            </a:r>
            <a:r>
              <a:rPr lang="en-US" b="0" i="0" kern="1200" dirty="0" smtClean="0">
                <a:solidFill>
                  <a:schemeClr val="tx1"/>
                </a:solidFill>
                <a:effectLst/>
                <a:latin typeface="Arial (Body)"/>
              </a:rPr>
              <a:t> method.</a:t>
            </a:r>
          </a:p>
          <a:p>
            <a:pPr defTabSz="966612">
              <a:defRPr/>
            </a:pPr>
            <a:r>
              <a:rPr lang="en-US" b="0" i="0" kern="1200" dirty="0" smtClean="0">
                <a:solidFill>
                  <a:schemeClr val="tx1"/>
                </a:solidFill>
                <a:effectLst/>
                <a:latin typeface="Arial (Body)"/>
              </a:rPr>
              <a:t>Thread Priority</a:t>
            </a:r>
            <a:r>
              <a:rPr lang="en-US" b="0" i="0" kern="1200" baseline="0" dirty="0" smtClean="0">
                <a:solidFill>
                  <a:schemeClr val="tx1"/>
                </a:solidFill>
                <a:effectLst/>
                <a:latin typeface="Arial (Body)"/>
              </a:rPr>
              <a:t> level and their constant Values:</a:t>
            </a:r>
          </a:p>
          <a:p>
            <a:pPr defTabSz="966612">
              <a:defRPr/>
            </a:pPr>
            <a:r>
              <a:rPr lang="en-US" b="0" i="0" kern="1200" baseline="0" dirty="0" smtClean="0">
                <a:solidFill>
                  <a:schemeClr val="tx1"/>
                </a:solidFill>
                <a:effectLst/>
                <a:latin typeface="Arial (Body)"/>
              </a:rPr>
              <a:t>MIN_PRIORITY -  1</a:t>
            </a:r>
          </a:p>
          <a:p>
            <a:pPr defTabSz="966612">
              <a:defRPr/>
            </a:pPr>
            <a:r>
              <a:rPr lang="en-US" b="0" i="0" kern="1200" baseline="0" dirty="0" smtClean="0">
                <a:solidFill>
                  <a:schemeClr val="tx1"/>
                </a:solidFill>
                <a:effectLst/>
                <a:latin typeface="Arial (Body)"/>
              </a:rPr>
              <a:t>NORM_PRIORITY  -  5</a:t>
            </a:r>
          </a:p>
          <a:p>
            <a:pPr defTabSz="966612">
              <a:defRPr/>
            </a:pPr>
            <a:r>
              <a:rPr lang="en-US" b="0" i="0" kern="1200" baseline="0" dirty="0" smtClean="0">
                <a:solidFill>
                  <a:schemeClr val="tx1"/>
                </a:solidFill>
                <a:effectLst/>
                <a:latin typeface="Arial (Body)"/>
              </a:rPr>
              <a:t>MAX_PRIORITY  -    10</a:t>
            </a:r>
          </a:p>
          <a:p>
            <a:pPr defTabSz="966612">
              <a:defRPr/>
            </a:pPr>
            <a:r>
              <a:rPr lang="en-US" b="0" i="0" kern="1200" baseline="0" dirty="0" smtClean="0">
                <a:solidFill>
                  <a:schemeClr val="tx1"/>
                </a:solidFill>
                <a:effectLst/>
                <a:latin typeface="Arial (Body)"/>
              </a:rPr>
              <a:t>Default priority of a thread is always  5 . </a:t>
            </a:r>
          </a:p>
          <a:p>
            <a:pPr>
              <a:lnSpc>
                <a:spcPct val="90000"/>
              </a:lnSpc>
            </a:pPr>
            <a:r>
              <a:rPr lang="en-US" altLang="en-US" b="1" dirty="0" smtClean="0">
                <a:latin typeface="Arial (Body)"/>
                <a:cs typeface="Arial" charset="0"/>
              </a:rPr>
              <a:t>Note:</a:t>
            </a:r>
            <a:r>
              <a:rPr lang="en-US" altLang="en-US" dirty="0" smtClean="0">
                <a:latin typeface="Arial (Body)"/>
                <a:cs typeface="Arial" charset="0"/>
              </a:rPr>
              <a:t> Do not rely on thread priorities when designing your multithreaded application. Because thread-scheduling priority behavior is not guaranteed, use thread priorities as a way to improve the efficiency of your program, but just be sure your program doesn't depend on that behavior for correctness. </a:t>
            </a:r>
          </a:p>
          <a:p>
            <a:r>
              <a:rPr lang="en-US" altLang="en-US" dirty="0" smtClean="0">
                <a:latin typeface="Arial (Body)"/>
                <a:cs typeface="Arial" charset="0"/>
              </a:rPr>
              <a:t>The thread scheduler is the part of the JVM (although most JVMs map Java threads directly to native threads on the underlying OS) that decides which thread should run at any given moment, and also takes threads </a:t>
            </a:r>
            <a:r>
              <a:rPr lang="en-US" altLang="en-US" i="1" dirty="0" smtClean="0">
                <a:latin typeface="Arial (Body)"/>
                <a:cs typeface="Arial" charset="0"/>
              </a:rPr>
              <a:t>out </a:t>
            </a:r>
            <a:r>
              <a:rPr lang="en-US" altLang="en-US" dirty="0" smtClean="0">
                <a:latin typeface="Arial (Body)"/>
                <a:cs typeface="Arial" charset="0"/>
              </a:rPr>
              <a:t>of the run state. Assuming a single processor machine, only one thread can actually </a:t>
            </a:r>
            <a:r>
              <a:rPr lang="en-US" altLang="en-US" i="1" dirty="0" smtClean="0">
                <a:latin typeface="Arial (Body)"/>
                <a:cs typeface="Arial" charset="0"/>
              </a:rPr>
              <a:t>run </a:t>
            </a:r>
            <a:r>
              <a:rPr lang="en-US" altLang="en-US" dirty="0" smtClean="0">
                <a:latin typeface="Arial (Body)"/>
                <a:cs typeface="Arial" charset="0"/>
              </a:rPr>
              <a:t>at a time. Only one stack can ever be executing at one time. And it's the thread scheduler that decides </a:t>
            </a:r>
            <a:r>
              <a:rPr lang="en-US" altLang="en-US" i="1" dirty="0" smtClean="0">
                <a:latin typeface="Arial (Body)"/>
                <a:cs typeface="Arial" charset="0"/>
              </a:rPr>
              <a:t>which </a:t>
            </a:r>
            <a:r>
              <a:rPr lang="en-US" altLang="en-US" dirty="0" smtClean="0">
                <a:latin typeface="Arial (Body)"/>
                <a:cs typeface="Arial" charset="0"/>
              </a:rPr>
              <a:t>of the thread is eligible for the next execution. </a:t>
            </a:r>
          </a:p>
          <a:p>
            <a:r>
              <a:rPr lang="en-US" altLang="en-US" dirty="0" smtClean="0">
                <a:latin typeface="Arial (Body)"/>
                <a:cs typeface="Arial" charset="0"/>
              </a:rPr>
              <a:t>Any thread in the </a:t>
            </a:r>
            <a:r>
              <a:rPr lang="en-US" altLang="en-US" i="1" dirty="0" smtClean="0">
                <a:latin typeface="Arial (Body)"/>
                <a:cs typeface="Arial" charset="0"/>
              </a:rPr>
              <a:t>runnable </a:t>
            </a:r>
            <a:r>
              <a:rPr lang="en-US" altLang="en-US" dirty="0" smtClean="0">
                <a:latin typeface="Arial (Body)"/>
                <a:cs typeface="Arial" charset="0"/>
              </a:rPr>
              <a:t>state can be chosen by the scheduler to be the one and only running thread. If a thread is not in a runnable state, then it cannot be chosen to be the </a:t>
            </a:r>
            <a:r>
              <a:rPr lang="en-US" altLang="en-US" i="1" dirty="0" smtClean="0">
                <a:latin typeface="Arial (Body)"/>
                <a:cs typeface="Arial" charset="0"/>
              </a:rPr>
              <a:t>currently running </a:t>
            </a:r>
            <a:r>
              <a:rPr lang="en-US" altLang="en-US" dirty="0" smtClean="0">
                <a:latin typeface="Arial (Body)"/>
                <a:cs typeface="Arial" charset="0"/>
              </a:rPr>
              <a:t>thread.</a:t>
            </a:r>
          </a:p>
          <a:p>
            <a:r>
              <a:rPr lang="en-US" altLang="en-US" i="1" dirty="0" smtClean="0">
                <a:latin typeface="Arial (Body)"/>
                <a:cs typeface="Arial" charset="0"/>
              </a:rPr>
              <a:t>The order in which runnable threads are chosen to run is not guaranteed. </a:t>
            </a:r>
            <a:r>
              <a:rPr lang="en-US" altLang="en-US" dirty="0" smtClean="0">
                <a:latin typeface="Arial (Body)"/>
                <a:cs typeface="Arial" charset="0"/>
              </a:rPr>
              <a:t>Although </a:t>
            </a:r>
            <a:r>
              <a:rPr lang="en-US" altLang="en-US" i="1" dirty="0" smtClean="0">
                <a:latin typeface="Arial (Body)"/>
                <a:cs typeface="Arial" charset="0"/>
              </a:rPr>
              <a:t>queue </a:t>
            </a:r>
            <a:r>
              <a:rPr lang="en-US" altLang="en-US" dirty="0" smtClean="0">
                <a:latin typeface="Arial (Body)"/>
                <a:cs typeface="Arial" charset="0"/>
              </a:rPr>
              <a:t>behavior is typical, it isn't guaranteed. Queue behavior means that when a thread has finished with its "turn," it moves to the end of the line of the runnable pool and waits until it eventually gets to the front of the line, where it can be chosen again. In fact, you call it a runnable </a:t>
            </a:r>
            <a:r>
              <a:rPr lang="en-US" altLang="en-US" i="1" dirty="0" smtClean="0">
                <a:latin typeface="Arial (Body)"/>
                <a:cs typeface="Arial" charset="0"/>
              </a:rPr>
              <a:t>pool</a:t>
            </a:r>
            <a:r>
              <a:rPr lang="en-US" altLang="en-US" dirty="0" smtClean="0">
                <a:latin typeface="Arial (Body)"/>
                <a:cs typeface="Arial" charset="0"/>
              </a:rPr>
              <a:t>, rather than a runnable </a:t>
            </a:r>
            <a:r>
              <a:rPr lang="en-US" altLang="en-US" i="1" dirty="0" smtClean="0">
                <a:latin typeface="Arial (Body)"/>
                <a:cs typeface="Arial" charset="0"/>
              </a:rPr>
              <a:t>queue</a:t>
            </a:r>
            <a:r>
              <a:rPr lang="en-US" altLang="en-US" dirty="0" smtClean="0">
                <a:latin typeface="Arial (Body)"/>
                <a:cs typeface="Arial" charset="0"/>
              </a:rPr>
              <a:t>, to</a:t>
            </a:r>
          </a:p>
          <a:p>
            <a:r>
              <a:rPr lang="en-US" altLang="en-US" dirty="0" smtClean="0">
                <a:latin typeface="Arial (Body)"/>
                <a:cs typeface="Arial" charset="0"/>
              </a:rPr>
              <a:t>help reinforce the fact that threads aren't all lined up in some guaranteed order. Although you do not </a:t>
            </a:r>
            <a:r>
              <a:rPr lang="en-US" altLang="en-US" i="1" dirty="0" smtClean="0">
                <a:latin typeface="Arial (Body)"/>
                <a:cs typeface="Arial" charset="0"/>
              </a:rPr>
              <a:t> </a:t>
            </a:r>
            <a:r>
              <a:rPr lang="en-US" altLang="en-US" dirty="0" smtClean="0">
                <a:latin typeface="Arial (Body)"/>
                <a:cs typeface="Arial" charset="0"/>
              </a:rPr>
              <a:t>control the thread scheduler .</a:t>
            </a:r>
            <a:endParaRPr lang="en-US" b="0" i="0" kern="1200" baseline="0" dirty="0" smtClean="0">
              <a:solidFill>
                <a:schemeClr val="tx1"/>
              </a:solidFill>
              <a:effectLst/>
              <a:latin typeface="Arial (Body)"/>
            </a:endParaRPr>
          </a:p>
        </p:txBody>
      </p:sp>
    </p:spTree>
    <p:extLst>
      <p:ext uri="{BB962C8B-B14F-4D97-AF65-F5344CB8AC3E}">
        <p14:creationId xmlns:p14="http://schemas.microsoft.com/office/powerpoint/2010/main" xmlns="" val="3289153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xmlns="" val="3193424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noAutofit/>
          </a:bodyPr>
          <a:lstStyle/>
          <a:p>
            <a:pPr marL="0" lvl="1" defTabSz="966612">
              <a:defRPr/>
            </a:pPr>
            <a:r>
              <a:rPr lang="en-US" sz="600" b="1" dirty="0">
                <a:solidFill>
                  <a:srgbClr val="000000"/>
                </a:solidFill>
                <a:latin typeface="Arial (Body)"/>
                <a:ea typeface="Times New Roman" panose="02020603050405020304" pitchFamily="18" charset="0"/>
                <a:cs typeface="Times New Roman" panose="02020603050405020304" pitchFamily="18" charset="0"/>
              </a:rPr>
              <a:t>public static void sleep(long milliseconds)throws </a:t>
            </a:r>
            <a:r>
              <a:rPr lang="en-US" sz="600" b="1" dirty="0" err="1">
                <a:solidFill>
                  <a:srgbClr val="000000"/>
                </a:solidFill>
                <a:latin typeface="Arial (Body)"/>
                <a:ea typeface="Times New Roman" panose="02020603050405020304" pitchFamily="18" charset="0"/>
                <a:cs typeface="Times New Roman" panose="02020603050405020304" pitchFamily="18" charset="0"/>
              </a:rPr>
              <a:t>InterruptedException</a:t>
            </a:r>
            <a:r>
              <a:rPr lang="en-US" sz="600" b="1" dirty="0">
                <a:solidFill>
                  <a:srgbClr val="000000"/>
                </a:solidFill>
                <a:latin typeface="Arial (Body)"/>
                <a:ea typeface="Times New Roman" panose="02020603050405020304" pitchFamily="18" charset="0"/>
                <a:cs typeface="Times New Roman" panose="02020603050405020304" pitchFamily="18" charset="0"/>
              </a:rPr>
              <a:t>   </a:t>
            </a:r>
            <a:r>
              <a:rPr lang="en-US" sz="600" dirty="0">
                <a:solidFill>
                  <a:srgbClr val="000000"/>
                </a:solidFill>
                <a:latin typeface="Arial (Body)"/>
                <a:ea typeface="Times New Roman" panose="02020603050405020304" pitchFamily="18" charset="0"/>
                <a:cs typeface="Times New Roman" panose="02020603050405020304" pitchFamily="18" charset="0"/>
              </a:rPr>
              <a:t>:</a:t>
            </a:r>
          </a:p>
          <a:p>
            <a:r>
              <a:rPr lang="en-US" sz="600" dirty="0">
                <a:latin typeface="Arial (Body)"/>
              </a:rPr>
              <a:t>The sleep(long </a:t>
            </a:r>
            <a:r>
              <a:rPr lang="en-US" sz="600" dirty="0" err="1">
                <a:latin typeface="Arial (Body)"/>
              </a:rPr>
              <a:t>millis</a:t>
            </a:r>
            <a:r>
              <a:rPr lang="en-US" sz="600" dirty="0">
                <a:latin typeface="Arial (Body)"/>
              </a:rPr>
              <a:t>)</a:t>
            </a:r>
            <a:r>
              <a:rPr lang="en-US" sz="600" b="1" dirty="0">
                <a:latin typeface="Arial (Body)"/>
              </a:rPr>
              <a:t> </a:t>
            </a:r>
            <a:r>
              <a:rPr lang="en-US" sz="600" dirty="0">
                <a:latin typeface="Arial (Body)"/>
              </a:rPr>
              <a:t>method of Thread class causes the currently executing thread to sleep for the specified number of milliseconds, subject to the precision and accuracy of system timers and schedulers. if any thread has interrupted the current thread. The current thread interrupted status is cleared when this exception is thrown.</a:t>
            </a:r>
          </a:p>
          <a:p>
            <a:pPr marL="0" lvl="1" defTabSz="966612">
              <a:defRPr/>
            </a:pPr>
            <a:r>
              <a:rPr lang="en-US" sz="600" b="1" dirty="0">
                <a:solidFill>
                  <a:srgbClr val="000000"/>
                </a:solidFill>
                <a:latin typeface="Arial (Body)"/>
                <a:ea typeface="Calibri" panose="020F0502020204030204" pitchFamily="34" charset="0"/>
                <a:cs typeface="Times New Roman" panose="02020603050405020304" pitchFamily="18" charset="0"/>
              </a:rPr>
              <a:t>public static void sleep(long milliseconds, </a:t>
            </a:r>
            <a:r>
              <a:rPr lang="en-US" sz="600" b="1" dirty="0" err="1">
                <a:solidFill>
                  <a:srgbClr val="000000"/>
                </a:solidFill>
                <a:latin typeface="Arial (Body)"/>
                <a:ea typeface="Calibri" panose="020F0502020204030204" pitchFamily="34" charset="0"/>
                <a:cs typeface="Times New Roman" panose="02020603050405020304" pitchFamily="18" charset="0"/>
              </a:rPr>
              <a:t>int</a:t>
            </a:r>
            <a:r>
              <a:rPr lang="en-US" sz="600" b="1" dirty="0">
                <a:solidFill>
                  <a:srgbClr val="000000"/>
                </a:solidFill>
                <a:latin typeface="Arial (Body)"/>
                <a:ea typeface="Calibri" panose="020F0502020204030204" pitchFamily="34" charset="0"/>
                <a:cs typeface="Times New Roman" panose="02020603050405020304" pitchFamily="18" charset="0"/>
              </a:rPr>
              <a:t> </a:t>
            </a:r>
            <a:r>
              <a:rPr lang="en-US" sz="600" b="1" dirty="0" err="1">
                <a:solidFill>
                  <a:srgbClr val="000000"/>
                </a:solidFill>
                <a:latin typeface="Arial (Body)"/>
                <a:ea typeface="Calibri" panose="020F0502020204030204" pitchFamily="34" charset="0"/>
                <a:cs typeface="Times New Roman" panose="02020603050405020304" pitchFamily="18" charset="0"/>
              </a:rPr>
              <a:t>nanos</a:t>
            </a:r>
            <a:r>
              <a:rPr lang="en-US" sz="600" b="1" dirty="0">
                <a:solidFill>
                  <a:srgbClr val="000000"/>
                </a:solidFill>
                <a:latin typeface="Arial (Body)"/>
                <a:ea typeface="Calibri" panose="020F0502020204030204" pitchFamily="34" charset="0"/>
                <a:cs typeface="Times New Roman" panose="02020603050405020304" pitchFamily="18" charset="0"/>
              </a:rPr>
              <a:t>)throws </a:t>
            </a:r>
            <a:r>
              <a:rPr lang="en-US" sz="600" b="1" dirty="0" err="1">
                <a:solidFill>
                  <a:srgbClr val="000000"/>
                </a:solidFill>
                <a:latin typeface="Arial (Body)"/>
                <a:ea typeface="Calibri" panose="020F0502020204030204" pitchFamily="34" charset="0"/>
                <a:cs typeface="Times New Roman" panose="02020603050405020304" pitchFamily="18" charset="0"/>
              </a:rPr>
              <a:t>InterruptedException</a:t>
            </a:r>
            <a:r>
              <a:rPr lang="en-US" sz="600" b="1" dirty="0">
                <a:solidFill>
                  <a:srgbClr val="000000"/>
                </a:solidFill>
                <a:latin typeface="Arial (Body)"/>
                <a:ea typeface="Calibri" panose="020F0502020204030204" pitchFamily="34" charset="0"/>
                <a:cs typeface="Times New Roman" panose="02020603050405020304" pitchFamily="18" charset="0"/>
              </a:rPr>
              <a:t> :</a:t>
            </a:r>
            <a:endParaRPr lang="en-US" sz="600" b="1" dirty="0">
              <a:latin typeface="Arial (Body)"/>
              <a:ea typeface="Calibri" panose="020F0502020204030204" pitchFamily="34" charset="0"/>
              <a:cs typeface="Times New Roman" panose="02020603050405020304" pitchFamily="18" charset="0"/>
            </a:endParaRPr>
          </a:p>
          <a:p>
            <a:endParaRPr lang="en-US" sz="600" dirty="0">
              <a:latin typeface="Arial (Body)"/>
            </a:endParaRPr>
          </a:p>
          <a:p>
            <a:r>
              <a:rPr lang="en-US" sz="600" dirty="0">
                <a:latin typeface="Arial (Body)"/>
              </a:rPr>
              <a:t>The above method implementation causes the currently executing thread to sleep (temporarily pause execution) for the specified number of milliseconds plus the specified number of nanoseconds, subject to the precision and accuracy of system timers and schedulers</a:t>
            </a:r>
          </a:p>
          <a:p>
            <a:endParaRPr lang="en-US" sz="600" dirty="0">
              <a:latin typeface="Arial (Body)"/>
            </a:endParaRPr>
          </a:p>
          <a:p>
            <a:r>
              <a:rPr lang="en-US" sz="600" b="1" dirty="0">
                <a:latin typeface="Arial (Body)"/>
              </a:rPr>
              <a:t>Example given below :---</a:t>
            </a:r>
          </a:p>
          <a:p>
            <a:endParaRPr lang="en-US" sz="600" dirty="0">
              <a:latin typeface="Arial (Body)"/>
            </a:endParaRPr>
          </a:p>
          <a:p>
            <a:r>
              <a:rPr lang="en-US" sz="600" dirty="0">
                <a:latin typeface="Arial (Body)"/>
              </a:rPr>
              <a:t>package com.capgemini.lesson20;</a:t>
            </a:r>
          </a:p>
          <a:p>
            <a:endParaRPr lang="en-US" sz="600" dirty="0">
              <a:latin typeface="Arial (Body)"/>
            </a:endParaRPr>
          </a:p>
          <a:p>
            <a:r>
              <a:rPr lang="en-US" sz="600" dirty="0">
                <a:latin typeface="Arial (Body)"/>
              </a:rPr>
              <a:t>import </a:t>
            </a:r>
            <a:r>
              <a:rPr lang="en-US" sz="600" dirty="0" err="1">
                <a:latin typeface="Arial (Body)"/>
              </a:rPr>
              <a:t>java.util.ArrayList</a:t>
            </a:r>
            <a:r>
              <a:rPr lang="en-US" sz="600" dirty="0">
                <a:latin typeface="Arial (Body)"/>
              </a:rPr>
              <a:t>;</a:t>
            </a:r>
          </a:p>
          <a:p>
            <a:r>
              <a:rPr lang="en-US" sz="600" dirty="0">
                <a:latin typeface="Arial (Body)"/>
              </a:rPr>
              <a:t>import </a:t>
            </a:r>
            <a:r>
              <a:rPr lang="en-US" sz="600" dirty="0" err="1">
                <a:latin typeface="Arial (Body)"/>
              </a:rPr>
              <a:t>java.util.Arrays</a:t>
            </a:r>
            <a:r>
              <a:rPr lang="en-US" sz="600" dirty="0">
                <a:latin typeface="Arial (Body)"/>
              </a:rPr>
              <a:t>;</a:t>
            </a:r>
          </a:p>
          <a:p>
            <a:r>
              <a:rPr lang="en-US" sz="600" dirty="0">
                <a:latin typeface="Arial (Body)"/>
              </a:rPr>
              <a:t>import </a:t>
            </a:r>
            <a:r>
              <a:rPr lang="en-US" sz="600" dirty="0" err="1">
                <a:latin typeface="Arial (Body)"/>
              </a:rPr>
              <a:t>java.util.List</a:t>
            </a:r>
            <a:r>
              <a:rPr lang="en-US" sz="600" dirty="0">
                <a:latin typeface="Arial (Body)"/>
              </a:rPr>
              <a:t>;</a:t>
            </a:r>
          </a:p>
          <a:p>
            <a:endParaRPr lang="en-US" sz="600" dirty="0">
              <a:latin typeface="Arial (Body)"/>
            </a:endParaRPr>
          </a:p>
          <a:p>
            <a:r>
              <a:rPr lang="en-US" sz="600" dirty="0">
                <a:latin typeface="Arial (Body)"/>
              </a:rPr>
              <a:t>public class </a:t>
            </a:r>
            <a:r>
              <a:rPr lang="en-US" sz="600" dirty="0" err="1">
                <a:latin typeface="Arial (Body)"/>
              </a:rPr>
              <a:t>SleepDemo</a:t>
            </a:r>
            <a:r>
              <a:rPr lang="en-US" sz="600" dirty="0">
                <a:latin typeface="Arial (Body)"/>
              </a:rPr>
              <a:t> {</a:t>
            </a:r>
          </a:p>
          <a:p>
            <a:endParaRPr lang="en-US" sz="600" dirty="0">
              <a:latin typeface="Arial (Body)"/>
            </a:endParaRPr>
          </a:p>
          <a:p>
            <a:r>
              <a:rPr lang="en-US" sz="600" dirty="0">
                <a:latin typeface="Arial (Body)"/>
              </a:rPr>
              <a:t> public static void main(String </a:t>
            </a:r>
            <a:r>
              <a:rPr lang="en-US" sz="600" dirty="0" err="1">
                <a:latin typeface="Arial (Body)"/>
              </a:rPr>
              <a:t>args</a:t>
            </a:r>
            <a:r>
              <a:rPr lang="en-US" sz="600" dirty="0">
                <a:latin typeface="Arial (Body)"/>
              </a:rPr>
              <a:t>[]) {</a:t>
            </a:r>
          </a:p>
          <a:p>
            <a:r>
              <a:rPr lang="en-US" sz="600" dirty="0">
                <a:latin typeface="Arial (Body)"/>
              </a:rPr>
              <a:t>        List&lt;String&gt; </a:t>
            </a:r>
            <a:r>
              <a:rPr lang="en-US" sz="600" dirty="0" err="1">
                <a:latin typeface="Arial (Body)"/>
              </a:rPr>
              <a:t>seasonList</a:t>
            </a:r>
            <a:r>
              <a:rPr lang="en-US" sz="600" dirty="0">
                <a:latin typeface="Arial (Body)"/>
              </a:rPr>
              <a:t> = new </a:t>
            </a:r>
            <a:r>
              <a:rPr lang="en-US" sz="600" dirty="0" err="1">
                <a:latin typeface="Arial (Body)"/>
              </a:rPr>
              <a:t>ArrayList</a:t>
            </a:r>
            <a:r>
              <a:rPr lang="en-US" sz="600" dirty="0">
                <a:latin typeface="Arial (Body)"/>
              </a:rPr>
              <a:t>&lt;&gt;();</a:t>
            </a:r>
          </a:p>
          <a:p>
            <a:r>
              <a:rPr lang="en-US" sz="600" dirty="0">
                <a:latin typeface="Arial (Body)"/>
              </a:rPr>
              <a:t>        </a:t>
            </a:r>
            <a:r>
              <a:rPr lang="en-US" sz="600" dirty="0" err="1">
                <a:latin typeface="Arial (Body)"/>
              </a:rPr>
              <a:t>seasonList</a:t>
            </a:r>
            <a:r>
              <a:rPr lang="en-US" sz="600" dirty="0">
                <a:latin typeface="Arial (Body)"/>
              </a:rPr>
              <a:t> = </a:t>
            </a:r>
            <a:r>
              <a:rPr lang="en-US" sz="600" dirty="0" err="1">
                <a:latin typeface="Arial (Body)"/>
              </a:rPr>
              <a:t>Arrays.</a:t>
            </a:r>
            <a:r>
              <a:rPr lang="en-US" sz="600" i="1" dirty="0" err="1">
                <a:latin typeface="Arial (Body)"/>
              </a:rPr>
              <a:t>asList</a:t>
            </a:r>
            <a:r>
              <a:rPr lang="en-US" sz="600" i="1" dirty="0">
                <a:latin typeface="Arial (Body)"/>
              </a:rPr>
              <a:t>(new String[]{</a:t>
            </a:r>
          </a:p>
          <a:p>
            <a:r>
              <a:rPr lang="en-US" sz="600" dirty="0">
                <a:latin typeface="Arial (Body)"/>
              </a:rPr>
              <a:t>            "Winter",</a:t>
            </a:r>
          </a:p>
          <a:p>
            <a:r>
              <a:rPr lang="en-US" sz="600" dirty="0">
                <a:latin typeface="Arial (Body)"/>
              </a:rPr>
              <a:t>            "Summer",</a:t>
            </a:r>
          </a:p>
          <a:p>
            <a:r>
              <a:rPr lang="en-US" sz="600" dirty="0">
                <a:latin typeface="Arial (Body)"/>
              </a:rPr>
              <a:t>            "Spring",</a:t>
            </a:r>
          </a:p>
          <a:p>
            <a:r>
              <a:rPr lang="en-US" sz="600" dirty="0">
                <a:latin typeface="Arial (Body)"/>
              </a:rPr>
              <a:t>            "Autumn"</a:t>
            </a:r>
          </a:p>
          <a:p>
            <a:r>
              <a:rPr lang="en-US" sz="600" dirty="0">
                <a:latin typeface="Arial (Body)"/>
              </a:rPr>
              <a:t>        });</a:t>
            </a:r>
          </a:p>
          <a:p>
            <a:endParaRPr lang="en-US" sz="600" dirty="0">
              <a:latin typeface="Arial (Body)"/>
            </a:endParaRPr>
          </a:p>
          <a:p>
            <a:r>
              <a:rPr lang="en-US" sz="600" dirty="0">
                <a:latin typeface="Arial (Body)"/>
              </a:rPr>
              <a:t>        for (String value : </a:t>
            </a:r>
            <a:r>
              <a:rPr lang="en-US" sz="600" dirty="0" err="1">
                <a:latin typeface="Arial (Body)"/>
              </a:rPr>
              <a:t>seasonList</a:t>
            </a:r>
            <a:r>
              <a:rPr lang="en-US" sz="600" dirty="0">
                <a:latin typeface="Arial (Body)"/>
              </a:rPr>
              <a:t>) {</a:t>
            </a:r>
          </a:p>
          <a:p>
            <a:r>
              <a:rPr lang="en-US" sz="600" dirty="0">
                <a:latin typeface="Arial (Body)"/>
              </a:rPr>
              <a:t>            //Pause for 4 seconds</a:t>
            </a:r>
          </a:p>
          <a:p>
            <a:r>
              <a:rPr lang="en-US" sz="600" dirty="0">
                <a:latin typeface="Arial (Body)"/>
              </a:rPr>
              <a:t>            try {</a:t>
            </a:r>
          </a:p>
          <a:p>
            <a:r>
              <a:rPr lang="en-US" sz="600" dirty="0" err="1">
                <a:latin typeface="Arial (Body)"/>
              </a:rPr>
              <a:t>Thread.</a:t>
            </a:r>
            <a:r>
              <a:rPr lang="en-US" sz="600" i="1" dirty="0" err="1">
                <a:latin typeface="Arial (Body)"/>
              </a:rPr>
              <a:t>sleep</a:t>
            </a:r>
            <a:r>
              <a:rPr lang="en-US" sz="600" i="1" dirty="0">
                <a:latin typeface="Arial (Body)"/>
              </a:rPr>
              <a:t>(4000);</a:t>
            </a:r>
          </a:p>
          <a:p>
            <a:r>
              <a:rPr lang="en-US" sz="600" dirty="0">
                <a:latin typeface="Arial (Body)"/>
              </a:rPr>
              <a:t>} catch (</a:t>
            </a:r>
            <a:r>
              <a:rPr lang="en-US" sz="600" dirty="0" err="1">
                <a:latin typeface="Arial (Body)"/>
              </a:rPr>
              <a:t>InterruptedException</a:t>
            </a:r>
            <a:r>
              <a:rPr lang="en-US" sz="600" dirty="0">
                <a:latin typeface="Arial (Body)"/>
              </a:rPr>
              <a:t> </a:t>
            </a:r>
            <a:r>
              <a:rPr lang="en-US" sz="600" dirty="0" err="1">
                <a:latin typeface="Arial (Body)"/>
              </a:rPr>
              <a:t>exp</a:t>
            </a:r>
            <a:r>
              <a:rPr lang="en-US" sz="600" dirty="0">
                <a:latin typeface="Arial (Body)"/>
              </a:rPr>
              <a:t>) {</a:t>
            </a:r>
          </a:p>
          <a:p>
            <a:endParaRPr lang="en-US" sz="600" dirty="0">
              <a:latin typeface="Arial (Body)"/>
            </a:endParaRPr>
          </a:p>
          <a:p>
            <a:r>
              <a:rPr lang="en-US" sz="600" dirty="0" err="1">
                <a:latin typeface="Arial (Body)"/>
              </a:rPr>
              <a:t>System.</a:t>
            </a:r>
            <a:r>
              <a:rPr lang="en-US" sz="600" i="1" dirty="0" err="1">
                <a:latin typeface="Arial (Body)"/>
              </a:rPr>
              <a:t>err.println</a:t>
            </a:r>
            <a:r>
              <a:rPr lang="en-US" sz="600" i="1" dirty="0">
                <a:latin typeface="Arial (Body)"/>
              </a:rPr>
              <a:t>(</a:t>
            </a:r>
            <a:r>
              <a:rPr lang="en-US" sz="600" i="1" dirty="0" err="1">
                <a:latin typeface="Arial (Body)"/>
              </a:rPr>
              <a:t>exp.getMessage</a:t>
            </a:r>
            <a:r>
              <a:rPr lang="en-US" sz="600" i="1" dirty="0">
                <a:latin typeface="Arial (Body)"/>
              </a:rPr>
              <a:t>());</a:t>
            </a:r>
          </a:p>
          <a:p>
            <a:endParaRPr lang="en-US" sz="600" dirty="0">
              <a:latin typeface="Arial (Body)"/>
            </a:endParaRPr>
          </a:p>
          <a:p>
            <a:r>
              <a:rPr lang="en-US" sz="600" dirty="0">
                <a:latin typeface="Arial (Body)"/>
              </a:rPr>
              <a:t>}</a:t>
            </a:r>
          </a:p>
          <a:p>
            <a:r>
              <a:rPr lang="en-US" sz="600" dirty="0">
                <a:latin typeface="Arial (Body)"/>
              </a:rPr>
              <a:t>            //Print a message</a:t>
            </a:r>
          </a:p>
          <a:p>
            <a:r>
              <a:rPr lang="en-US" sz="600" dirty="0">
                <a:latin typeface="Arial (Body)"/>
              </a:rPr>
              <a:t>            </a:t>
            </a:r>
            <a:r>
              <a:rPr lang="en-US" sz="600" dirty="0" err="1">
                <a:latin typeface="Arial (Body)"/>
              </a:rPr>
              <a:t>System.</a:t>
            </a:r>
            <a:r>
              <a:rPr lang="en-US" sz="600" i="1" dirty="0" err="1">
                <a:latin typeface="Arial (Body)"/>
              </a:rPr>
              <a:t>out.println</a:t>
            </a:r>
            <a:r>
              <a:rPr lang="en-US" sz="600" i="1" dirty="0">
                <a:latin typeface="Arial (Body)"/>
              </a:rPr>
              <a:t>(value);</a:t>
            </a:r>
          </a:p>
          <a:p>
            <a:r>
              <a:rPr lang="en-US" sz="600" dirty="0">
                <a:latin typeface="Arial (Body)"/>
              </a:rPr>
              <a:t>        }</a:t>
            </a:r>
          </a:p>
          <a:p>
            <a:r>
              <a:rPr lang="en-US" sz="600" dirty="0">
                <a:latin typeface="Arial (Body)"/>
              </a:rPr>
              <a:t>    }</a:t>
            </a:r>
          </a:p>
          <a:p>
            <a:endParaRPr lang="en-US" sz="600" dirty="0">
              <a:latin typeface="Arial (Body)"/>
            </a:endParaRPr>
          </a:p>
          <a:p>
            <a:endParaRPr lang="en-US" sz="600" dirty="0">
              <a:latin typeface="Arial (Body)"/>
            </a:endParaRPr>
          </a:p>
          <a:p>
            <a:r>
              <a:rPr lang="en-US" sz="600" dirty="0">
                <a:latin typeface="Arial (Body)"/>
              </a:rPr>
              <a:t>}</a:t>
            </a:r>
          </a:p>
        </p:txBody>
      </p:sp>
    </p:spTree>
    <p:extLst>
      <p:ext uri="{BB962C8B-B14F-4D97-AF65-F5344CB8AC3E}">
        <p14:creationId xmlns:p14="http://schemas.microsoft.com/office/powerpoint/2010/main" xmlns="" val="2889740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a:xfrm>
            <a:off x="1992641" y="4447617"/>
            <a:ext cx="4892673" cy="4993563"/>
          </a:xfrm>
        </p:spPr>
        <p:txBody>
          <a:bodyPr>
            <a:normAutofit fontScale="85000" lnSpcReduction="20000"/>
          </a:bodyPr>
          <a:lstStyle/>
          <a:p>
            <a:r>
              <a:rPr lang="en-US" sz="1100" dirty="0">
                <a:latin typeface="Candara" panose="020E0502030303020204" pitchFamily="34" charset="0"/>
              </a:rPr>
              <a:t>public class </a:t>
            </a:r>
            <a:r>
              <a:rPr lang="en-US" sz="1100" dirty="0" err="1">
                <a:latin typeface="Candara" panose="020E0502030303020204" pitchFamily="34" charset="0"/>
              </a:rPr>
              <a:t>ThreadLifeCycleDemo</a:t>
            </a:r>
            <a:r>
              <a:rPr lang="en-US" sz="1100" dirty="0">
                <a:latin typeface="Candara" panose="020E0502030303020204" pitchFamily="34" charset="0"/>
              </a:rPr>
              <a:t> extends Thread {</a:t>
            </a:r>
          </a:p>
          <a:p>
            <a:r>
              <a:rPr lang="en-US" sz="1100" dirty="0">
                <a:latin typeface="Candara" panose="020E0502030303020204" pitchFamily="34" charset="0"/>
              </a:rPr>
              <a:t>public void run(){</a:t>
            </a:r>
          </a:p>
          <a:p>
            <a:r>
              <a:rPr lang="en-US" sz="1100" dirty="0" err="1">
                <a:latin typeface="Candara" panose="020E0502030303020204" pitchFamily="34" charset="0"/>
              </a:rPr>
              <a:t>System.</a:t>
            </a:r>
            <a:r>
              <a:rPr lang="en-US" sz="1100" i="1" dirty="0" err="1">
                <a:latin typeface="Candara" panose="020E0502030303020204" pitchFamily="34" charset="0"/>
              </a:rPr>
              <a:t>out.println</a:t>
            </a:r>
            <a:r>
              <a:rPr lang="en-US" sz="1100" i="1" dirty="0">
                <a:latin typeface="Candara" panose="020E0502030303020204" pitchFamily="34" charset="0"/>
              </a:rPr>
              <a:t>("In side run() Thread is alive or not "+</a:t>
            </a:r>
            <a:r>
              <a:rPr lang="en-US" sz="1100" i="1" dirty="0" err="1">
                <a:latin typeface="Candara" panose="020E0502030303020204" pitchFamily="34" charset="0"/>
              </a:rPr>
              <a:t>this.isAlive</a:t>
            </a:r>
            <a:r>
              <a:rPr lang="en-US" sz="1100" i="1" dirty="0">
                <a:latin typeface="Candara" panose="020E0502030303020204" pitchFamily="34" charset="0"/>
              </a:rPr>
              <a:t>());</a:t>
            </a:r>
          </a:p>
          <a:p>
            <a:r>
              <a:rPr lang="en-US" sz="1100" dirty="0">
                <a:latin typeface="Candara" panose="020E0502030303020204" pitchFamily="34" charset="0"/>
              </a:rPr>
              <a:t> </a:t>
            </a:r>
            <a:r>
              <a:rPr lang="en-US" sz="1100" dirty="0" err="1">
                <a:latin typeface="Candara" panose="020E0502030303020204" pitchFamily="34" charset="0"/>
              </a:rPr>
              <a:t>int</a:t>
            </a:r>
            <a:r>
              <a:rPr lang="en-US" sz="1100" dirty="0">
                <a:latin typeface="Candara" panose="020E0502030303020204" pitchFamily="34" charset="0"/>
              </a:rPr>
              <a:t> </a:t>
            </a:r>
            <a:r>
              <a:rPr lang="en-US" sz="1100" dirty="0" err="1">
                <a:latin typeface="Candara" panose="020E0502030303020204" pitchFamily="34" charset="0"/>
              </a:rPr>
              <a:t>num</a:t>
            </a:r>
            <a:r>
              <a:rPr lang="en-US" sz="1100" dirty="0">
                <a:latin typeface="Candara" panose="020E0502030303020204" pitchFamily="34" charset="0"/>
              </a:rPr>
              <a:t> = 0;</a:t>
            </a:r>
          </a:p>
          <a:p>
            <a:r>
              <a:rPr lang="en-US" sz="1100" dirty="0">
                <a:latin typeface="Candara" panose="020E0502030303020204" pitchFamily="34" charset="0"/>
              </a:rPr>
              <a:t>  </a:t>
            </a:r>
          </a:p>
          <a:p>
            <a:r>
              <a:rPr lang="en-US" sz="1100" dirty="0">
                <a:latin typeface="Candara" panose="020E0502030303020204" pitchFamily="34" charset="0"/>
              </a:rPr>
              <a:t> while (</a:t>
            </a:r>
            <a:r>
              <a:rPr lang="en-US" sz="1100" dirty="0" err="1">
                <a:latin typeface="Candara" panose="020E0502030303020204" pitchFamily="34" charset="0"/>
              </a:rPr>
              <a:t>num</a:t>
            </a:r>
            <a:r>
              <a:rPr lang="en-US" sz="1100" dirty="0">
                <a:latin typeface="Candara" panose="020E0502030303020204" pitchFamily="34" charset="0"/>
              </a:rPr>
              <a:t> &lt; 4) {</a:t>
            </a:r>
          </a:p>
          <a:p>
            <a:endParaRPr lang="en-US" sz="1100" dirty="0">
              <a:latin typeface="Candara" panose="020E0502030303020204" pitchFamily="34" charset="0"/>
            </a:endParaRPr>
          </a:p>
          <a:p>
            <a:r>
              <a:rPr lang="en-US" sz="1100" dirty="0">
                <a:latin typeface="Candara" panose="020E0502030303020204" pitchFamily="34" charset="0"/>
              </a:rPr>
              <a:t> </a:t>
            </a:r>
            <a:r>
              <a:rPr lang="en-US" sz="1100" dirty="0" err="1">
                <a:latin typeface="Candara" panose="020E0502030303020204" pitchFamily="34" charset="0"/>
              </a:rPr>
              <a:t>num</a:t>
            </a:r>
            <a:r>
              <a:rPr lang="en-US" sz="1100"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 </a:t>
            </a:r>
            <a:r>
              <a:rPr lang="en-US" sz="1100" dirty="0" err="1">
                <a:latin typeface="Candara" panose="020E0502030303020204" pitchFamily="34" charset="0"/>
              </a:rPr>
              <a:t>System.</a:t>
            </a:r>
            <a:r>
              <a:rPr lang="en-US" sz="1100" i="1" dirty="0" err="1">
                <a:latin typeface="Candara" panose="020E0502030303020204" pitchFamily="34" charset="0"/>
              </a:rPr>
              <a:t>out.println</a:t>
            </a:r>
            <a:r>
              <a:rPr lang="en-US" sz="1100" i="1" dirty="0">
                <a:latin typeface="Candara" panose="020E0502030303020204" pitchFamily="34" charset="0"/>
              </a:rPr>
              <a:t>("</a:t>
            </a:r>
            <a:r>
              <a:rPr lang="en-US" sz="1100" i="1" dirty="0" err="1">
                <a:latin typeface="Candara" panose="020E0502030303020204" pitchFamily="34" charset="0"/>
              </a:rPr>
              <a:t>num</a:t>
            </a:r>
            <a:r>
              <a:rPr lang="en-US" sz="1100" i="1" dirty="0">
                <a:latin typeface="Candara" panose="020E0502030303020204" pitchFamily="34" charset="0"/>
              </a:rPr>
              <a:t> = " + </a:t>
            </a:r>
            <a:r>
              <a:rPr lang="en-US" sz="1100" i="1" dirty="0" err="1">
                <a:latin typeface="Candara" panose="020E0502030303020204" pitchFamily="34" charset="0"/>
              </a:rPr>
              <a:t>num</a:t>
            </a:r>
            <a:r>
              <a:rPr lang="en-US" sz="1100" i="1"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try {</a:t>
            </a:r>
          </a:p>
          <a:p>
            <a:endParaRPr lang="en-US" sz="1100" dirty="0">
              <a:latin typeface="Candara" panose="020E0502030303020204" pitchFamily="34" charset="0"/>
            </a:endParaRPr>
          </a:p>
          <a:p>
            <a:r>
              <a:rPr lang="en-US" sz="1100" i="1" dirty="0">
                <a:latin typeface="Candara" panose="020E0502030303020204" pitchFamily="34" charset="0"/>
              </a:rPr>
              <a:t>sleep(500);</a:t>
            </a:r>
          </a:p>
          <a:p>
            <a:r>
              <a:rPr lang="en-US" sz="1100" dirty="0" err="1">
                <a:latin typeface="Candara" panose="020E0502030303020204" pitchFamily="34" charset="0"/>
              </a:rPr>
              <a:t>System.</a:t>
            </a:r>
            <a:r>
              <a:rPr lang="en-US" sz="1100" i="1" dirty="0" err="1">
                <a:latin typeface="Candara" panose="020E0502030303020204" pitchFamily="34" charset="0"/>
              </a:rPr>
              <a:t>out.println</a:t>
            </a:r>
            <a:r>
              <a:rPr lang="en-US" sz="1100" i="1" dirty="0">
                <a:latin typeface="Candara" panose="020E0502030303020204" pitchFamily="34" charset="0"/>
              </a:rPr>
              <a:t>("In not runnable stage, Thread is alive or not "+</a:t>
            </a:r>
            <a:r>
              <a:rPr lang="en-US" sz="1100" i="1" dirty="0" err="1">
                <a:latin typeface="Candara" panose="020E0502030303020204" pitchFamily="34" charset="0"/>
              </a:rPr>
              <a:t>this.isAlive</a:t>
            </a:r>
            <a:r>
              <a:rPr lang="en-US" sz="1100" i="1"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 catch (</a:t>
            </a:r>
            <a:r>
              <a:rPr lang="en-US" sz="1100" dirty="0" err="1">
                <a:latin typeface="Candara" panose="020E0502030303020204" pitchFamily="34" charset="0"/>
              </a:rPr>
              <a:t>InterruptedException</a:t>
            </a:r>
            <a:r>
              <a:rPr lang="en-US" sz="1100" dirty="0">
                <a:latin typeface="Candara" panose="020E0502030303020204" pitchFamily="34" charset="0"/>
              </a:rPr>
              <a:t> </a:t>
            </a:r>
            <a:r>
              <a:rPr lang="en-US" sz="1100" dirty="0" err="1">
                <a:latin typeface="Candara" panose="020E0502030303020204" pitchFamily="34" charset="0"/>
              </a:rPr>
              <a:t>exp</a:t>
            </a:r>
            <a:r>
              <a:rPr lang="en-US" sz="1100" dirty="0">
                <a:latin typeface="Candara" panose="020E0502030303020204" pitchFamily="34" charset="0"/>
              </a:rPr>
              <a:t>) {</a:t>
            </a:r>
          </a:p>
          <a:p>
            <a:endParaRPr lang="en-US" sz="1100" dirty="0">
              <a:latin typeface="Candara" panose="020E0502030303020204" pitchFamily="34" charset="0"/>
            </a:endParaRPr>
          </a:p>
          <a:p>
            <a:r>
              <a:rPr lang="en-US" sz="1100" dirty="0" err="1">
                <a:latin typeface="Candara" panose="020E0502030303020204" pitchFamily="34" charset="0"/>
              </a:rPr>
              <a:t>System.</a:t>
            </a:r>
            <a:r>
              <a:rPr lang="en-US" sz="1100" i="1" dirty="0" err="1">
                <a:latin typeface="Candara" panose="020E0502030303020204" pitchFamily="34" charset="0"/>
              </a:rPr>
              <a:t>err.println</a:t>
            </a:r>
            <a:r>
              <a:rPr lang="en-US" sz="1100" i="1" dirty="0">
                <a:latin typeface="Candara" panose="020E0502030303020204" pitchFamily="34" charset="0"/>
              </a:rPr>
              <a:t>("Thread Interrupted ...");</a:t>
            </a:r>
          </a:p>
          <a:p>
            <a:r>
              <a:rPr lang="en-US" sz="1100" dirty="0">
                <a:latin typeface="Candara" panose="020E0502030303020204" pitchFamily="34" charset="0"/>
              </a:rPr>
              <a:t>}</a:t>
            </a:r>
          </a:p>
          <a:p>
            <a:r>
              <a:rPr lang="en-US" sz="1100" dirty="0">
                <a:latin typeface="Candara" panose="020E0502030303020204" pitchFamily="34" charset="0"/>
              </a:rPr>
              <a:t>    }</a:t>
            </a:r>
          </a:p>
          <a:p>
            <a:r>
              <a:rPr lang="en-US" sz="1100"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public static void main(String[] </a:t>
            </a:r>
            <a:r>
              <a:rPr lang="en-US" sz="1100" dirty="0" err="1">
                <a:latin typeface="Candara" panose="020E0502030303020204" pitchFamily="34" charset="0"/>
              </a:rPr>
              <a:t>args</a:t>
            </a:r>
            <a:r>
              <a:rPr lang="en-US" sz="1100" dirty="0">
                <a:latin typeface="Candara" panose="020E0502030303020204" pitchFamily="34" charset="0"/>
              </a:rPr>
              <a:t>) {</a:t>
            </a:r>
          </a:p>
          <a:p>
            <a:r>
              <a:rPr lang="en-US" sz="1100" dirty="0">
                <a:latin typeface="Candara" panose="020E0502030303020204" pitchFamily="34" charset="0"/>
              </a:rPr>
              <a:t>Thread </a:t>
            </a:r>
            <a:r>
              <a:rPr lang="en-US" sz="1100" dirty="0" err="1">
                <a:latin typeface="Candara" panose="020E0502030303020204" pitchFamily="34" charset="0"/>
              </a:rPr>
              <a:t>myThread</a:t>
            </a:r>
            <a:r>
              <a:rPr lang="en-US" sz="1100" dirty="0">
                <a:latin typeface="Candara" panose="020E0502030303020204" pitchFamily="34" charset="0"/>
              </a:rPr>
              <a:t> = new </a:t>
            </a:r>
            <a:r>
              <a:rPr lang="en-US" sz="1100" dirty="0" err="1">
                <a:latin typeface="Candara" panose="020E0502030303020204" pitchFamily="34" charset="0"/>
              </a:rPr>
              <a:t>ThreadLifeCycleDemo</a:t>
            </a:r>
            <a:r>
              <a:rPr lang="en-US" sz="1100" dirty="0">
                <a:latin typeface="Candara" panose="020E0502030303020204" pitchFamily="34" charset="0"/>
              </a:rPr>
              <a:t>();</a:t>
            </a:r>
          </a:p>
          <a:p>
            <a:endParaRPr lang="en-US" sz="1100" dirty="0">
              <a:latin typeface="Candara" panose="020E0502030303020204" pitchFamily="34" charset="0"/>
            </a:endParaRPr>
          </a:p>
          <a:p>
            <a:r>
              <a:rPr lang="en-US" sz="1100" dirty="0" err="1">
                <a:latin typeface="Candara" panose="020E0502030303020204" pitchFamily="34" charset="0"/>
              </a:rPr>
              <a:t>System.</a:t>
            </a:r>
            <a:r>
              <a:rPr lang="en-US" sz="1100" i="1" dirty="0" err="1">
                <a:latin typeface="Candara" panose="020E0502030303020204" pitchFamily="34" charset="0"/>
              </a:rPr>
              <a:t>out.println</a:t>
            </a:r>
            <a:r>
              <a:rPr lang="en-US" sz="1100" i="1" dirty="0">
                <a:latin typeface="Candara" panose="020E0502030303020204" pitchFamily="34" charset="0"/>
              </a:rPr>
              <a:t>("Before Runnable stage  Thread is alive or not : "+</a:t>
            </a:r>
            <a:r>
              <a:rPr lang="en-US" sz="1100" i="1" dirty="0" err="1">
                <a:latin typeface="Candara" panose="020E0502030303020204" pitchFamily="34" charset="0"/>
              </a:rPr>
              <a:t>myThread.isAlive</a:t>
            </a:r>
            <a:r>
              <a:rPr lang="en-US" sz="1100" i="1" dirty="0">
                <a:latin typeface="Candara" panose="020E0502030303020204" pitchFamily="34" charset="0"/>
              </a:rPr>
              <a:t>());</a:t>
            </a:r>
          </a:p>
          <a:p>
            <a:r>
              <a:rPr lang="en-US" sz="1100" dirty="0" err="1">
                <a:latin typeface="Candara" panose="020E0502030303020204" pitchFamily="34" charset="0"/>
              </a:rPr>
              <a:t>myThread.start</a:t>
            </a:r>
            <a:r>
              <a:rPr lang="en-US" sz="1100"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try{</a:t>
            </a:r>
          </a:p>
          <a:p>
            <a:r>
              <a:rPr lang="en-US" sz="1100" u="sng" dirty="0" err="1">
                <a:latin typeface="Candara" panose="020E0502030303020204" pitchFamily="34" charset="0"/>
              </a:rPr>
              <a:t>myThread.</a:t>
            </a:r>
            <a:r>
              <a:rPr lang="en-US" sz="1100" i="1" u="sng" dirty="0" err="1">
                <a:latin typeface="Candara" panose="020E0502030303020204" pitchFamily="34" charset="0"/>
              </a:rPr>
              <a:t>sleep</a:t>
            </a:r>
            <a:r>
              <a:rPr lang="en-US" sz="1100" i="1" u="sng" dirty="0">
                <a:latin typeface="Candara" panose="020E0502030303020204" pitchFamily="34" charset="0"/>
              </a:rPr>
              <a:t>(4000);</a:t>
            </a:r>
          </a:p>
          <a:p>
            <a:r>
              <a:rPr lang="en-US" sz="1100" dirty="0">
                <a:latin typeface="Candara" panose="020E0502030303020204" pitchFamily="34" charset="0"/>
              </a:rPr>
              <a:t>}</a:t>
            </a:r>
          </a:p>
          <a:p>
            <a:r>
              <a:rPr lang="en-US" sz="1100" dirty="0">
                <a:latin typeface="Candara" panose="020E0502030303020204" pitchFamily="34" charset="0"/>
              </a:rPr>
              <a:t>catch(</a:t>
            </a:r>
            <a:r>
              <a:rPr lang="en-US" sz="1100" dirty="0" err="1">
                <a:latin typeface="Candara" panose="020E0502030303020204" pitchFamily="34" charset="0"/>
              </a:rPr>
              <a:t>InterruptedException</a:t>
            </a:r>
            <a:r>
              <a:rPr lang="en-US" sz="1100" dirty="0">
                <a:latin typeface="Candara" panose="020E0502030303020204" pitchFamily="34" charset="0"/>
              </a:rPr>
              <a:t> </a:t>
            </a:r>
            <a:r>
              <a:rPr lang="en-US" sz="1100" dirty="0" err="1">
                <a:latin typeface="Candara" panose="020E0502030303020204" pitchFamily="34" charset="0"/>
              </a:rPr>
              <a:t>exp</a:t>
            </a:r>
            <a:r>
              <a:rPr lang="en-US" sz="1100" dirty="0">
                <a:latin typeface="Candara" panose="020E0502030303020204" pitchFamily="34" charset="0"/>
              </a:rPr>
              <a:t>){</a:t>
            </a:r>
          </a:p>
          <a:p>
            <a:r>
              <a:rPr lang="en-US" sz="1100" dirty="0" err="1">
                <a:latin typeface="Candara" panose="020E0502030303020204" pitchFamily="34" charset="0"/>
              </a:rPr>
              <a:t>System.</a:t>
            </a:r>
            <a:r>
              <a:rPr lang="en-US" sz="1100" i="1" dirty="0" err="1">
                <a:latin typeface="Candara" panose="020E0502030303020204" pitchFamily="34" charset="0"/>
              </a:rPr>
              <a:t>err.println</a:t>
            </a:r>
            <a:r>
              <a:rPr lang="en-US" sz="1100" i="1" dirty="0">
                <a:latin typeface="Candara" panose="020E0502030303020204" pitchFamily="34" charset="0"/>
              </a:rPr>
              <a:t>("Thread is interrupted !");</a:t>
            </a:r>
          </a:p>
          <a:p>
            <a:r>
              <a:rPr lang="en-US" sz="1100" dirty="0">
                <a:latin typeface="Candara" panose="020E0502030303020204" pitchFamily="34" charset="0"/>
              </a:rPr>
              <a:t>}</a:t>
            </a:r>
          </a:p>
          <a:p>
            <a:endParaRPr lang="en-US" sz="1100" dirty="0">
              <a:latin typeface="Candara" panose="020E0502030303020204" pitchFamily="34" charset="0"/>
            </a:endParaRPr>
          </a:p>
          <a:p>
            <a:r>
              <a:rPr lang="en-US" sz="1100" dirty="0">
                <a:latin typeface="Candara" panose="020E0502030303020204" pitchFamily="34" charset="0"/>
              </a:rPr>
              <a:t>//</a:t>
            </a:r>
            <a:r>
              <a:rPr lang="en-US" sz="1100" dirty="0" err="1">
                <a:latin typeface="Candara" panose="020E0502030303020204" pitchFamily="34" charset="0"/>
              </a:rPr>
              <a:t>myThread.stop</a:t>
            </a:r>
            <a:r>
              <a:rPr lang="en-US" sz="1100" dirty="0">
                <a:latin typeface="Candara" panose="020E0502030303020204" pitchFamily="34" charset="0"/>
              </a:rPr>
              <a:t>();</a:t>
            </a:r>
          </a:p>
          <a:p>
            <a:r>
              <a:rPr lang="en-US" sz="1100" dirty="0" err="1">
                <a:latin typeface="Candara" panose="020E0502030303020204" pitchFamily="34" charset="0"/>
              </a:rPr>
              <a:t>System.</a:t>
            </a:r>
            <a:r>
              <a:rPr lang="en-US" sz="1100" i="1" dirty="0" err="1">
                <a:latin typeface="Candara" panose="020E0502030303020204" pitchFamily="34" charset="0"/>
              </a:rPr>
              <a:t>out.println</a:t>
            </a:r>
            <a:r>
              <a:rPr lang="en-US" sz="1100" i="1" dirty="0">
                <a:latin typeface="Candara" panose="020E0502030303020204" pitchFamily="34" charset="0"/>
              </a:rPr>
              <a:t>("After complete execution of  Thread ,it is alive or not "+</a:t>
            </a:r>
            <a:r>
              <a:rPr lang="en-US" sz="1100" i="1" dirty="0" err="1">
                <a:latin typeface="Candara" panose="020E0502030303020204" pitchFamily="34" charset="0"/>
              </a:rPr>
              <a:t>myThread.isAlive</a:t>
            </a:r>
            <a:r>
              <a:rPr lang="en-US" sz="1100" i="1" dirty="0">
                <a:latin typeface="Candara" panose="020E0502030303020204" pitchFamily="34" charset="0"/>
              </a:rPr>
              <a:t>());</a:t>
            </a:r>
          </a:p>
          <a:p>
            <a:r>
              <a:rPr lang="en-US" sz="1100" dirty="0">
                <a:latin typeface="Candara" panose="020E0502030303020204" pitchFamily="34" charset="0"/>
              </a:rPr>
              <a:t>}</a:t>
            </a:r>
          </a:p>
          <a:p>
            <a:endParaRPr lang="en-US" sz="1100" dirty="0">
              <a:latin typeface="Candara" panose="020E0502030303020204" pitchFamily="34" charset="0"/>
            </a:endParaRPr>
          </a:p>
          <a:p>
            <a:endParaRPr lang="en-US" sz="1100" dirty="0">
              <a:latin typeface="Candara" panose="020E0502030303020204" pitchFamily="34" charset="0"/>
            </a:endParaRPr>
          </a:p>
          <a:p>
            <a:endParaRPr lang="en-US" sz="1100" dirty="0">
              <a:latin typeface="Candara" panose="020E0502030303020204" pitchFamily="34" charset="0"/>
            </a:endParaRPr>
          </a:p>
          <a:p>
            <a:r>
              <a:rPr lang="en-US" sz="1100" dirty="0">
                <a:latin typeface="Candara" panose="020E0502030303020204" pitchFamily="34" charset="0"/>
              </a:rPr>
              <a:t>}</a:t>
            </a:r>
          </a:p>
        </p:txBody>
      </p:sp>
    </p:spTree>
    <p:extLst>
      <p:ext uri="{BB962C8B-B14F-4D97-AF65-F5344CB8AC3E}">
        <p14:creationId xmlns:p14="http://schemas.microsoft.com/office/powerpoint/2010/main" xmlns="" val="1405963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lstStyle/>
          <a:p>
            <a:r>
              <a:rPr lang="en-US" dirty="0" smtClean="0">
                <a:latin typeface="Arial (Body)"/>
              </a:rPr>
              <a:t>public final void join() : </a:t>
            </a:r>
            <a:r>
              <a:rPr lang="en-US" sz="1100" dirty="0">
                <a:latin typeface="Arial (Body)"/>
              </a:rPr>
              <a:t>This method puts the current thread on wait until the thread on which it’s called is dead. If the thread is interrupted, it throws </a:t>
            </a:r>
            <a:r>
              <a:rPr lang="en-US" sz="1100" dirty="0" err="1">
                <a:latin typeface="Arial (Body)"/>
              </a:rPr>
              <a:t>InterruptedException</a:t>
            </a:r>
            <a:r>
              <a:rPr lang="en-US" sz="1100" dirty="0">
                <a:latin typeface="Arial (Body)"/>
              </a:rPr>
              <a:t>.</a:t>
            </a:r>
          </a:p>
          <a:p>
            <a:endParaRPr lang="en-US" sz="1100" dirty="0">
              <a:latin typeface="Arial (Body)"/>
            </a:endParaRPr>
          </a:p>
          <a:p>
            <a:pPr marL="0" lvl="1" defTabSz="966612">
              <a:defRPr/>
            </a:pPr>
            <a:r>
              <a:rPr lang="en-US" b="1" dirty="0" smtClean="0">
                <a:latin typeface="Arial (Body)"/>
              </a:rPr>
              <a:t>public final synchronized void join(long </a:t>
            </a:r>
            <a:r>
              <a:rPr lang="en-US" b="1" dirty="0" err="1" smtClean="0">
                <a:latin typeface="Arial (Body)"/>
              </a:rPr>
              <a:t>millis</a:t>
            </a:r>
            <a:r>
              <a:rPr lang="en-US" b="1" dirty="0" smtClean="0">
                <a:latin typeface="Arial (Body)"/>
              </a:rPr>
              <a:t>)  :   </a:t>
            </a:r>
            <a:r>
              <a:rPr lang="en-US" sz="1100" dirty="0">
                <a:latin typeface="Arial (Body)"/>
              </a:rPr>
              <a:t>This method is used to wait for the thread on which it’s called to be dead or wait for a specified milliseconds. Since thread execution depends on OS implementation, one can’t guarantee that the current thread will wait only for given time .</a:t>
            </a:r>
          </a:p>
          <a:p>
            <a:pPr marL="0" lvl="1" defTabSz="966612">
              <a:defRPr/>
            </a:pPr>
            <a:endParaRPr lang="en-US" sz="1100" dirty="0">
              <a:latin typeface="Arial (Body)"/>
            </a:endParaRPr>
          </a:p>
          <a:p>
            <a:pPr marL="0" lvl="1" defTabSz="966612">
              <a:defRPr/>
            </a:pPr>
            <a:r>
              <a:rPr lang="en-US" sz="1100" b="1" dirty="0">
                <a:latin typeface="Arial (Body)"/>
              </a:rPr>
              <a:t>public final synchronized void join(long </a:t>
            </a:r>
            <a:r>
              <a:rPr lang="en-US" sz="1100" b="1" dirty="0" err="1">
                <a:latin typeface="Arial (Body)"/>
              </a:rPr>
              <a:t>millis</a:t>
            </a:r>
            <a:r>
              <a:rPr lang="en-US" sz="1100" b="1" dirty="0">
                <a:latin typeface="Arial (Body)"/>
              </a:rPr>
              <a:t>, </a:t>
            </a:r>
            <a:r>
              <a:rPr lang="en-US" sz="1100" b="1" dirty="0" err="1">
                <a:latin typeface="Arial (Body)"/>
              </a:rPr>
              <a:t>int</a:t>
            </a:r>
            <a:r>
              <a:rPr lang="en-US" sz="1100" b="1" dirty="0">
                <a:latin typeface="Arial (Body)"/>
              </a:rPr>
              <a:t> nanos)</a:t>
            </a:r>
            <a:r>
              <a:rPr lang="en-US" sz="1100" dirty="0">
                <a:latin typeface="Arial (Body)"/>
              </a:rPr>
              <a:t>:   This method is used to wait for thread to die for given milliseconds plus nanoseconds.</a:t>
            </a:r>
            <a:endParaRPr lang="en-US" b="1" dirty="0" smtClean="0">
              <a:latin typeface="Arial (Body)"/>
            </a:endParaRPr>
          </a:p>
        </p:txBody>
      </p:sp>
    </p:spTree>
    <p:extLst>
      <p:ext uri="{BB962C8B-B14F-4D97-AF65-F5344CB8AC3E}">
        <p14:creationId xmlns:p14="http://schemas.microsoft.com/office/powerpoint/2010/main" xmlns="" val="1792568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92313" y="720725"/>
            <a:ext cx="4800600" cy="3600450"/>
          </a:xfrm>
        </p:spPr>
      </p:sp>
      <p:sp>
        <p:nvSpPr>
          <p:cNvPr id="3" name="Notes Placeholder 2"/>
          <p:cNvSpPr>
            <a:spLocks noGrp="1"/>
          </p:cNvSpPr>
          <p:nvPr>
            <p:ph type="body" idx="1"/>
          </p:nvPr>
        </p:nvSpPr>
        <p:spPr/>
        <p:txBody>
          <a:bodyPr>
            <a:normAutofit fontScale="70000" lnSpcReduction="20000"/>
          </a:bodyPr>
          <a:lstStyle/>
          <a:p>
            <a:r>
              <a:rPr lang="en-US" b="1" dirty="0" smtClean="0"/>
              <a:t>public class </a:t>
            </a:r>
            <a:r>
              <a:rPr lang="en-US" b="1" dirty="0" err="1" smtClean="0"/>
              <a:t>ThreadJoinDemo</a:t>
            </a:r>
            <a:r>
              <a:rPr lang="en-US" b="1" dirty="0" smtClean="0"/>
              <a:t> {</a:t>
            </a:r>
          </a:p>
          <a:p>
            <a:endParaRPr lang="en-US" dirty="0" smtClean="0"/>
          </a:p>
          <a:p>
            <a:r>
              <a:rPr lang="en-US" b="1" dirty="0" smtClean="0"/>
              <a:t>public static void main(String[] </a:t>
            </a:r>
            <a:r>
              <a:rPr lang="en-US" b="1" dirty="0" err="1" smtClean="0"/>
              <a:t>args</a:t>
            </a:r>
            <a:r>
              <a:rPr lang="en-US" b="1" dirty="0" smtClean="0"/>
              <a:t>) {</a:t>
            </a:r>
          </a:p>
          <a:p>
            <a:r>
              <a:rPr lang="en-US" dirty="0" smtClean="0"/>
              <a:t>// </a:t>
            </a:r>
            <a:r>
              <a:rPr lang="en-US" b="1" dirty="0" smtClean="0"/>
              <a:t>TODO Auto-generated method stub</a:t>
            </a:r>
          </a:p>
          <a:p>
            <a:endParaRPr lang="en-US" dirty="0" smtClean="0"/>
          </a:p>
          <a:p>
            <a:endParaRPr lang="en-US" dirty="0" smtClean="0"/>
          </a:p>
          <a:p>
            <a:r>
              <a:rPr lang="en-US" dirty="0" smtClean="0"/>
              <a:t>Thread thread1 = </a:t>
            </a:r>
            <a:r>
              <a:rPr lang="en-US" b="1" dirty="0" smtClean="0"/>
              <a:t>new Thread(new </a:t>
            </a:r>
            <a:r>
              <a:rPr lang="en-US" b="1" dirty="0" err="1" smtClean="0"/>
              <a:t>MyRunnable</a:t>
            </a:r>
            <a:r>
              <a:rPr lang="en-US" b="1" dirty="0" smtClean="0"/>
              <a:t>(), "First");</a:t>
            </a:r>
          </a:p>
          <a:p>
            <a:r>
              <a:rPr lang="en-US" dirty="0" smtClean="0"/>
              <a:t>        Thread thread2 = </a:t>
            </a:r>
            <a:r>
              <a:rPr lang="en-US" b="1" dirty="0" smtClean="0"/>
              <a:t>new Thread(new </a:t>
            </a:r>
            <a:r>
              <a:rPr lang="en-US" b="1" dirty="0" err="1" smtClean="0"/>
              <a:t>MyRunnable</a:t>
            </a:r>
            <a:r>
              <a:rPr lang="en-US" b="1" dirty="0" smtClean="0"/>
              <a:t>(), "Second");</a:t>
            </a:r>
          </a:p>
          <a:p>
            <a:r>
              <a:rPr lang="en-US" dirty="0" smtClean="0"/>
              <a:t>        Thread thread3 = </a:t>
            </a:r>
            <a:r>
              <a:rPr lang="en-US" b="1" dirty="0" smtClean="0"/>
              <a:t>new Thread(new </a:t>
            </a:r>
            <a:r>
              <a:rPr lang="en-US" b="1" dirty="0" err="1" smtClean="0"/>
              <a:t>MyRunnable</a:t>
            </a:r>
            <a:r>
              <a:rPr lang="en-US" b="1" dirty="0" smtClean="0"/>
              <a:t>(), "Third");</a:t>
            </a:r>
          </a:p>
          <a:p>
            <a:r>
              <a:rPr lang="en-US" dirty="0" smtClean="0"/>
              <a:t>         </a:t>
            </a:r>
          </a:p>
          <a:p>
            <a:r>
              <a:rPr lang="en-US" dirty="0" smtClean="0"/>
              <a:t>        thread1.start();</a:t>
            </a:r>
          </a:p>
          <a:p>
            <a:r>
              <a:rPr lang="en-US" dirty="0" smtClean="0"/>
              <a:t>         </a:t>
            </a:r>
          </a:p>
          <a:p>
            <a:r>
              <a:rPr lang="en-US" dirty="0" smtClean="0"/>
              <a:t>        //start second thread after waiting for 10 seconds or if it's dead</a:t>
            </a:r>
          </a:p>
          <a:p>
            <a:r>
              <a:rPr lang="en-US" dirty="0" smtClean="0"/>
              <a:t>        </a:t>
            </a:r>
            <a:r>
              <a:rPr lang="en-US" b="1" dirty="0" smtClean="0"/>
              <a:t>try {</a:t>
            </a:r>
          </a:p>
          <a:p>
            <a:r>
              <a:rPr lang="en-US" dirty="0" smtClean="0"/>
              <a:t>            thread1.join(10000);</a:t>
            </a:r>
          </a:p>
          <a:p>
            <a:r>
              <a:rPr lang="en-US" dirty="0" smtClean="0"/>
              <a:t>        } </a:t>
            </a:r>
            <a:r>
              <a:rPr lang="en-US" b="1" dirty="0" smtClean="0"/>
              <a:t>catch (</a:t>
            </a:r>
            <a:r>
              <a:rPr lang="en-US" b="1" dirty="0" err="1" smtClean="0"/>
              <a:t>InterruptedException</a:t>
            </a:r>
            <a:r>
              <a:rPr lang="en-US" b="1" dirty="0" smtClean="0"/>
              <a:t> </a:t>
            </a:r>
            <a:r>
              <a:rPr lang="en-US" b="1" dirty="0" err="1" smtClean="0"/>
              <a:t>exp</a:t>
            </a:r>
            <a:r>
              <a:rPr lang="en-US" b="1" dirty="0" smtClean="0"/>
              <a:t>) {</a:t>
            </a:r>
          </a:p>
          <a:p>
            <a:r>
              <a:rPr lang="en-US" dirty="0" smtClean="0"/>
              <a:t>           </a:t>
            </a:r>
            <a:r>
              <a:rPr lang="en-US" dirty="0" err="1" smtClean="0"/>
              <a:t>System.</a:t>
            </a:r>
            <a:r>
              <a:rPr lang="en-US" b="1" i="1" dirty="0" err="1" smtClean="0"/>
              <a:t>err.println</a:t>
            </a:r>
            <a:r>
              <a:rPr lang="en-US" b="1" i="1" dirty="0" smtClean="0"/>
              <a:t>(</a:t>
            </a:r>
            <a:r>
              <a:rPr lang="en-US" b="1" i="1" dirty="0" err="1" smtClean="0"/>
              <a:t>exp.getMessage</a:t>
            </a:r>
            <a:r>
              <a:rPr lang="en-US" b="1" i="1" dirty="0" smtClean="0"/>
              <a:t>());</a:t>
            </a:r>
          </a:p>
          <a:p>
            <a:r>
              <a:rPr lang="en-US" dirty="0" smtClean="0"/>
              <a:t>        }</a:t>
            </a:r>
          </a:p>
          <a:p>
            <a:endParaRPr lang="en-US" dirty="0" smtClean="0"/>
          </a:p>
          <a:p>
            <a:r>
              <a:rPr lang="en-US" baseline="0" dirty="0" smtClean="0"/>
              <a:t>        </a:t>
            </a:r>
            <a:r>
              <a:rPr lang="en-US" dirty="0" smtClean="0"/>
              <a:t>thread2.start();</a:t>
            </a:r>
          </a:p>
          <a:p>
            <a:r>
              <a:rPr lang="en-US" dirty="0" smtClean="0"/>
              <a:t>         </a:t>
            </a:r>
          </a:p>
          <a:p>
            <a:r>
              <a:rPr lang="en-US" dirty="0" smtClean="0"/>
              <a:t>        //start third thread only when first thread is dead</a:t>
            </a:r>
          </a:p>
          <a:p>
            <a:r>
              <a:rPr lang="en-US" dirty="0" smtClean="0"/>
              <a:t>        </a:t>
            </a:r>
            <a:r>
              <a:rPr lang="en-US" b="1" dirty="0" smtClean="0"/>
              <a:t>try {</a:t>
            </a:r>
          </a:p>
          <a:p>
            <a:r>
              <a:rPr lang="en-US" dirty="0" smtClean="0"/>
              <a:t>            thread1.join();</a:t>
            </a:r>
          </a:p>
          <a:p>
            <a:r>
              <a:rPr lang="en-US" dirty="0" smtClean="0"/>
              <a:t>        } </a:t>
            </a:r>
            <a:r>
              <a:rPr lang="en-US" b="1" dirty="0" smtClean="0"/>
              <a:t>catch (</a:t>
            </a:r>
            <a:r>
              <a:rPr lang="en-US" b="1" dirty="0" err="1" smtClean="0"/>
              <a:t>InterruptedException</a:t>
            </a:r>
            <a:r>
              <a:rPr lang="en-US" b="1" dirty="0" smtClean="0"/>
              <a:t> </a:t>
            </a:r>
            <a:r>
              <a:rPr lang="en-US" b="1" dirty="0" err="1" smtClean="0"/>
              <a:t>exp</a:t>
            </a:r>
            <a:r>
              <a:rPr lang="en-US" b="1" dirty="0" smtClean="0"/>
              <a:t>) {</a:t>
            </a:r>
          </a:p>
          <a:p>
            <a:r>
              <a:rPr lang="en-US" dirty="0" smtClean="0"/>
              <a:t>            </a:t>
            </a:r>
            <a:r>
              <a:rPr lang="en-US" dirty="0" err="1" smtClean="0"/>
              <a:t>System.</a:t>
            </a:r>
            <a:r>
              <a:rPr lang="en-US" b="1" i="1" dirty="0" err="1" smtClean="0"/>
              <a:t>err.println</a:t>
            </a:r>
            <a:r>
              <a:rPr lang="en-US" b="1" i="1" dirty="0" smtClean="0"/>
              <a:t>(</a:t>
            </a:r>
            <a:r>
              <a:rPr lang="en-US" b="1" i="1" dirty="0" err="1" smtClean="0"/>
              <a:t>exp.getMessage</a:t>
            </a:r>
            <a:r>
              <a:rPr lang="en-US" b="1" i="1" dirty="0" smtClean="0"/>
              <a:t>());</a:t>
            </a:r>
          </a:p>
          <a:p>
            <a:r>
              <a:rPr lang="en-US" dirty="0" smtClean="0"/>
              <a:t>        }</a:t>
            </a:r>
          </a:p>
          <a:p>
            <a:r>
              <a:rPr lang="en-US" dirty="0" smtClean="0"/>
              <a:t>         </a:t>
            </a:r>
          </a:p>
          <a:p>
            <a:r>
              <a:rPr lang="en-US" dirty="0" smtClean="0"/>
              <a:t>        thread3.start();</a:t>
            </a:r>
          </a:p>
          <a:p>
            <a:endParaRPr lang="en-US" dirty="0" smtClean="0"/>
          </a:p>
          <a:p>
            <a:r>
              <a:rPr lang="en-US" dirty="0" smtClean="0"/>
              <a:t>//let all threads finish execution before finishing main thread</a:t>
            </a:r>
          </a:p>
          <a:p>
            <a:r>
              <a:rPr lang="en-US" dirty="0" smtClean="0"/>
              <a:t>        </a:t>
            </a:r>
            <a:r>
              <a:rPr lang="en-US" b="1" dirty="0" smtClean="0"/>
              <a:t>try {</a:t>
            </a:r>
          </a:p>
          <a:p>
            <a:r>
              <a:rPr lang="en-US" dirty="0" smtClean="0"/>
              <a:t>            thread1.join();</a:t>
            </a:r>
          </a:p>
          <a:p>
            <a:r>
              <a:rPr lang="en-US" dirty="0" smtClean="0"/>
              <a:t>            thread2.join();</a:t>
            </a:r>
          </a:p>
          <a:p>
            <a:r>
              <a:rPr lang="en-US" dirty="0" smtClean="0"/>
              <a:t>            thread3.join();</a:t>
            </a:r>
          </a:p>
          <a:p>
            <a:r>
              <a:rPr lang="en-US" dirty="0" smtClean="0"/>
              <a:t>        } </a:t>
            </a:r>
            <a:r>
              <a:rPr lang="en-US" b="1" dirty="0" smtClean="0"/>
              <a:t>catch (</a:t>
            </a:r>
            <a:r>
              <a:rPr lang="en-US" b="1" dirty="0" err="1" smtClean="0"/>
              <a:t>InterruptedException</a:t>
            </a:r>
            <a:r>
              <a:rPr lang="en-US" b="1" dirty="0" smtClean="0"/>
              <a:t> </a:t>
            </a:r>
            <a:r>
              <a:rPr lang="en-US" b="1" dirty="0" err="1" smtClean="0"/>
              <a:t>exp</a:t>
            </a:r>
            <a:r>
              <a:rPr lang="en-US" b="1" dirty="0" smtClean="0"/>
              <a:t>) {</a:t>
            </a:r>
          </a:p>
          <a:p>
            <a:r>
              <a:rPr lang="en-US" dirty="0" smtClean="0"/>
              <a:t>           </a:t>
            </a:r>
          </a:p>
          <a:p>
            <a:r>
              <a:rPr lang="en-US" dirty="0" smtClean="0"/>
              <a:t>	 </a:t>
            </a:r>
            <a:r>
              <a:rPr lang="en-US" dirty="0" err="1" smtClean="0"/>
              <a:t>System.</a:t>
            </a:r>
            <a:r>
              <a:rPr lang="en-US" b="1" i="1" dirty="0" err="1" smtClean="0"/>
              <a:t>err.println</a:t>
            </a:r>
            <a:r>
              <a:rPr lang="en-US" b="1" i="1" dirty="0" smtClean="0"/>
              <a:t>(</a:t>
            </a:r>
            <a:r>
              <a:rPr lang="en-US" b="1" i="1" dirty="0" err="1" smtClean="0"/>
              <a:t>exp.getMessage</a:t>
            </a:r>
            <a:r>
              <a:rPr lang="en-US" b="1" i="1" dirty="0" smtClean="0"/>
              <a:t>());</a:t>
            </a:r>
          </a:p>
          <a:p>
            <a:r>
              <a:rPr lang="en-US" dirty="0" smtClean="0"/>
              <a:t>        }</a:t>
            </a:r>
          </a:p>
          <a:p>
            <a:r>
              <a:rPr lang="en-US" dirty="0" smtClean="0"/>
              <a:t>         </a:t>
            </a:r>
          </a:p>
          <a:p>
            <a:r>
              <a:rPr lang="en-US" dirty="0" smtClean="0"/>
              <a:t>        </a:t>
            </a:r>
            <a:r>
              <a:rPr lang="en-US" dirty="0" err="1" smtClean="0"/>
              <a:t>System.</a:t>
            </a:r>
            <a:r>
              <a:rPr lang="en-US" b="1" i="1" dirty="0" err="1" smtClean="0"/>
              <a:t>out.println</a:t>
            </a:r>
            <a:r>
              <a:rPr lang="en-US" b="1" i="1" dirty="0" smtClean="0"/>
              <a:t>("All threads are dead, exiting main thread");</a:t>
            </a:r>
          </a:p>
          <a:p>
            <a:endParaRPr lang="en-US" dirty="0" smtClean="0"/>
          </a:p>
          <a:p>
            <a:endParaRPr lang="en-US" dirty="0" smtClean="0"/>
          </a:p>
          <a:p>
            <a:r>
              <a:rPr lang="en-US" dirty="0" smtClean="0"/>
              <a:t>   }</a:t>
            </a:r>
          </a:p>
          <a:p>
            <a:endParaRPr lang="en-US" dirty="0" smtClean="0"/>
          </a:p>
          <a:p>
            <a:r>
              <a:rPr lang="en-US" dirty="0" smtClean="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p:txBody>
          <a:bodyPr/>
          <a:lstStyle/>
          <a:p>
            <a:r>
              <a:rPr lang="en-US" dirty="0" smtClean="0"/>
              <a:t>Add the notes here.</a:t>
            </a:r>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3" name="Rectangle 3"/>
          <p:cNvSpPr>
            <a:spLocks noGrp="1" noChangeArrowheads="1"/>
          </p:cNvSpPr>
          <p:nvPr>
            <p:ph type="body" idx="1"/>
          </p:nvPr>
        </p:nvSpPr>
        <p:spPr/>
        <p:txBody>
          <a:bodyPr/>
          <a:lstStyle/>
          <a:p>
            <a:endParaRPr lang="en-US" smtClean="0"/>
          </a:p>
          <a:p>
            <a:endParaRPr lang="en-US" dirty="0"/>
          </a:p>
        </p:txBody>
      </p:sp>
      <p:sp>
        <p:nvSpPr>
          <p:cNvPr id="3" name="Slide Image Placeholder 2"/>
          <p:cNvSpPr>
            <a:spLocks noGrp="1" noRot="1" noChangeAspect="1"/>
          </p:cNvSpPr>
          <p:nvPr>
            <p:ph type="sldImg"/>
          </p:nvPr>
        </p:nvSpPr>
        <p:spPr>
          <a:xfrm>
            <a:off x="1992313" y="720725"/>
            <a:ext cx="4800600" cy="3600450"/>
          </a:xfr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6"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136104885"/>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80"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11181996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39095441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63565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352189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19365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1932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882025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60055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4"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52916614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8"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765781663"/>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2"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4222831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70237627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1926121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6"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347555165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3670620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200" name="think-cell Slide" r:id="rId4" imgW="360" imgH="360" progId="">
              <p:embed/>
            </p:oleObj>
          </a:graphicData>
        </a:graphic>
      </p:graphicFrame>
    </p:spTree>
    <p:extLst>
      <p:ext uri="{BB962C8B-B14F-4D97-AF65-F5344CB8AC3E}">
        <p14:creationId xmlns:p14="http://schemas.microsoft.com/office/powerpoint/2010/main" xmlns="" val="20731240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2"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6695344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a:t>
            </a:r>
            <a:r>
              <a:rPr lang="en-US" sz="3600" dirty="0" smtClean="0"/>
              <a:t>8 </a:t>
            </a:r>
            <a:r>
              <a:rPr lang="en-US" sz="3600" dirty="0"/>
              <a:t>and 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20 :     Multithreading</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3" name="Content Placeholder 2"/>
          <p:cNvSpPr>
            <a:spLocks noGrp="1"/>
          </p:cNvSpPr>
          <p:nvPr>
            <p:ph idx="1"/>
          </p:nvPr>
        </p:nvSpPr>
        <p:spPr/>
        <p:txBody>
          <a:bodyPr/>
          <a:lstStyle/>
          <a:p>
            <a:r>
              <a:rPr lang="en-US" dirty="0"/>
              <a:t>After completing this lesson, participants will be able to </a:t>
            </a:r>
          </a:p>
          <a:p>
            <a:pPr lvl="1"/>
            <a:r>
              <a:rPr lang="en-US" dirty="0"/>
              <a:t>Understanding threads</a:t>
            </a:r>
          </a:p>
          <a:p>
            <a:pPr lvl="1"/>
            <a:r>
              <a:rPr lang="en-US" dirty="0"/>
              <a:t>Thread life cycle </a:t>
            </a:r>
          </a:p>
          <a:p>
            <a:pPr lvl="1"/>
            <a:r>
              <a:rPr lang="en-US" dirty="0"/>
              <a:t>Scheduling threads- Priorities </a:t>
            </a:r>
          </a:p>
          <a:p>
            <a:pPr lvl="1"/>
            <a:r>
              <a:rPr lang="en-US" dirty="0"/>
              <a:t>Controlling  threads  using sleep(),join()</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p:cNvSpPr>
          <p:nvPr>
            <p:ph type="title"/>
          </p:nvPr>
        </p:nvSpPr>
        <p:spPr/>
        <p:txBody>
          <a:bodyPr/>
          <a:lstStyle/>
          <a:p>
            <a:r>
              <a:rPr lang="en-US" sz="1200" dirty="0" smtClean="0"/>
              <a:t>20.1</a:t>
            </a:r>
            <a:r>
              <a:rPr lang="en-US" sz="1200" dirty="0"/>
              <a:t>:  </a:t>
            </a:r>
            <a:r>
              <a:rPr lang="en-US" sz="1200" dirty="0" smtClean="0"/>
              <a:t>Understanding  Threads?  </a:t>
            </a:r>
            <a:r>
              <a:rPr lang="en-US" sz="1200" dirty="0"/>
              <a:t/>
            </a:r>
            <a:br>
              <a:rPr lang="en-US" sz="1200" dirty="0"/>
            </a:br>
            <a:r>
              <a:rPr lang="en-US" dirty="0" smtClean="0"/>
              <a:t>Thread and Process</a:t>
            </a:r>
            <a:endParaRPr lang="en-US" dirty="0"/>
          </a:p>
        </p:txBody>
      </p:sp>
      <p:sp>
        <p:nvSpPr>
          <p:cNvPr id="183299" name="Rectangle 3"/>
          <p:cNvSpPr>
            <a:spLocks noGrp="1"/>
          </p:cNvSpPr>
          <p:nvPr>
            <p:ph idx="1"/>
          </p:nvPr>
        </p:nvSpPr>
        <p:spPr/>
        <p:txBody>
          <a:bodyPr>
            <a:normAutofit/>
          </a:bodyPr>
          <a:lstStyle/>
          <a:p>
            <a:r>
              <a:rPr lang="en-US" dirty="0" smtClean="0">
                <a:solidFill>
                  <a:schemeClr val="tx1"/>
                </a:solidFill>
                <a:latin typeface="Arial (Body)"/>
              </a:rPr>
              <a:t>Thread</a:t>
            </a:r>
            <a:endParaRPr lang="en-US" dirty="0">
              <a:solidFill>
                <a:schemeClr val="tx1"/>
              </a:solidFill>
              <a:latin typeface="Arial (Body)"/>
            </a:endParaRPr>
          </a:p>
          <a:p>
            <a:pPr lvl="1"/>
            <a:r>
              <a:rPr lang="en-US" altLang="en-US" dirty="0" smtClean="0">
                <a:latin typeface="Arial (Body)"/>
                <a:cs typeface="Times New Roman" pitchFamily="18" charset="0"/>
              </a:rPr>
              <a:t>A </a:t>
            </a:r>
            <a:r>
              <a:rPr lang="en-US" altLang="en-US" dirty="0">
                <a:latin typeface="Arial (Body)"/>
                <a:cs typeface="Times New Roman" pitchFamily="18" charset="0"/>
              </a:rPr>
              <a:t>thread is a single sequential flow of control within a process and it </a:t>
            </a:r>
            <a:endParaRPr lang="en-US" altLang="en-US" dirty="0" smtClean="0">
              <a:latin typeface="Arial (Body)"/>
              <a:cs typeface="Times New Roman" pitchFamily="18" charset="0"/>
            </a:endParaRPr>
          </a:p>
          <a:p>
            <a:pPr marL="457200" lvl="1" indent="0">
              <a:buNone/>
            </a:pPr>
            <a:r>
              <a:rPr lang="en-US" altLang="en-US" dirty="0">
                <a:latin typeface="Arial (Body)"/>
                <a:cs typeface="Times New Roman" pitchFamily="18" charset="0"/>
              </a:rPr>
              <a:t> </a:t>
            </a:r>
            <a:r>
              <a:rPr lang="en-US" altLang="en-US" dirty="0" smtClean="0">
                <a:latin typeface="Arial (Body)"/>
                <a:cs typeface="Times New Roman" pitchFamily="18" charset="0"/>
              </a:rPr>
              <a:t>     lives </a:t>
            </a:r>
            <a:r>
              <a:rPr lang="en-US" altLang="en-US" dirty="0">
                <a:latin typeface="Arial (Body)"/>
                <a:cs typeface="Times New Roman" pitchFamily="18" charset="0"/>
              </a:rPr>
              <a:t>within the process</a:t>
            </a:r>
            <a:endParaRPr lang="en-US" altLang="en-US" dirty="0" smtClean="0">
              <a:latin typeface="Arial (Body)"/>
              <a:cs typeface="Times New Roman" pitchFamily="18" charset="0"/>
            </a:endParaRPr>
          </a:p>
          <a:p>
            <a:pPr lvl="1"/>
            <a:r>
              <a:rPr lang="en-US" altLang="en-US" dirty="0">
                <a:latin typeface="Arial (Body)"/>
                <a:cs typeface="Times New Roman" pitchFamily="18" charset="0"/>
              </a:rPr>
              <a:t>A light weight process which runs under resources of main </a:t>
            </a:r>
            <a:r>
              <a:rPr lang="en-US" altLang="en-US" dirty="0" smtClean="0">
                <a:latin typeface="Arial (Body)"/>
                <a:cs typeface="Times New Roman" pitchFamily="18" charset="0"/>
              </a:rPr>
              <a:t>process</a:t>
            </a:r>
          </a:p>
          <a:p>
            <a:pPr lvl="1"/>
            <a:r>
              <a:rPr lang="en-US" altLang="en-US" dirty="0">
                <a:latin typeface="Arial (Body)"/>
                <a:cs typeface="Times New Roman" pitchFamily="18" charset="0"/>
              </a:rPr>
              <a:t>Inter process Communication is always slower than intra process communication</a:t>
            </a:r>
            <a:endParaRPr lang="en-US" altLang="en-US" dirty="0" smtClean="0">
              <a:latin typeface="Arial (Body)"/>
              <a:cs typeface="Times New Roman" pitchFamily="18" charset="0"/>
            </a:endParaRPr>
          </a:p>
          <a:p>
            <a:pPr lvl="1"/>
            <a:r>
              <a:rPr lang="en-US" altLang="en-US" dirty="0" smtClean="0">
                <a:latin typeface="Arial (Body)"/>
                <a:cs typeface="Times New Roman" pitchFamily="18" charset="0"/>
              </a:rPr>
              <a:t>Actual thread execution highly depends on OS and hardware support.</a:t>
            </a:r>
            <a:endParaRPr lang="en-US" altLang="en-US" dirty="0">
              <a:latin typeface="Arial (Body)"/>
              <a:cs typeface="Times New Roman" pitchFamily="18" charset="0"/>
            </a:endParaRPr>
          </a:p>
          <a:p>
            <a:pPr lvl="1"/>
            <a:r>
              <a:rPr lang="en-US" altLang="en-US" dirty="0" smtClean="0">
                <a:latin typeface="Arial (Body)"/>
                <a:cs typeface="Times New Roman" pitchFamily="18" charset="0"/>
              </a:rPr>
              <a:t>The JVM of Thread-non-supportive OS takes care of thread execution.</a:t>
            </a:r>
            <a:endParaRPr lang="en-US" altLang="en-US" dirty="0">
              <a:latin typeface="Arial (Body)"/>
              <a:cs typeface="Times New Roman" pitchFamily="18" charset="0"/>
            </a:endParaRPr>
          </a:p>
          <a:p>
            <a:pPr lvl="1"/>
            <a:r>
              <a:rPr lang="en-US" altLang="en-US" dirty="0" smtClean="0">
                <a:latin typeface="Arial (Body)"/>
                <a:cs typeface="Times New Roman" pitchFamily="18" charset="0"/>
              </a:rPr>
              <a:t>On single processor, threads may be executed in time sharing manner</a:t>
            </a:r>
          </a:p>
        </p:txBody>
      </p:sp>
    </p:spTree>
    <p:extLst>
      <p:ext uri="{BB962C8B-B14F-4D97-AF65-F5344CB8AC3E}">
        <p14:creationId xmlns:p14="http://schemas.microsoft.com/office/powerpoint/2010/main" xmlns="" val="3294212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200" dirty="0" smtClean="0"/>
              <a:t>20.1</a:t>
            </a:r>
            <a:r>
              <a:rPr lang="en-US" sz="1200" dirty="0"/>
              <a:t>:  Understanding  Threads?  </a:t>
            </a:r>
            <a:r>
              <a:rPr lang="en-US" dirty="0"/>
              <a:t/>
            </a:r>
            <a:br>
              <a:rPr lang="en-US" dirty="0"/>
            </a:br>
            <a:r>
              <a:rPr lang="en-US" dirty="0" smtClean="0"/>
              <a:t>Thread Application</a:t>
            </a:r>
            <a:endParaRPr lang="en-US" dirty="0"/>
          </a:p>
        </p:txBody>
      </p:sp>
      <p:sp>
        <p:nvSpPr>
          <p:cNvPr id="3" name="Content Placeholder 2"/>
          <p:cNvSpPr>
            <a:spLocks noGrp="1"/>
          </p:cNvSpPr>
          <p:nvPr>
            <p:ph idx="1"/>
          </p:nvPr>
        </p:nvSpPr>
        <p:spPr/>
        <p:txBody>
          <a:bodyPr/>
          <a:lstStyle/>
          <a:p>
            <a:r>
              <a:rPr lang="en-US" altLang="en-US" dirty="0">
                <a:solidFill>
                  <a:schemeClr val="tx1"/>
                </a:solidFill>
                <a:latin typeface="Arial (Body)"/>
                <a:cs typeface="Times New Roman" pitchFamily="18" charset="0"/>
              </a:rPr>
              <a:t>Applications of Multithreading</a:t>
            </a:r>
          </a:p>
          <a:p>
            <a:pPr marL="0" indent="0">
              <a:buNone/>
            </a:pPr>
            <a:endParaRPr lang="en-US" dirty="0">
              <a:solidFill>
                <a:schemeClr val="tx1"/>
              </a:solidFill>
              <a:latin typeface="Arial (Body)"/>
              <a:cs typeface="Times New Roman" pitchFamily="18" charset="0"/>
            </a:endParaRPr>
          </a:p>
          <a:p>
            <a:pPr lvl="1"/>
            <a:r>
              <a:rPr lang="en-US" altLang="en-US" dirty="0">
                <a:solidFill>
                  <a:schemeClr val="tx1"/>
                </a:solidFill>
                <a:latin typeface="Arial (Body)"/>
                <a:cs typeface="Times New Roman" pitchFamily="18" charset="0"/>
              </a:rPr>
              <a:t>Playing media player while doing some activity on the system like typing a document.</a:t>
            </a:r>
          </a:p>
          <a:p>
            <a:pPr lvl="1"/>
            <a:r>
              <a:rPr lang="en-US" altLang="en-US" dirty="0">
                <a:solidFill>
                  <a:schemeClr val="tx1"/>
                </a:solidFill>
                <a:latin typeface="Arial (Body)"/>
                <a:cs typeface="Times New Roman" pitchFamily="18" charset="0"/>
              </a:rPr>
              <a:t>Transferring data to the printer while typing some file. </a:t>
            </a:r>
          </a:p>
          <a:p>
            <a:pPr lvl="1"/>
            <a:r>
              <a:rPr lang="en-US" altLang="en-US" dirty="0">
                <a:solidFill>
                  <a:schemeClr val="tx1"/>
                </a:solidFill>
                <a:latin typeface="Arial (Body)"/>
                <a:cs typeface="Times New Roman" pitchFamily="18" charset="0"/>
              </a:rPr>
              <a:t>Running animation while system is busy on some other work</a:t>
            </a:r>
          </a:p>
          <a:p>
            <a:pPr lvl="1"/>
            <a:r>
              <a:rPr lang="en-US" altLang="en-US" dirty="0">
                <a:solidFill>
                  <a:schemeClr val="tx1"/>
                </a:solidFill>
                <a:latin typeface="Arial (Body)"/>
                <a:cs typeface="Times New Roman" pitchFamily="18" charset="0"/>
              </a:rPr>
              <a:t>Honoring requests from multiple clients by an application/web server. </a:t>
            </a:r>
            <a:endParaRPr lang="en-US" altLang="en-US" dirty="0">
              <a:solidFill>
                <a:schemeClr val="tx1"/>
              </a:solidFill>
              <a:latin typeface="Arial (Body)"/>
              <a:ea typeface="Calibri" pitchFamily="34" charset="0"/>
              <a:cs typeface="Calibri" pitchFamily="34" charset="0"/>
            </a:endParaRPr>
          </a:p>
        </p:txBody>
      </p:sp>
      <p:pic>
        <p:nvPicPr>
          <p:cNvPr id="4" name="Picture 3" descr="http://way2java.com/wp-content/uploads/2011/01/process.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495550" y="3814762"/>
            <a:ext cx="3162300" cy="1895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601714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20.1:  Understanding  Threads?</a:t>
            </a:r>
            <a:r>
              <a:rPr lang="en-US" dirty="0" smtClean="0"/>
              <a:t/>
            </a:r>
            <a:br>
              <a:rPr lang="en-US" dirty="0" smtClean="0"/>
            </a:br>
            <a:r>
              <a:rPr lang="en-US" dirty="0" smtClean="0"/>
              <a:t>Create Thread using Extending Thread</a:t>
            </a:r>
            <a:endParaRPr lang="en-US" dirty="0"/>
          </a:p>
        </p:txBody>
      </p:sp>
      <p:sp>
        <p:nvSpPr>
          <p:cNvPr id="3" name="Content Placeholder 2"/>
          <p:cNvSpPr>
            <a:spLocks noGrp="1"/>
          </p:cNvSpPr>
          <p:nvPr>
            <p:ph idx="1"/>
          </p:nvPr>
        </p:nvSpPr>
        <p:spPr/>
        <p:txBody>
          <a:bodyPr/>
          <a:lstStyle/>
          <a:p>
            <a:r>
              <a:rPr lang="en-US" altLang="en-US" dirty="0">
                <a:solidFill>
                  <a:schemeClr val="tx1"/>
                </a:solidFill>
                <a:latin typeface="Arial (Body)"/>
                <a:cs typeface="Arial" charset="0"/>
              </a:rPr>
              <a:t>Extending Thread class to create threads :</a:t>
            </a:r>
          </a:p>
          <a:p>
            <a:pPr lvl="1"/>
            <a:r>
              <a:rPr lang="en-US" altLang="en-US" dirty="0">
                <a:solidFill>
                  <a:schemeClr val="tx1"/>
                </a:solidFill>
                <a:latin typeface="Arial (Body)"/>
                <a:cs typeface="Arial" charset="0"/>
              </a:rPr>
              <a:t>Inherited class should:</a:t>
            </a:r>
          </a:p>
          <a:p>
            <a:pPr lvl="2">
              <a:buFont typeface="Arial" charset="0"/>
              <a:buChar char="•"/>
            </a:pPr>
            <a:r>
              <a:rPr lang="en-US" altLang="en-US" dirty="0">
                <a:solidFill>
                  <a:schemeClr val="tx1"/>
                </a:solidFill>
                <a:latin typeface="Arial (Body)"/>
                <a:cs typeface="Arial" charset="0"/>
              </a:rPr>
              <a:t>Override the </a:t>
            </a:r>
            <a:r>
              <a:rPr lang="en-US" altLang="en-US" i="1" dirty="0">
                <a:solidFill>
                  <a:schemeClr val="tx1"/>
                </a:solidFill>
                <a:latin typeface="Arial (Body)"/>
                <a:cs typeface="Arial" charset="0"/>
              </a:rPr>
              <a:t>run() </a:t>
            </a:r>
            <a:r>
              <a:rPr lang="en-US" altLang="en-US" dirty="0">
                <a:solidFill>
                  <a:schemeClr val="tx1"/>
                </a:solidFill>
                <a:latin typeface="Arial (Body)"/>
                <a:cs typeface="Arial" charset="0"/>
              </a:rPr>
              <a:t>method.</a:t>
            </a:r>
          </a:p>
          <a:p>
            <a:pPr lvl="2">
              <a:buFont typeface="Arial" charset="0"/>
              <a:buChar char="•"/>
            </a:pPr>
            <a:r>
              <a:rPr lang="en-US" altLang="en-US" dirty="0">
                <a:solidFill>
                  <a:schemeClr val="tx1"/>
                </a:solidFill>
                <a:latin typeface="Arial (Body)"/>
                <a:cs typeface="Arial" charset="0"/>
              </a:rPr>
              <a:t>Invoke the </a:t>
            </a:r>
            <a:r>
              <a:rPr lang="en-US" altLang="en-US" i="1" dirty="0">
                <a:solidFill>
                  <a:schemeClr val="tx1"/>
                </a:solidFill>
                <a:latin typeface="Arial (Body)"/>
                <a:cs typeface="Arial" charset="0"/>
              </a:rPr>
              <a:t>start() </a:t>
            </a:r>
            <a:r>
              <a:rPr lang="en-US" altLang="en-US" dirty="0">
                <a:solidFill>
                  <a:schemeClr val="tx1"/>
                </a:solidFill>
                <a:latin typeface="Arial (Body)"/>
                <a:cs typeface="Arial" charset="0"/>
              </a:rPr>
              <a:t>method to start the thread</a:t>
            </a:r>
            <a:r>
              <a:rPr lang="en-US" altLang="en-US" dirty="0" smtClean="0">
                <a:solidFill>
                  <a:schemeClr val="tx1"/>
                </a:solidFill>
                <a:latin typeface="Arial (Body)"/>
                <a:cs typeface="Arial" charset="0"/>
              </a:rPr>
              <a:t>.</a:t>
            </a:r>
            <a:endParaRPr lang="en-US" altLang="en-US" dirty="0">
              <a:solidFill>
                <a:schemeClr val="tx1"/>
              </a:solidFill>
              <a:latin typeface="Arial (Body)"/>
              <a:cs typeface="Arial" charset="0"/>
            </a:endParaRPr>
          </a:p>
        </p:txBody>
      </p:sp>
      <p:sp>
        <p:nvSpPr>
          <p:cNvPr id="4" name="AutoShape 4"/>
          <p:cNvSpPr>
            <a:spLocks noChangeArrowheads="1"/>
          </p:cNvSpPr>
          <p:nvPr/>
        </p:nvSpPr>
        <p:spPr bwMode="auto">
          <a:xfrm>
            <a:off x="1547888" y="2966970"/>
            <a:ext cx="7157962" cy="3119931"/>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pPr lvl="1">
              <a:lnSpc>
                <a:spcPct val="135000"/>
              </a:lnSpc>
            </a:pPr>
            <a:r>
              <a:rPr lang="en-US" sz="1400" dirty="0" smtClean="0">
                <a:solidFill>
                  <a:schemeClr val="tx1"/>
                </a:solidFill>
                <a:latin typeface="+mj-lt"/>
                <a:cs typeface="Arial" pitchFamily="34" charset="0"/>
              </a:rPr>
              <a:t>public </a:t>
            </a:r>
            <a:r>
              <a:rPr lang="en-US" sz="1400" dirty="0">
                <a:solidFill>
                  <a:schemeClr val="tx1"/>
                </a:solidFill>
                <a:latin typeface="+mj-lt"/>
                <a:cs typeface="Arial" pitchFamily="34" charset="0"/>
              </a:rPr>
              <a:t>class </a:t>
            </a:r>
            <a:r>
              <a:rPr lang="en-US" sz="1400" dirty="0" err="1" smtClean="0">
                <a:solidFill>
                  <a:schemeClr val="tx1"/>
                </a:solidFill>
                <a:latin typeface="+mj-lt"/>
                <a:cs typeface="Arial" pitchFamily="34" charset="0"/>
              </a:rPr>
              <a:t>HelloThread</a:t>
            </a:r>
            <a:r>
              <a:rPr lang="en-US" sz="1400" dirty="0" smtClean="0">
                <a:solidFill>
                  <a:schemeClr val="tx1"/>
                </a:solidFill>
                <a:latin typeface="+mj-lt"/>
                <a:cs typeface="Arial" pitchFamily="34" charset="0"/>
              </a:rPr>
              <a:t> extends Thread     {</a:t>
            </a:r>
            <a:endParaRPr lang="en-US" sz="1400" dirty="0">
              <a:solidFill>
                <a:schemeClr val="tx1"/>
              </a:solidFill>
              <a:latin typeface="+mj-lt"/>
              <a:cs typeface="Arial" pitchFamily="34" charset="0"/>
            </a:endParaRPr>
          </a:p>
          <a:p>
            <a:r>
              <a:rPr lang="en-US" sz="1400" b="1" dirty="0" smtClean="0">
                <a:latin typeface="+mj-lt"/>
              </a:rPr>
              <a:t>                </a:t>
            </a:r>
          </a:p>
          <a:p>
            <a:r>
              <a:rPr lang="en-US" sz="1400" b="1" dirty="0">
                <a:latin typeface="+mj-lt"/>
              </a:rPr>
              <a:t> </a:t>
            </a:r>
            <a:r>
              <a:rPr lang="en-US" sz="1400" b="1" dirty="0" smtClean="0">
                <a:latin typeface="+mj-lt"/>
              </a:rPr>
              <a:t>                     p</a:t>
            </a:r>
            <a:r>
              <a:rPr lang="en-US" sz="1400" dirty="0" smtClean="0">
                <a:solidFill>
                  <a:schemeClr val="tx1"/>
                </a:solidFill>
                <a:latin typeface="+mj-lt"/>
                <a:cs typeface="Arial" pitchFamily="34" charset="0"/>
              </a:rPr>
              <a:t>ublic </a:t>
            </a:r>
            <a:r>
              <a:rPr lang="en-US" sz="1400" dirty="0">
                <a:solidFill>
                  <a:schemeClr val="tx1"/>
                </a:solidFill>
                <a:latin typeface="+mj-lt"/>
                <a:cs typeface="Arial" pitchFamily="34" charset="0"/>
              </a:rPr>
              <a:t>void run(){</a:t>
            </a:r>
          </a:p>
          <a:p>
            <a:endParaRPr lang="en-US" sz="1400" dirty="0">
              <a:solidFill>
                <a:schemeClr val="tx1"/>
              </a:solidFill>
              <a:latin typeface="+mj-lt"/>
              <a:cs typeface="Arial" pitchFamily="34" charset="0"/>
            </a:endParaRPr>
          </a:p>
          <a:p>
            <a:r>
              <a:rPr lang="en-US" sz="1400" dirty="0">
                <a:solidFill>
                  <a:schemeClr val="tx1"/>
                </a:solidFill>
                <a:latin typeface="+mj-lt"/>
                <a:cs typeface="Arial" pitchFamily="34" charset="0"/>
              </a:rPr>
              <a:t>	    </a:t>
            </a:r>
            <a:r>
              <a:rPr lang="en-US" sz="1400" dirty="0" smtClean="0">
                <a:solidFill>
                  <a:schemeClr val="tx1"/>
                </a:solidFill>
                <a:latin typeface="+mj-lt"/>
                <a:cs typeface="Arial" pitchFamily="34" charset="0"/>
              </a:rPr>
              <a:t>     </a:t>
            </a:r>
            <a:r>
              <a:rPr lang="en-US" sz="1400" dirty="0" err="1">
                <a:solidFill>
                  <a:schemeClr val="tx1"/>
                </a:solidFill>
                <a:latin typeface="+mj-lt"/>
                <a:cs typeface="Arial" pitchFamily="34" charset="0"/>
              </a:rPr>
              <a:t>System.out.println</a:t>
            </a:r>
            <a:r>
              <a:rPr lang="en-US" sz="1400" dirty="0">
                <a:solidFill>
                  <a:schemeClr val="tx1"/>
                </a:solidFill>
                <a:latin typeface="+mj-lt"/>
                <a:cs typeface="Arial" pitchFamily="34" charset="0"/>
              </a:rPr>
              <a:t>("Hello ..  Welcome to Capgemini.");</a:t>
            </a:r>
          </a:p>
          <a:p>
            <a:endParaRPr lang="en-US" sz="1400" dirty="0">
              <a:solidFill>
                <a:schemeClr val="tx1"/>
              </a:solidFill>
              <a:latin typeface="+mj-lt"/>
              <a:cs typeface="Arial" pitchFamily="34" charset="0"/>
            </a:endParaRPr>
          </a:p>
          <a:p>
            <a:r>
              <a:rPr lang="en-US" sz="1400" dirty="0">
                <a:solidFill>
                  <a:schemeClr val="tx1"/>
                </a:solidFill>
                <a:latin typeface="+mj-lt"/>
                <a:cs typeface="Arial" pitchFamily="34" charset="0"/>
              </a:rPr>
              <a:t>	   </a:t>
            </a:r>
            <a:r>
              <a:rPr lang="en-US" sz="1400" dirty="0" smtClean="0">
                <a:solidFill>
                  <a:schemeClr val="tx1"/>
                </a:solidFill>
                <a:latin typeface="+mj-lt"/>
                <a:cs typeface="Arial" pitchFamily="34" charset="0"/>
              </a:rPr>
              <a:t>    </a:t>
            </a:r>
            <a:r>
              <a:rPr lang="en-US" sz="1400" dirty="0">
                <a:solidFill>
                  <a:schemeClr val="tx1"/>
                </a:solidFill>
                <a:latin typeface="+mj-lt"/>
                <a:cs typeface="Arial" pitchFamily="34" charset="0"/>
              </a:rPr>
              <a:t>}</a:t>
            </a:r>
          </a:p>
          <a:p>
            <a:pPr lvl="1">
              <a:lnSpc>
                <a:spcPct val="135000"/>
              </a:lnSpc>
            </a:pPr>
            <a:r>
              <a:rPr lang="en-US" sz="1400" dirty="0" smtClean="0">
                <a:solidFill>
                  <a:schemeClr val="tx1"/>
                </a:solidFill>
                <a:latin typeface="+mj-lt"/>
                <a:cs typeface="Arial" pitchFamily="34" charset="0"/>
              </a:rPr>
              <a:t>           public static void main(String… </a:t>
            </a:r>
            <a:r>
              <a:rPr lang="en-US" sz="1400" dirty="0" err="1" smtClean="0">
                <a:solidFill>
                  <a:schemeClr val="tx1"/>
                </a:solidFill>
                <a:latin typeface="+mj-lt"/>
                <a:cs typeface="Arial" pitchFamily="34" charset="0"/>
              </a:rPr>
              <a:t>args</a:t>
            </a:r>
            <a:r>
              <a:rPr lang="en-US" sz="1400" dirty="0" smtClean="0">
                <a:solidFill>
                  <a:schemeClr val="tx1"/>
                </a:solidFill>
                <a:latin typeface="+mj-lt"/>
                <a:cs typeface="Arial" pitchFamily="34" charset="0"/>
              </a:rPr>
              <a:t>)  {</a:t>
            </a:r>
          </a:p>
          <a:p>
            <a:pPr lvl="1">
              <a:lnSpc>
                <a:spcPct val="135000"/>
              </a:lnSpc>
            </a:pPr>
            <a:r>
              <a:rPr lang="en-US" sz="1400" dirty="0" smtClean="0">
                <a:solidFill>
                  <a:schemeClr val="tx1"/>
                </a:solidFill>
                <a:latin typeface="+mj-lt"/>
                <a:cs typeface="Arial" pitchFamily="34" charset="0"/>
              </a:rPr>
              <a:t>                 new </a:t>
            </a:r>
            <a:r>
              <a:rPr lang="en-US" sz="1400" dirty="0" err="1" smtClean="0">
                <a:solidFill>
                  <a:schemeClr val="tx1"/>
                </a:solidFill>
                <a:latin typeface="+mj-lt"/>
                <a:cs typeface="Arial" pitchFamily="34" charset="0"/>
              </a:rPr>
              <a:t>HelloThread</a:t>
            </a:r>
            <a:r>
              <a:rPr lang="en-US" sz="1400" dirty="0" smtClean="0">
                <a:solidFill>
                  <a:schemeClr val="tx1"/>
                </a:solidFill>
                <a:latin typeface="+mj-lt"/>
                <a:cs typeface="Arial" pitchFamily="34" charset="0"/>
              </a:rPr>
              <a:t>().start();</a:t>
            </a:r>
            <a:endParaRPr lang="en-US" sz="1400" dirty="0">
              <a:solidFill>
                <a:schemeClr val="tx1"/>
              </a:solidFill>
              <a:latin typeface="+mj-lt"/>
              <a:cs typeface="Arial" pitchFamily="34" charset="0"/>
            </a:endParaRPr>
          </a:p>
          <a:p>
            <a:pPr lvl="1">
              <a:lnSpc>
                <a:spcPct val="135000"/>
              </a:lnSpc>
            </a:pPr>
            <a:r>
              <a:rPr lang="en-US" sz="1400" dirty="0" smtClean="0">
                <a:solidFill>
                  <a:schemeClr val="tx1"/>
                </a:solidFill>
                <a:latin typeface="+mj-lt"/>
                <a:cs typeface="Arial" pitchFamily="34" charset="0"/>
              </a:rPr>
              <a:t>             }</a:t>
            </a:r>
          </a:p>
          <a:p>
            <a:pPr lvl="1">
              <a:lnSpc>
                <a:spcPct val="135000"/>
              </a:lnSpc>
            </a:pPr>
            <a:r>
              <a:rPr lang="en-US" sz="1400" dirty="0">
                <a:solidFill>
                  <a:schemeClr val="tx1"/>
                </a:solidFill>
                <a:latin typeface="+mj-lt"/>
                <a:cs typeface="Arial" pitchFamily="34" charset="0"/>
              </a:rPr>
              <a:t>}</a:t>
            </a:r>
          </a:p>
        </p:txBody>
      </p:sp>
    </p:spTree>
    <p:extLst>
      <p:ext uri="{BB962C8B-B14F-4D97-AF65-F5344CB8AC3E}">
        <p14:creationId xmlns:p14="http://schemas.microsoft.com/office/powerpoint/2010/main" xmlns="" val="21640565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20.1:  Understanding  Threads?</a:t>
            </a:r>
            <a:r>
              <a:rPr lang="en-US" dirty="0" smtClean="0"/>
              <a:t/>
            </a:r>
            <a:br>
              <a:rPr lang="en-US" dirty="0" smtClean="0"/>
            </a:br>
            <a:r>
              <a:rPr lang="en-US" dirty="0" smtClean="0"/>
              <a:t>Creating Thread Implementing Runnable</a:t>
            </a:r>
            <a:endParaRPr lang="en-US" dirty="0"/>
          </a:p>
        </p:txBody>
      </p:sp>
      <p:sp>
        <p:nvSpPr>
          <p:cNvPr id="3" name="Content Placeholder 2"/>
          <p:cNvSpPr>
            <a:spLocks noGrp="1"/>
          </p:cNvSpPr>
          <p:nvPr>
            <p:ph idx="1"/>
          </p:nvPr>
        </p:nvSpPr>
        <p:spPr/>
        <p:txBody>
          <a:bodyPr/>
          <a:lstStyle/>
          <a:p>
            <a:r>
              <a:rPr lang="en-US" dirty="0" smtClean="0">
                <a:latin typeface="Arial (Body)"/>
                <a:cs typeface="Arial" panose="020B0604020202020204" pitchFamily="34" charset="0"/>
              </a:rPr>
              <a:t>Another way to Create Thread</a:t>
            </a:r>
            <a:r>
              <a:rPr lang="en-US" altLang="en-US" dirty="0" smtClean="0">
                <a:latin typeface="Arial (Body)"/>
                <a:cs typeface="Arial" charset="0"/>
              </a:rPr>
              <a:t>.</a:t>
            </a:r>
          </a:p>
          <a:p>
            <a:pPr lvl="1"/>
            <a:r>
              <a:rPr lang="en-US" altLang="en-US" dirty="0" smtClean="0">
                <a:latin typeface="Arial (Body)"/>
                <a:cs typeface="Arial" charset="0"/>
              </a:rPr>
              <a:t>Create a class that implements the runnable interface.</a:t>
            </a:r>
          </a:p>
          <a:p>
            <a:pPr lvl="1"/>
            <a:r>
              <a:rPr lang="en-US" altLang="en-US" dirty="0" smtClean="0">
                <a:latin typeface="Arial (Body)"/>
                <a:cs typeface="Arial" charset="0"/>
              </a:rPr>
              <a:t>Class </a:t>
            </a:r>
            <a:r>
              <a:rPr lang="en-US" altLang="en-US" dirty="0">
                <a:latin typeface="Arial (Body)"/>
                <a:cs typeface="Arial" charset="0"/>
              </a:rPr>
              <a:t>to implement only the run method that constitutes the new thread</a:t>
            </a:r>
            <a:r>
              <a:rPr lang="en-US" altLang="en-US" dirty="0" smtClean="0">
                <a:latin typeface="Arial (Body)"/>
                <a:cs typeface="Arial" charset="0"/>
              </a:rPr>
              <a:t>.</a:t>
            </a:r>
            <a:endParaRPr lang="en-US" altLang="en-US" dirty="0">
              <a:latin typeface="Arial (Body)"/>
              <a:cs typeface="Arial" charset="0"/>
            </a:endParaRPr>
          </a:p>
        </p:txBody>
      </p:sp>
      <p:sp>
        <p:nvSpPr>
          <p:cNvPr id="4" name="AutoShape 4"/>
          <p:cNvSpPr>
            <a:spLocks noChangeArrowheads="1"/>
          </p:cNvSpPr>
          <p:nvPr/>
        </p:nvSpPr>
        <p:spPr bwMode="auto">
          <a:xfrm>
            <a:off x="587698" y="2690287"/>
            <a:ext cx="7272262" cy="2577750"/>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r>
              <a:rPr lang="en-US" sz="1400" b="1" dirty="0" smtClean="0">
                <a:latin typeface="+mj-lt"/>
              </a:rPr>
              <a:t>public </a:t>
            </a:r>
            <a:r>
              <a:rPr lang="en-US" sz="1400" b="1" dirty="0">
                <a:latin typeface="+mj-lt"/>
              </a:rPr>
              <a:t>class </a:t>
            </a:r>
            <a:r>
              <a:rPr lang="en-US" sz="1400" b="1" dirty="0" err="1">
                <a:latin typeface="+mj-lt"/>
              </a:rPr>
              <a:t>HelloRunnable</a:t>
            </a:r>
            <a:r>
              <a:rPr lang="en-US" sz="1400" b="1" dirty="0">
                <a:latin typeface="+mj-lt"/>
              </a:rPr>
              <a:t> implements Runnable {</a:t>
            </a:r>
          </a:p>
          <a:p>
            <a:endParaRPr lang="en-US" sz="1400" dirty="0">
              <a:latin typeface="+mj-lt"/>
            </a:endParaRPr>
          </a:p>
          <a:p>
            <a:r>
              <a:rPr lang="en-US" sz="1400" dirty="0">
                <a:latin typeface="+mj-lt"/>
              </a:rPr>
              <a:t>@Override</a:t>
            </a:r>
          </a:p>
          <a:p>
            <a:r>
              <a:rPr lang="en-US" sz="1400" b="1" dirty="0">
                <a:latin typeface="+mj-lt"/>
              </a:rPr>
              <a:t>public void run() {</a:t>
            </a:r>
          </a:p>
          <a:p>
            <a:r>
              <a:rPr lang="en-US" sz="1400" dirty="0" smtClean="0">
                <a:latin typeface="+mj-lt"/>
              </a:rPr>
              <a:t>  	</a:t>
            </a:r>
            <a:r>
              <a:rPr lang="en-US" sz="1400" dirty="0" err="1" smtClean="0">
                <a:latin typeface="+mj-lt"/>
              </a:rPr>
              <a:t>System.</a:t>
            </a:r>
            <a:r>
              <a:rPr lang="en-US" sz="1400" b="1" i="1" dirty="0" err="1" smtClean="0">
                <a:latin typeface="+mj-lt"/>
              </a:rPr>
              <a:t>out.println</a:t>
            </a:r>
            <a:r>
              <a:rPr lang="en-US" sz="1400" b="1" i="1" dirty="0">
                <a:latin typeface="+mj-lt"/>
              </a:rPr>
              <a:t>("Hello .. Welcome to Capgemini ..");</a:t>
            </a:r>
          </a:p>
          <a:p>
            <a:r>
              <a:rPr lang="en-US" sz="1400" dirty="0" smtClean="0">
                <a:latin typeface="+mj-lt"/>
              </a:rPr>
              <a:t>}</a:t>
            </a:r>
            <a:endParaRPr lang="en-US" sz="1400" dirty="0">
              <a:latin typeface="+mj-lt"/>
            </a:endParaRPr>
          </a:p>
          <a:p>
            <a:endParaRPr lang="en-US" sz="1400" dirty="0">
              <a:latin typeface="+mj-lt"/>
            </a:endParaRPr>
          </a:p>
          <a:p>
            <a:r>
              <a:rPr lang="en-US" sz="1400" dirty="0" smtClean="0">
                <a:latin typeface="+mj-lt"/>
              </a:rPr>
              <a:t>}</a:t>
            </a:r>
            <a:r>
              <a:rPr lang="en-US" sz="1400" dirty="0" smtClean="0">
                <a:solidFill>
                  <a:schemeClr val="tx1"/>
                </a:solidFill>
                <a:latin typeface="+mj-lt"/>
                <a:cs typeface="Arial" pitchFamily="34" charset="0"/>
              </a:rPr>
              <a:t>}</a:t>
            </a:r>
          </a:p>
          <a:p>
            <a:endParaRPr lang="en-US" sz="1400" dirty="0">
              <a:solidFill>
                <a:schemeClr val="tx1"/>
              </a:solidFill>
              <a:latin typeface="+mj-lt"/>
              <a:cs typeface="Arial" pitchFamily="34" charset="0"/>
            </a:endParaRPr>
          </a:p>
        </p:txBody>
      </p:sp>
      <p:sp>
        <p:nvSpPr>
          <p:cNvPr id="5" name="AutoShape 4"/>
          <p:cNvSpPr>
            <a:spLocks noChangeArrowheads="1"/>
          </p:cNvSpPr>
          <p:nvPr/>
        </p:nvSpPr>
        <p:spPr bwMode="auto">
          <a:xfrm>
            <a:off x="2892748" y="4678288"/>
            <a:ext cx="4668112" cy="1504148"/>
          </a:xfrm>
          <a:prstGeom prst="roundRect">
            <a:avLst>
              <a:gd name="adj" fmla="val 16667"/>
            </a:avLst>
          </a:prstGeom>
          <a:ln>
            <a:headEnd/>
            <a:tailEnd/>
          </a:ln>
        </p:spPr>
        <p:style>
          <a:lnRef idx="2">
            <a:schemeClr val="dk1"/>
          </a:lnRef>
          <a:fillRef idx="1">
            <a:schemeClr val="lt1"/>
          </a:fillRef>
          <a:effectRef idx="0">
            <a:schemeClr val="dk1"/>
          </a:effectRef>
          <a:fontRef idx="minor">
            <a:schemeClr val="dk1"/>
          </a:fontRef>
        </p:style>
        <p:txBody>
          <a:bodyPr anchor="ctr"/>
          <a:lstStyle/>
          <a:p>
            <a:endParaRPr lang="en-US" sz="1200" dirty="0">
              <a:solidFill>
                <a:schemeClr val="tx1"/>
              </a:solidFill>
              <a:latin typeface="+mj-lt"/>
              <a:cs typeface="Arial" pitchFamily="34" charset="0"/>
            </a:endParaRPr>
          </a:p>
          <a:p>
            <a:r>
              <a:rPr lang="en-US" sz="1200" dirty="0">
                <a:solidFill>
                  <a:schemeClr val="tx1"/>
                </a:solidFill>
                <a:latin typeface="+mj-lt"/>
                <a:cs typeface="Arial" pitchFamily="34" charset="0"/>
              </a:rPr>
              <a:t>p</a:t>
            </a:r>
            <a:r>
              <a:rPr lang="en-US" sz="1200" dirty="0" smtClean="0">
                <a:solidFill>
                  <a:schemeClr val="tx1"/>
                </a:solidFill>
                <a:latin typeface="+mj-lt"/>
                <a:cs typeface="Arial" pitchFamily="34" charset="0"/>
              </a:rPr>
              <a:t>ublic static void main(String… </a:t>
            </a:r>
            <a:r>
              <a:rPr lang="en-US" sz="1200" dirty="0" err="1" smtClean="0">
                <a:solidFill>
                  <a:schemeClr val="tx1"/>
                </a:solidFill>
                <a:latin typeface="+mj-lt"/>
                <a:cs typeface="Arial" pitchFamily="34" charset="0"/>
              </a:rPr>
              <a:t>args</a:t>
            </a:r>
            <a:r>
              <a:rPr lang="en-US" sz="1200" dirty="0" smtClean="0">
                <a:solidFill>
                  <a:schemeClr val="tx1"/>
                </a:solidFill>
                <a:latin typeface="+mj-lt"/>
                <a:cs typeface="Arial" pitchFamily="34" charset="0"/>
              </a:rPr>
              <a:t>){</a:t>
            </a:r>
            <a:endParaRPr lang="en-US" sz="1200" dirty="0">
              <a:solidFill>
                <a:schemeClr val="tx1"/>
              </a:solidFill>
              <a:latin typeface="+mj-lt"/>
              <a:cs typeface="Arial" pitchFamily="34" charset="0"/>
            </a:endParaRPr>
          </a:p>
          <a:p>
            <a:r>
              <a:rPr lang="en-US" sz="1200" dirty="0">
                <a:solidFill>
                  <a:schemeClr val="tx1"/>
                </a:solidFill>
                <a:latin typeface="+mj-lt"/>
                <a:cs typeface="Arial" pitchFamily="34" charset="0"/>
              </a:rPr>
              <a:t>   </a:t>
            </a:r>
            <a:r>
              <a:rPr lang="en-US" sz="1200" dirty="0" smtClean="0">
                <a:solidFill>
                  <a:schemeClr val="tx1"/>
                </a:solidFill>
                <a:latin typeface="+mj-lt"/>
                <a:cs typeface="Arial" pitchFamily="34" charset="0"/>
              </a:rPr>
              <a:t>     </a:t>
            </a:r>
          </a:p>
          <a:p>
            <a:r>
              <a:rPr lang="en-US" sz="1200" dirty="0" smtClean="0">
                <a:solidFill>
                  <a:schemeClr val="tx1"/>
                </a:solidFill>
                <a:latin typeface="+mj-lt"/>
                <a:cs typeface="Arial" pitchFamily="34" charset="0"/>
              </a:rPr>
              <a:t>           </a:t>
            </a:r>
            <a:r>
              <a:rPr lang="en-US" sz="1200" dirty="0" err="1" smtClean="0">
                <a:solidFill>
                  <a:schemeClr val="tx1"/>
                </a:solidFill>
                <a:latin typeface="+mj-lt"/>
                <a:cs typeface="Arial" pitchFamily="34" charset="0"/>
              </a:rPr>
              <a:t>HelloRunnable</a:t>
            </a:r>
            <a:r>
              <a:rPr lang="en-US" sz="1200" dirty="0" smtClean="0">
                <a:solidFill>
                  <a:schemeClr val="tx1"/>
                </a:solidFill>
                <a:latin typeface="+mj-lt"/>
                <a:cs typeface="Arial" pitchFamily="34" charset="0"/>
              </a:rPr>
              <a:t>   </a:t>
            </a:r>
            <a:r>
              <a:rPr lang="en-US" sz="1200" dirty="0">
                <a:solidFill>
                  <a:schemeClr val="tx1"/>
                </a:solidFill>
                <a:latin typeface="+mj-lt"/>
                <a:cs typeface="Arial" pitchFamily="34" charset="0"/>
              </a:rPr>
              <a:t>hello = </a:t>
            </a:r>
            <a:r>
              <a:rPr lang="en-US" sz="1200" b="1" dirty="0">
                <a:solidFill>
                  <a:schemeClr val="tx1"/>
                </a:solidFill>
                <a:latin typeface="+mj-lt"/>
                <a:cs typeface="Arial" pitchFamily="34" charset="0"/>
              </a:rPr>
              <a:t>new </a:t>
            </a:r>
            <a:r>
              <a:rPr lang="en-US" sz="1200" b="1" dirty="0" err="1">
                <a:solidFill>
                  <a:schemeClr val="tx1"/>
                </a:solidFill>
                <a:latin typeface="+mj-lt"/>
                <a:cs typeface="Arial" pitchFamily="34" charset="0"/>
              </a:rPr>
              <a:t>HelloRunnable</a:t>
            </a:r>
            <a:r>
              <a:rPr lang="en-US" sz="1200" b="1" dirty="0">
                <a:solidFill>
                  <a:schemeClr val="tx1"/>
                </a:solidFill>
                <a:latin typeface="+mj-lt"/>
                <a:cs typeface="Arial" pitchFamily="34" charset="0"/>
              </a:rPr>
              <a:t>();</a:t>
            </a:r>
          </a:p>
          <a:p>
            <a:r>
              <a:rPr lang="en-US" sz="1200" dirty="0" smtClean="0">
                <a:solidFill>
                  <a:schemeClr val="tx1"/>
                </a:solidFill>
                <a:latin typeface="+mj-lt"/>
                <a:cs typeface="Arial" pitchFamily="34" charset="0"/>
              </a:rPr>
              <a:t>            Thread     </a:t>
            </a:r>
            <a:r>
              <a:rPr lang="en-US" sz="1200" dirty="0" err="1" smtClean="0">
                <a:solidFill>
                  <a:schemeClr val="tx1"/>
                </a:solidFill>
                <a:latin typeface="+mj-lt"/>
                <a:cs typeface="Arial" pitchFamily="34" charset="0"/>
              </a:rPr>
              <a:t>helloThread</a:t>
            </a:r>
            <a:r>
              <a:rPr lang="en-US" sz="1200" dirty="0" smtClean="0">
                <a:solidFill>
                  <a:schemeClr val="tx1"/>
                </a:solidFill>
                <a:latin typeface="+mj-lt"/>
                <a:cs typeface="Arial" pitchFamily="34" charset="0"/>
              </a:rPr>
              <a:t> </a:t>
            </a:r>
            <a:r>
              <a:rPr lang="en-US" sz="1200" dirty="0">
                <a:solidFill>
                  <a:schemeClr val="tx1"/>
                </a:solidFill>
                <a:latin typeface="+mj-lt"/>
                <a:cs typeface="Arial" pitchFamily="34" charset="0"/>
              </a:rPr>
              <a:t>= </a:t>
            </a:r>
            <a:r>
              <a:rPr lang="en-US" sz="1200" b="1" dirty="0">
                <a:solidFill>
                  <a:schemeClr val="tx1"/>
                </a:solidFill>
                <a:latin typeface="+mj-lt"/>
                <a:cs typeface="Arial" pitchFamily="34" charset="0"/>
              </a:rPr>
              <a:t>new Thread(hello);</a:t>
            </a:r>
          </a:p>
          <a:p>
            <a:r>
              <a:rPr lang="en-US" sz="1200" dirty="0" smtClean="0">
                <a:solidFill>
                  <a:schemeClr val="tx1"/>
                </a:solidFill>
                <a:latin typeface="+mj-lt"/>
                <a:cs typeface="Arial" pitchFamily="34" charset="0"/>
              </a:rPr>
              <a:t>           </a:t>
            </a:r>
          </a:p>
          <a:p>
            <a:r>
              <a:rPr lang="en-US" sz="1200" dirty="0" smtClean="0">
                <a:solidFill>
                  <a:schemeClr val="tx1"/>
                </a:solidFill>
                <a:latin typeface="+mj-lt"/>
                <a:cs typeface="Arial" pitchFamily="34" charset="0"/>
              </a:rPr>
              <a:t>             </a:t>
            </a:r>
            <a:r>
              <a:rPr lang="en-US" sz="1200" dirty="0" err="1" smtClean="0">
                <a:solidFill>
                  <a:schemeClr val="tx1"/>
                </a:solidFill>
                <a:latin typeface="+mj-lt"/>
                <a:cs typeface="Arial" pitchFamily="34" charset="0"/>
              </a:rPr>
              <a:t>helloThread</a:t>
            </a:r>
            <a:r>
              <a:rPr lang="en-US" sz="1200" dirty="0" smtClean="0">
                <a:solidFill>
                  <a:schemeClr val="tx1"/>
                </a:solidFill>
                <a:latin typeface="+mj-lt"/>
                <a:cs typeface="Arial" pitchFamily="34" charset="0"/>
              </a:rPr>
              <a:t> . start</a:t>
            </a:r>
            <a:r>
              <a:rPr lang="en-US" sz="1200" dirty="0">
                <a:solidFill>
                  <a:schemeClr val="tx1"/>
                </a:solidFill>
                <a:latin typeface="+mj-lt"/>
                <a:cs typeface="Arial" pitchFamily="34" charset="0"/>
              </a:rPr>
              <a:t>();</a:t>
            </a:r>
          </a:p>
          <a:p>
            <a:r>
              <a:rPr lang="en-US" sz="1200" dirty="0" smtClean="0">
                <a:solidFill>
                  <a:schemeClr val="tx1"/>
                </a:solidFill>
                <a:latin typeface="+mj-lt"/>
                <a:cs typeface="Arial" pitchFamily="34" charset="0"/>
              </a:rPr>
              <a:t>}</a:t>
            </a:r>
            <a:endParaRPr lang="en-US" sz="1200" dirty="0">
              <a:solidFill>
                <a:schemeClr val="tx1"/>
              </a:solidFill>
              <a:latin typeface="+mj-lt"/>
              <a:cs typeface="Arial" pitchFamily="34" charset="0"/>
            </a:endParaRPr>
          </a:p>
          <a:p>
            <a:endParaRPr lang="en-US" sz="1200" dirty="0">
              <a:solidFill>
                <a:schemeClr val="tx1"/>
              </a:solidFill>
              <a:latin typeface="+mj-lt"/>
              <a:cs typeface="Arial" pitchFamily="34" charset="0"/>
            </a:endParaRPr>
          </a:p>
        </p:txBody>
      </p:sp>
    </p:spTree>
    <p:extLst>
      <p:ext uri="{BB962C8B-B14F-4D97-AF65-F5344CB8AC3E}">
        <p14:creationId xmlns:p14="http://schemas.microsoft.com/office/powerpoint/2010/main" xmlns="" val="4776887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20.1:  Understanding  Threads?</a:t>
            </a:r>
            <a:r>
              <a:rPr lang="en-US" dirty="0" smtClean="0"/>
              <a:t/>
            </a:r>
            <a:br>
              <a:rPr lang="en-US" dirty="0" smtClean="0"/>
            </a:br>
            <a:r>
              <a:rPr lang="en-US" dirty="0" smtClean="0"/>
              <a:t>Thread Extending Vs. Implementing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921441220"/>
              </p:ext>
            </p:extLst>
          </p:nvPr>
        </p:nvGraphicFramePr>
        <p:xfrm>
          <a:off x="503170" y="1659201"/>
          <a:ext cx="7276057" cy="4441353"/>
        </p:xfrm>
        <a:graphic>
          <a:graphicData uri="http://schemas.openxmlformats.org/drawingml/2006/table">
            <a:tbl>
              <a:tblPr firstRow="1" bandRow="1">
                <a:tableStyleId>{00A15C55-8517-42AA-B614-E9B94910E393}</a:tableStyleId>
              </a:tblPr>
              <a:tblGrid>
                <a:gridCol w="3276273"/>
                <a:gridCol w="3999784"/>
              </a:tblGrid>
              <a:tr h="586594">
                <a:tc>
                  <a:txBody>
                    <a:bodyPr/>
                    <a:lstStyle/>
                    <a:p>
                      <a:pPr algn="ctr"/>
                      <a:r>
                        <a:rPr lang="en-US" sz="1400" dirty="0" smtClean="0">
                          <a:latin typeface="+mj-lt"/>
                          <a:cs typeface="Times New Roman" pitchFamily="18" charset="0"/>
                        </a:rPr>
                        <a:t> Extending Thread</a:t>
                      </a:r>
                      <a:endParaRPr lang="en-US" sz="1400" dirty="0">
                        <a:latin typeface="+mj-lt"/>
                        <a:cs typeface="Times New Roman" pitchFamily="18" charset="0"/>
                      </a:endParaRPr>
                    </a:p>
                  </a:txBody>
                  <a:tcPr marL="106213" marR="106213" marT="45723" marB="45723">
                    <a:solidFill>
                      <a:schemeClr val="bg1">
                        <a:lumMod val="50000"/>
                      </a:schemeClr>
                    </a:solidFill>
                  </a:tcPr>
                </a:tc>
                <a:tc>
                  <a:txBody>
                    <a:bodyPr/>
                    <a:lstStyle/>
                    <a:p>
                      <a:pPr algn="ctr"/>
                      <a:r>
                        <a:rPr lang="en-US" sz="1400" dirty="0" smtClean="0">
                          <a:latin typeface="+mj-lt"/>
                          <a:cs typeface="Times New Roman" pitchFamily="18" charset="0"/>
                        </a:rPr>
                        <a:t>Implementing </a:t>
                      </a:r>
                      <a:r>
                        <a:rPr lang="en-US" sz="1400" dirty="0" err="1" smtClean="0">
                          <a:latin typeface="+mj-lt"/>
                          <a:cs typeface="Times New Roman" pitchFamily="18" charset="0"/>
                        </a:rPr>
                        <a:t>Runnable</a:t>
                      </a:r>
                      <a:endParaRPr lang="en-US" sz="1400" dirty="0">
                        <a:latin typeface="+mj-lt"/>
                        <a:cs typeface="Times New Roman" pitchFamily="18" charset="0"/>
                      </a:endParaRPr>
                    </a:p>
                  </a:txBody>
                  <a:tcPr marL="106213" marR="106213" marT="45723" marB="45723">
                    <a:solidFill>
                      <a:schemeClr val="bg1">
                        <a:lumMod val="50000"/>
                      </a:schemeClr>
                    </a:solidFill>
                  </a:tcPr>
                </a:tc>
              </a:tr>
              <a:tr h="642460">
                <a:tc>
                  <a:txBody>
                    <a:bodyPr/>
                    <a:lstStyle/>
                    <a:p>
                      <a:pPr algn="just"/>
                      <a:r>
                        <a:rPr lang="en-US" sz="1400" dirty="0" smtClean="0">
                          <a:latin typeface="+mj-lt"/>
                          <a:cs typeface="Times New Roman" pitchFamily="18" charset="0"/>
                        </a:rPr>
                        <a:t>Basically for creating worker thread.</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Basically for defining task.</a:t>
                      </a:r>
                      <a:endParaRPr lang="en-US" sz="1400" dirty="0">
                        <a:latin typeface="+mj-lt"/>
                        <a:cs typeface="Times New Roman" pitchFamily="18" charset="0"/>
                      </a:endParaRPr>
                    </a:p>
                  </a:txBody>
                  <a:tcPr marL="106213" marR="106213" marT="45723" marB="45723"/>
                </a:tc>
              </a:tr>
              <a:tr h="642460">
                <a:tc>
                  <a:txBody>
                    <a:bodyPr/>
                    <a:lstStyle/>
                    <a:p>
                      <a:pPr algn="just"/>
                      <a:r>
                        <a:rPr lang="en-US" sz="1400" dirty="0" smtClean="0">
                          <a:latin typeface="+mj-lt"/>
                          <a:cs typeface="Times New Roman" pitchFamily="18" charset="0"/>
                        </a:rPr>
                        <a:t>It</a:t>
                      </a:r>
                      <a:r>
                        <a:rPr lang="en-US" sz="1400" baseline="0" dirty="0" smtClean="0">
                          <a:latin typeface="+mj-lt"/>
                          <a:cs typeface="Times New Roman" pitchFamily="18" charset="0"/>
                        </a:rPr>
                        <a:t> itself is a Thread. </a:t>
                      </a:r>
                      <a:r>
                        <a:rPr lang="en-US" sz="1400" dirty="0" smtClean="0">
                          <a:latin typeface="+mj-lt"/>
                          <a:cs typeface="Times New Roman" pitchFamily="18" charset="0"/>
                        </a:rPr>
                        <a:t>Simple syntax</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Thread object wraps </a:t>
                      </a:r>
                      <a:r>
                        <a:rPr lang="en-US" sz="1400" dirty="0" err="1" smtClean="0">
                          <a:latin typeface="+mj-lt"/>
                          <a:cs typeface="Times New Roman" pitchFamily="18" charset="0"/>
                        </a:rPr>
                        <a:t>Runnable</a:t>
                      </a:r>
                      <a:r>
                        <a:rPr lang="en-US" sz="1400" dirty="0" smtClean="0">
                          <a:latin typeface="+mj-lt"/>
                          <a:cs typeface="Times New Roman" pitchFamily="18" charset="0"/>
                        </a:rPr>
                        <a:t> object</a:t>
                      </a:r>
                      <a:endParaRPr lang="en-US" sz="1400" dirty="0">
                        <a:latin typeface="+mj-lt"/>
                        <a:cs typeface="Times New Roman" pitchFamily="18" charset="0"/>
                      </a:endParaRPr>
                    </a:p>
                  </a:txBody>
                  <a:tcPr marL="106213" marR="106213" marT="45723" marB="45723"/>
                </a:tc>
              </a:tr>
              <a:tr h="363129">
                <a:tc>
                  <a:txBody>
                    <a:bodyPr/>
                    <a:lstStyle/>
                    <a:p>
                      <a:pPr algn="just"/>
                      <a:r>
                        <a:rPr lang="en-US" sz="1400" dirty="0" smtClean="0">
                          <a:latin typeface="+mj-lt"/>
                          <a:cs typeface="Times New Roman" pitchFamily="18" charset="0"/>
                        </a:rPr>
                        <a:t>Can not extend any other class</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Can extend any other class</a:t>
                      </a:r>
                      <a:endParaRPr lang="en-US" sz="1400" dirty="0">
                        <a:latin typeface="+mj-lt"/>
                        <a:cs typeface="Times New Roman" pitchFamily="18" charset="0"/>
                      </a:endParaRPr>
                    </a:p>
                  </a:txBody>
                  <a:tcPr marL="106213" marR="106213" marT="45723" marB="45723"/>
                </a:tc>
              </a:tr>
              <a:tr h="642460">
                <a:tc>
                  <a:txBody>
                    <a:bodyPr/>
                    <a:lstStyle/>
                    <a:p>
                      <a:pPr algn="just"/>
                      <a:r>
                        <a:rPr lang="en-US" sz="1400" dirty="0" smtClean="0">
                          <a:latin typeface="+mj-lt"/>
                          <a:cs typeface="Times New Roman" pitchFamily="18" charset="0"/>
                        </a:rPr>
                        <a:t>A functionality</a:t>
                      </a:r>
                      <a:r>
                        <a:rPr lang="en-US" sz="1400" baseline="0" dirty="0" smtClean="0">
                          <a:latin typeface="+mj-lt"/>
                          <a:cs typeface="Times New Roman" pitchFamily="18" charset="0"/>
                        </a:rPr>
                        <a:t> is executed only once on a thread instance.</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A functionality</a:t>
                      </a:r>
                      <a:r>
                        <a:rPr lang="en-US" sz="1400" baseline="0" dirty="0" smtClean="0">
                          <a:latin typeface="+mj-lt"/>
                          <a:cs typeface="Times New Roman" pitchFamily="18" charset="0"/>
                        </a:rPr>
                        <a:t> can be executed more than once by multiple worker threads.  </a:t>
                      </a:r>
                      <a:endParaRPr lang="en-US" sz="1400" dirty="0">
                        <a:latin typeface="+mj-lt"/>
                        <a:cs typeface="Times New Roman" pitchFamily="18" charset="0"/>
                      </a:endParaRPr>
                    </a:p>
                  </a:txBody>
                  <a:tcPr marL="106213" marR="106213" marT="45723" marB="45723"/>
                </a:tc>
              </a:tr>
              <a:tr h="642460">
                <a:tc>
                  <a:txBody>
                    <a:bodyPr/>
                    <a:lstStyle/>
                    <a:p>
                      <a:pPr algn="just"/>
                      <a:r>
                        <a:rPr lang="en-US" sz="1400" dirty="0" smtClean="0">
                          <a:latin typeface="+mj-lt"/>
                          <a:cs typeface="Times New Roman" pitchFamily="18" charset="0"/>
                        </a:rPr>
                        <a:t>Concurrent framework does have limited support.</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Concurrent</a:t>
                      </a:r>
                      <a:r>
                        <a:rPr lang="en-US" sz="1400" baseline="0" dirty="0" smtClean="0">
                          <a:latin typeface="+mj-lt"/>
                          <a:cs typeface="Times New Roman" pitchFamily="18" charset="0"/>
                        </a:rPr>
                        <a:t> framework provide extensive support.</a:t>
                      </a:r>
                      <a:endParaRPr lang="en-US" sz="1400" dirty="0">
                        <a:latin typeface="+mj-lt"/>
                        <a:cs typeface="Times New Roman" pitchFamily="18" charset="0"/>
                      </a:endParaRPr>
                    </a:p>
                  </a:txBody>
                  <a:tcPr marL="106213" marR="106213" marT="45723" marB="45723"/>
                </a:tc>
              </a:tr>
              <a:tr h="921790">
                <a:tc>
                  <a:txBody>
                    <a:bodyPr/>
                    <a:lstStyle/>
                    <a:p>
                      <a:pPr algn="just"/>
                      <a:r>
                        <a:rPr lang="en-US" sz="1400" dirty="0" smtClean="0">
                          <a:latin typeface="+mj-lt"/>
                          <a:cs typeface="Times New Roman" pitchFamily="18" charset="0"/>
                        </a:rPr>
                        <a:t>Thread’s life cycle methods like interrupt() can be overridden.</a:t>
                      </a:r>
                      <a:endParaRPr lang="en-US" sz="1400" dirty="0">
                        <a:latin typeface="+mj-lt"/>
                        <a:cs typeface="Times New Roman" pitchFamily="18" charset="0"/>
                      </a:endParaRPr>
                    </a:p>
                  </a:txBody>
                  <a:tcPr marL="106213" marR="106213" marT="45723" marB="45723"/>
                </a:tc>
                <a:tc>
                  <a:txBody>
                    <a:bodyPr/>
                    <a:lstStyle/>
                    <a:p>
                      <a:pPr algn="just"/>
                      <a:r>
                        <a:rPr lang="en-US" sz="1400" dirty="0" smtClean="0">
                          <a:latin typeface="+mj-lt"/>
                          <a:cs typeface="Times New Roman" pitchFamily="18" charset="0"/>
                        </a:rPr>
                        <a:t>Only run() method can be overridden.</a:t>
                      </a:r>
                      <a:endParaRPr lang="en-US" sz="1400" dirty="0">
                        <a:latin typeface="+mj-lt"/>
                        <a:cs typeface="Times New Roman" pitchFamily="18" charset="0"/>
                      </a:endParaRPr>
                    </a:p>
                  </a:txBody>
                  <a:tcPr marL="106213" marR="106213" marT="45723" marB="45723"/>
                </a:tc>
              </a:tr>
            </a:tbl>
          </a:graphicData>
        </a:graphic>
      </p:graphicFrame>
    </p:spTree>
    <p:extLst>
      <p:ext uri="{BB962C8B-B14F-4D97-AF65-F5344CB8AC3E}">
        <p14:creationId xmlns:p14="http://schemas.microsoft.com/office/powerpoint/2010/main" xmlns="" val="924364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smtClean="0"/>
              <a:t>20.1</a:t>
            </a:r>
            <a:r>
              <a:rPr lang="en-US" sz="1300" dirty="0"/>
              <a:t>:  Understanding  Threads?</a:t>
            </a:r>
            <a:r>
              <a:rPr lang="en-US" dirty="0" smtClean="0"/>
              <a:t/>
            </a:r>
            <a:br>
              <a:rPr lang="en-US" dirty="0" smtClean="0"/>
            </a:br>
            <a:r>
              <a:rPr lang="en-US" dirty="0" smtClean="0"/>
              <a:t>Thread</a:t>
            </a:r>
            <a:endParaRPr lang="en-US" dirty="0"/>
          </a:p>
        </p:txBody>
      </p:sp>
      <p:sp>
        <p:nvSpPr>
          <p:cNvPr id="5" name="Content Placeholder 4"/>
          <p:cNvSpPr>
            <a:spLocks noGrp="1"/>
          </p:cNvSpPr>
          <p:nvPr>
            <p:ph idx="1"/>
          </p:nvPr>
        </p:nvSpPr>
        <p:spPr>
          <a:xfrm>
            <a:off x="298516" y="1494766"/>
            <a:ext cx="8845484" cy="4851443"/>
          </a:xfrm>
        </p:spPr>
        <p:txBody>
          <a:bodyPr/>
          <a:lstStyle/>
          <a:p>
            <a:r>
              <a:rPr lang="en-US" sz="2000" dirty="0"/>
              <a:t>Thread API :</a:t>
            </a:r>
          </a:p>
          <a:p>
            <a:pPr lvl="1"/>
            <a:r>
              <a:rPr lang="en-US" sz="1600" dirty="0"/>
              <a:t>Thread Class</a:t>
            </a:r>
          </a:p>
          <a:p>
            <a:pPr lvl="2"/>
            <a:r>
              <a:rPr lang="en-US" dirty="0"/>
              <a:t>run() </a:t>
            </a:r>
          </a:p>
          <a:p>
            <a:pPr lvl="2"/>
            <a:r>
              <a:rPr lang="en-US" dirty="0"/>
              <a:t>start()  ---    It causes this thread to begin execution; the JVM  calls the run method of this thread.</a:t>
            </a:r>
          </a:p>
          <a:p>
            <a:pPr lvl="2"/>
            <a:r>
              <a:rPr lang="en-US" dirty="0"/>
              <a:t>sleep()</a:t>
            </a:r>
          </a:p>
          <a:p>
            <a:pPr lvl="2"/>
            <a:r>
              <a:rPr lang="en-US" dirty="0"/>
              <a:t>join()</a:t>
            </a:r>
          </a:p>
          <a:p>
            <a:pPr lvl="2"/>
            <a:r>
              <a:rPr lang="en-US" dirty="0"/>
              <a:t>stop() ( It is a Deprecated method . ). </a:t>
            </a:r>
          </a:p>
          <a:p>
            <a:pPr lvl="2"/>
            <a:r>
              <a:rPr lang="en-US" dirty="0" err="1"/>
              <a:t>getName</a:t>
            </a:r>
            <a:r>
              <a:rPr lang="en-US" dirty="0"/>
              <a:t>() -   It returns the Thread name in string format.</a:t>
            </a:r>
          </a:p>
          <a:p>
            <a:pPr lvl="2"/>
            <a:r>
              <a:rPr lang="en-US" dirty="0" err="1"/>
              <a:t>isAlive</a:t>
            </a:r>
            <a:r>
              <a:rPr lang="en-US" dirty="0"/>
              <a:t>()  -- It returns thread is alive or not .</a:t>
            </a:r>
          </a:p>
          <a:p>
            <a:pPr lvl="2"/>
            <a:r>
              <a:rPr lang="en-US" dirty="0" err="1"/>
              <a:t>currentThread</a:t>
            </a:r>
            <a:r>
              <a:rPr lang="en-US" dirty="0"/>
              <a:t>()  -  It returns the current Thread object</a:t>
            </a:r>
            <a:r>
              <a:rPr lang="en-US" dirty="0" smtClean="0"/>
              <a:t>.</a:t>
            </a:r>
            <a:endParaRPr lang="en-US" dirty="0"/>
          </a:p>
          <a:p>
            <a:r>
              <a:rPr lang="en-US" sz="2000" dirty="0"/>
              <a:t>Runnable  Interface</a:t>
            </a:r>
          </a:p>
          <a:p>
            <a:pPr lvl="1"/>
            <a:r>
              <a:rPr lang="en-US" sz="1600" dirty="0"/>
              <a:t>run()   -     This is the only one method available in this interface .</a:t>
            </a:r>
          </a:p>
          <a:p>
            <a:pPr lvl="1"/>
            <a:r>
              <a:rPr lang="en-US" sz="1600" dirty="0"/>
              <a:t>Common Exceptions in Threads:</a:t>
            </a:r>
          </a:p>
          <a:p>
            <a:pPr lvl="1"/>
            <a:r>
              <a:rPr lang="en-US" sz="1600" dirty="0" err="1" smtClean="0"/>
              <a:t>InterruptedException</a:t>
            </a:r>
            <a:r>
              <a:rPr lang="en-US" sz="1600" dirty="0" smtClean="0"/>
              <a:t> </a:t>
            </a:r>
            <a:r>
              <a:rPr lang="en-US" sz="1600" dirty="0"/>
              <a:t>. </a:t>
            </a:r>
          </a:p>
          <a:p>
            <a:pPr lvl="1"/>
            <a:r>
              <a:rPr lang="en-US" sz="1600" dirty="0" err="1"/>
              <a:t>IllegalStateException</a:t>
            </a:r>
            <a:r>
              <a:rPr lang="en-US" sz="1600" dirty="0"/>
              <a:t> </a:t>
            </a:r>
          </a:p>
          <a:p>
            <a:endParaRPr lang="en-US" dirty="0"/>
          </a:p>
        </p:txBody>
      </p:sp>
    </p:spTree>
    <p:extLst>
      <p:ext uri="{BB962C8B-B14F-4D97-AF65-F5344CB8AC3E}">
        <p14:creationId xmlns:p14="http://schemas.microsoft.com/office/powerpoint/2010/main" xmlns="" val="40095578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20.1:  Understanding  Threads?</a:t>
            </a:r>
            <a:r>
              <a:rPr lang="en-US" dirty="0" smtClean="0"/>
              <a:t/>
            </a:r>
            <a:br>
              <a:rPr lang="en-US" dirty="0" smtClean="0"/>
            </a:br>
            <a:r>
              <a:rPr lang="en-US" dirty="0" smtClean="0"/>
              <a:t>Demo</a:t>
            </a:r>
            <a:endParaRPr lang="en-US" dirty="0"/>
          </a:p>
        </p:txBody>
      </p:sp>
      <p:sp>
        <p:nvSpPr>
          <p:cNvPr id="3" name="Content Placeholder 2"/>
          <p:cNvSpPr>
            <a:spLocks noGrp="1"/>
          </p:cNvSpPr>
          <p:nvPr>
            <p:ph idx="1"/>
          </p:nvPr>
        </p:nvSpPr>
        <p:spPr/>
        <p:txBody>
          <a:bodyPr/>
          <a:lstStyle/>
          <a:p>
            <a:r>
              <a:rPr lang="en-US" dirty="0" smtClean="0"/>
              <a:t>HelloThread.java</a:t>
            </a:r>
          </a:p>
          <a:p>
            <a:r>
              <a:rPr lang="en-US" dirty="0" smtClean="0"/>
              <a:t>HelloRunnable.java</a:t>
            </a:r>
            <a:endParaRPr lang="en-US" dirty="0"/>
          </a:p>
        </p:txBody>
      </p:sp>
    </p:spTree>
    <p:extLst>
      <p:ext uri="{BB962C8B-B14F-4D97-AF65-F5344CB8AC3E}">
        <p14:creationId xmlns:p14="http://schemas.microsoft.com/office/powerpoint/2010/main" xmlns="" val="8166679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p:cNvSpPr>
          <p:nvPr>
            <p:ph type="title"/>
          </p:nvPr>
        </p:nvSpPr>
        <p:spPr/>
        <p:txBody>
          <a:bodyPr/>
          <a:lstStyle/>
          <a:p>
            <a:r>
              <a:rPr lang="en-US" sz="1200" dirty="0" smtClean="0"/>
              <a:t>20.2</a:t>
            </a:r>
            <a:r>
              <a:rPr lang="en-US" sz="1200" dirty="0"/>
              <a:t>:  </a:t>
            </a:r>
            <a:r>
              <a:rPr lang="en-US" sz="1200" dirty="0" smtClean="0"/>
              <a:t>Thread Life cycle  </a:t>
            </a:r>
            <a:r>
              <a:rPr lang="en-US" sz="1200" dirty="0"/>
              <a:t/>
            </a:r>
            <a:br>
              <a:rPr lang="en-US" sz="1200" dirty="0"/>
            </a:br>
            <a:r>
              <a:rPr lang="en-US" dirty="0" smtClean="0"/>
              <a:t>Thread Life Cycle</a:t>
            </a:r>
            <a:endParaRPr lang="en-US" dirty="0"/>
          </a:p>
        </p:txBody>
      </p:sp>
      <p:sp>
        <p:nvSpPr>
          <p:cNvPr id="4" name="Rectangle 2"/>
          <p:cNvSpPr>
            <a:spLocks noGrp="1" noChangeArrowheads="1"/>
          </p:cNvSpPr>
          <p:nvPr>
            <p:ph idx="1"/>
          </p:nvPr>
        </p:nvSpPr>
        <p:spPr/>
        <p:txBody>
          <a:bodyPr/>
          <a:lstStyle/>
          <a:p>
            <a:pPr eaLnBrk="1" hangingPunct="1">
              <a:spcBef>
                <a:spcPts val="500"/>
              </a:spcBef>
              <a:buFont typeface="Arial Unicode MS" pitchFamily="34" charset="-128"/>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en-US" smtClean="0">
                <a:latin typeface="Times New Roman" pitchFamily="18" charset="0"/>
                <a:cs typeface="Times New Roman" pitchFamily="18" charset="0"/>
              </a:rPr>
              <a:t>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33400" y="762000"/>
            <a:ext cx="8077200" cy="533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 name="Picture 18" descr="http://www.tutorialspoint.com/images/java_thread.jpg"/>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42714" y="1634043"/>
            <a:ext cx="6622862" cy="46396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3560364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1200" dirty="0"/>
              <a:t>20.3: Scheduling threads- Priorities </a:t>
            </a:r>
            <a:r>
              <a:rPr lang="en-US" dirty="0"/>
              <a:t/>
            </a:r>
            <a:br>
              <a:rPr lang="en-US" dirty="0"/>
            </a:br>
            <a:r>
              <a:rPr lang="en-US" dirty="0"/>
              <a:t>Thread  Priorities</a:t>
            </a:r>
          </a:p>
        </p:txBody>
      </p:sp>
      <p:sp>
        <p:nvSpPr>
          <p:cNvPr id="6" name="Content Placeholder 5"/>
          <p:cNvSpPr>
            <a:spLocks noGrp="1"/>
          </p:cNvSpPr>
          <p:nvPr>
            <p:ph idx="1"/>
          </p:nvPr>
        </p:nvSpPr>
        <p:spPr/>
        <p:txBody>
          <a:bodyPr/>
          <a:lstStyle/>
          <a:p>
            <a:r>
              <a:rPr lang="en-US" dirty="0"/>
              <a:t>Thread runs in a priority level .   Each thread has a priority which is a number starts from 1 to 10 .  </a:t>
            </a:r>
          </a:p>
          <a:p>
            <a:pPr lvl="1"/>
            <a:r>
              <a:rPr lang="en-US" dirty="0"/>
              <a:t>Thread Scheduler   schedules the threads  according to their priority .</a:t>
            </a:r>
          </a:p>
          <a:p>
            <a:r>
              <a:rPr lang="en-US" dirty="0"/>
              <a:t>There are three constant defined in Thread class</a:t>
            </a:r>
          </a:p>
          <a:p>
            <a:pPr lvl="1"/>
            <a:r>
              <a:rPr lang="en-US" dirty="0"/>
              <a:t>MIN_PRIORITY</a:t>
            </a:r>
          </a:p>
          <a:p>
            <a:pPr lvl="1"/>
            <a:r>
              <a:rPr lang="en-US" dirty="0"/>
              <a:t>NORM_PRIORITY</a:t>
            </a:r>
          </a:p>
          <a:p>
            <a:r>
              <a:rPr lang="en-US" dirty="0"/>
              <a:t>MAX_PRIORITY</a:t>
            </a:r>
          </a:p>
          <a:p>
            <a:pPr lvl="1"/>
            <a:r>
              <a:rPr lang="en-US" dirty="0"/>
              <a:t>Method which is used to set the priority</a:t>
            </a:r>
          </a:p>
          <a:p>
            <a:r>
              <a:rPr lang="en-US" dirty="0" err="1"/>
              <a:t>setPriority</a:t>
            </a:r>
            <a:r>
              <a:rPr lang="en-US" dirty="0"/>
              <a:t>(PRIORITY_LEVEL</a:t>
            </a:r>
            <a:r>
              <a:rPr lang="en-US" dirty="0" smtClean="0"/>
              <a:t>);</a:t>
            </a:r>
            <a:endParaRPr lang="en-US" dirty="0"/>
          </a:p>
          <a:p>
            <a:r>
              <a:rPr lang="en-US" dirty="0"/>
              <a:t>Do not rely on thread priorities when you design your multithreaded application .</a:t>
            </a:r>
          </a:p>
          <a:p>
            <a:endParaRPr lang="en-US" dirty="0"/>
          </a:p>
        </p:txBody>
      </p:sp>
    </p:spTree>
    <p:extLst>
      <p:ext uri="{BB962C8B-B14F-4D97-AF65-F5344CB8AC3E}">
        <p14:creationId xmlns:p14="http://schemas.microsoft.com/office/powerpoint/2010/main" xmlns="" val="18150475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20.3: Scheduling threads- Priorities</a:t>
            </a:r>
            <a:r>
              <a:rPr lang="en-US" dirty="0" smtClean="0"/>
              <a:t/>
            </a:r>
            <a:br>
              <a:rPr lang="en-US" dirty="0" smtClean="0"/>
            </a:br>
            <a:r>
              <a:rPr lang="en-US" dirty="0" smtClean="0"/>
              <a:t>Demo</a:t>
            </a:r>
            <a:endParaRPr lang="en-US" dirty="0"/>
          </a:p>
        </p:txBody>
      </p:sp>
      <p:sp>
        <p:nvSpPr>
          <p:cNvPr id="3" name="Content Placeholder 2"/>
          <p:cNvSpPr>
            <a:spLocks noGrp="1"/>
          </p:cNvSpPr>
          <p:nvPr>
            <p:ph idx="1"/>
          </p:nvPr>
        </p:nvSpPr>
        <p:spPr/>
        <p:txBody>
          <a:bodyPr/>
          <a:lstStyle/>
          <a:p>
            <a:r>
              <a:rPr lang="en-US" smtClean="0"/>
              <a:t>ThreadPriorityDemo</a:t>
            </a:r>
            <a:endParaRPr lang="en-US"/>
          </a:p>
        </p:txBody>
      </p:sp>
    </p:spTree>
    <p:extLst>
      <p:ext uri="{BB962C8B-B14F-4D97-AF65-F5344CB8AC3E}">
        <p14:creationId xmlns:p14="http://schemas.microsoft.com/office/powerpoint/2010/main" xmlns="" val="3243173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rgbClr val="000000"/>
                </a:solidFill>
                <a:latin typeface="Century" panose="02040604050505020304" pitchFamily="18" charset="0"/>
                <a:ea typeface="Times New Roman" panose="02020603050405020304" pitchFamily="18" charset="0"/>
                <a:cs typeface="Times New Roman" panose="02020603050405020304" pitchFamily="18" charset="0"/>
              </a:rPr>
              <a:t>The Thread class provides two methods for sleeping a thread: </a:t>
            </a:r>
            <a:endParaRPr lang="en-US" sz="1600" dirty="0">
              <a:ea typeface="Calibri" panose="020F0502020204030204" pitchFamily="34" charset="0"/>
              <a:cs typeface="Times New Roman" panose="02020603050405020304" pitchFamily="18" charset="0"/>
            </a:endParaRPr>
          </a:p>
          <a:p>
            <a:pPr lvl="1"/>
            <a:r>
              <a:rPr lang="en-US" dirty="0">
                <a:solidFill>
                  <a:srgbClr val="000000"/>
                </a:solidFill>
                <a:latin typeface="Century" panose="02040604050505020304" pitchFamily="18" charset="0"/>
                <a:ea typeface="Times New Roman" panose="02020603050405020304" pitchFamily="18" charset="0"/>
                <a:cs typeface="Times New Roman" panose="02020603050405020304" pitchFamily="18" charset="0"/>
              </a:rPr>
              <a:t>public static void sleep(long </a:t>
            </a:r>
            <a:r>
              <a:rPr lang="en-US" dirty="0" smtClean="0">
                <a:solidFill>
                  <a:srgbClr val="000000"/>
                </a:solidFill>
                <a:latin typeface="Century" panose="02040604050505020304" pitchFamily="18" charset="0"/>
                <a:ea typeface="Times New Roman" panose="02020603050405020304" pitchFamily="18" charset="0"/>
                <a:cs typeface="Times New Roman" panose="02020603050405020304" pitchFamily="18" charset="0"/>
              </a:rPr>
              <a:t>milliseconds)throws </a:t>
            </a:r>
            <a:r>
              <a:rPr lang="en-US" dirty="0" err="1" smtClean="0">
                <a:solidFill>
                  <a:srgbClr val="000000"/>
                </a:solidFill>
                <a:latin typeface="Century" panose="02040604050505020304" pitchFamily="18" charset="0"/>
                <a:ea typeface="Times New Roman" panose="02020603050405020304" pitchFamily="18" charset="0"/>
                <a:cs typeface="Times New Roman" panose="02020603050405020304" pitchFamily="18" charset="0"/>
              </a:rPr>
              <a:t>InterruptedException</a:t>
            </a:r>
            <a:endParaRPr lang="en-US" dirty="0" smtClean="0">
              <a:solidFill>
                <a:srgbClr val="000000"/>
              </a:solidFill>
              <a:latin typeface="Century" panose="02040604050505020304" pitchFamily="18" charset="0"/>
              <a:ea typeface="Calibri" panose="020F0502020204030204" pitchFamily="34" charset="0"/>
              <a:cs typeface="Times New Roman" panose="02020603050405020304" pitchFamily="18" charset="0"/>
            </a:endParaRPr>
          </a:p>
          <a:p>
            <a:pPr lvl="1"/>
            <a:r>
              <a:rPr lang="en-US" dirty="0" smtClean="0">
                <a:solidFill>
                  <a:srgbClr val="000000"/>
                </a:solidFill>
                <a:latin typeface="Century" panose="02040604050505020304" pitchFamily="18" charset="0"/>
                <a:ea typeface="Calibri" panose="020F0502020204030204" pitchFamily="34" charset="0"/>
                <a:cs typeface="Times New Roman" panose="02020603050405020304" pitchFamily="18" charset="0"/>
              </a:rPr>
              <a:t>public </a:t>
            </a:r>
            <a:r>
              <a:rPr lang="en-US" dirty="0">
                <a:solidFill>
                  <a:srgbClr val="000000"/>
                </a:solidFill>
                <a:latin typeface="Century" panose="02040604050505020304" pitchFamily="18" charset="0"/>
                <a:ea typeface="Calibri" panose="020F0502020204030204" pitchFamily="34" charset="0"/>
                <a:cs typeface="Times New Roman" panose="02020603050405020304" pitchFamily="18" charset="0"/>
              </a:rPr>
              <a:t>static void sleep(long </a:t>
            </a:r>
            <a:r>
              <a:rPr lang="en-US" dirty="0" smtClean="0">
                <a:solidFill>
                  <a:srgbClr val="000000"/>
                </a:solidFill>
                <a:latin typeface="Century" panose="02040604050505020304" pitchFamily="18" charset="0"/>
                <a:ea typeface="Calibri" panose="020F0502020204030204" pitchFamily="34" charset="0"/>
                <a:cs typeface="Times New Roman" panose="02020603050405020304" pitchFamily="18" charset="0"/>
              </a:rPr>
              <a:t>milliseconds, </a:t>
            </a:r>
            <a:r>
              <a:rPr lang="en-US" dirty="0" err="1">
                <a:solidFill>
                  <a:srgbClr val="000000"/>
                </a:solidFill>
                <a:latin typeface="Century" panose="02040604050505020304" pitchFamily="18" charset="0"/>
                <a:ea typeface="Calibri" panose="020F0502020204030204" pitchFamily="34" charset="0"/>
                <a:cs typeface="Times New Roman" panose="02020603050405020304" pitchFamily="18" charset="0"/>
              </a:rPr>
              <a:t>int</a:t>
            </a:r>
            <a:r>
              <a:rPr lang="en-US" dirty="0">
                <a:solidFill>
                  <a:srgbClr val="000000"/>
                </a:solidFill>
                <a:latin typeface="Century" panose="02040604050505020304" pitchFamily="18" charset="0"/>
                <a:ea typeface="Calibri" panose="020F0502020204030204" pitchFamily="34" charset="0"/>
                <a:cs typeface="Times New Roman" panose="02020603050405020304" pitchFamily="18" charset="0"/>
              </a:rPr>
              <a:t> </a:t>
            </a:r>
            <a:r>
              <a:rPr lang="en-US" dirty="0" err="1">
                <a:solidFill>
                  <a:srgbClr val="000000"/>
                </a:solidFill>
                <a:latin typeface="Century" panose="02040604050505020304" pitchFamily="18" charset="0"/>
                <a:ea typeface="Calibri" panose="020F0502020204030204" pitchFamily="34" charset="0"/>
                <a:cs typeface="Times New Roman" panose="02020603050405020304" pitchFamily="18" charset="0"/>
              </a:rPr>
              <a:t>nanos</a:t>
            </a:r>
            <a:r>
              <a:rPr lang="en-US" dirty="0">
                <a:solidFill>
                  <a:srgbClr val="000000"/>
                </a:solidFill>
                <a:latin typeface="Century" panose="02040604050505020304" pitchFamily="18" charset="0"/>
                <a:ea typeface="Calibri" panose="020F0502020204030204" pitchFamily="34" charset="0"/>
                <a:cs typeface="Times New Roman" panose="02020603050405020304" pitchFamily="18" charset="0"/>
              </a:rPr>
              <a:t>)throws </a:t>
            </a:r>
            <a:r>
              <a:rPr lang="en-US" dirty="0" err="1">
                <a:solidFill>
                  <a:srgbClr val="000000"/>
                </a:solidFill>
                <a:latin typeface="Century" panose="02040604050505020304" pitchFamily="18" charset="0"/>
                <a:ea typeface="Calibri" panose="020F0502020204030204" pitchFamily="34" charset="0"/>
                <a:cs typeface="Times New Roman" panose="02020603050405020304" pitchFamily="18" charset="0"/>
              </a:rPr>
              <a:t>InterruptedException</a:t>
            </a:r>
            <a:endParaRPr lang="en-US" sz="1400" dirty="0">
              <a:ea typeface="Calibri" panose="020F0502020204030204" pitchFamily="34" charset="0"/>
              <a:cs typeface="Times New Roman" panose="02020603050405020304" pitchFamily="18" charset="0"/>
            </a:endParaRPr>
          </a:p>
          <a:p>
            <a:pPr lvl="1"/>
            <a:endParaRPr lang="en-US" dirty="0">
              <a:solidFill>
                <a:schemeClr val="tx1"/>
              </a:solidFill>
            </a:endParaRPr>
          </a:p>
          <a:p>
            <a:pPr marL="0" indent="0">
              <a:buNone/>
            </a:pPr>
            <a:endParaRPr lang="en-US" dirty="0"/>
          </a:p>
        </p:txBody>
      </p:sp>
      <p:sp>
        <p:nvSpPr>
          <p:cNvPr id="5" name="Title 4"/>
          <p:cNvSpPr>
            <a:spLocks noGrp="1"/>
          </p:cNvSpPr>
          <p:nvPr>
            <p:ph type="title"/>
          </p:nvPr>
        </p:nvSpPr>
        <p:spPr/>
        <p:txBody>
          <a:bodyPr/>
          <a:lstStyle/>
          <a:p>
            <a:r>
              <a:rPr lang="en-US" sz="1200" dirty="0"/>
              <a:t>20.4: Controlling  threads  using sleep(),join()</a:t>
            </a:r>
            <a:r>
              <a:rPr lang="en-US" dirty="0"/>
              <a:t/>
            </a:r>
            <a:br>
              <a:rPr lang="en-US" dirty="0"/>
            </a:br>
            <a:r>
              <a:rPr lang="en-US" dirty="0"/>
              <a:t>Controlling thread using sleep()</a:t>
            </a:r>
          </a:p>
        </p:txBody>
      </p:sp>
    </p:spTree>
    <p:extLst>
      <p:ext uri="{BB962C8B-B14F-4D97-AF65-F5344CB8AC3E}">
        <p14:creationId xmlns:p14="http://schemas.microsoft.com/office/powerpoint/2010/main" xmlns="" val="3080968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smtClean="0"/>
              <a:t>20.2</a:t>
            </a:r>
            <a:r>
              <a:rPr lang="en-US" sz="1300" dirty="0"/>
              <a:t>:  Thread Life cycle  </a:t>
            </a:r>
            <a:r>
              <a:rPr lang="en-US" dirty="0"/>
              <a:t/>
            </a:r>
            <a:br>
              <a:rPr lang="en-US" dirty="0"/>
            </a:br>
            <a:r>
              <a:rPr lang="en-US" dirty="0" smtClean="0"/>
              <a:t>Demo</a:t>
            </a:r>
            <a:endParaRPr lang="en-US" dirty="0"/>
          </a:p>
        </p:txBody>
      </p:sp>
      <p:sp>
        <p:nvSpPr>
          <p:cNvPr id="3" name="Content Placeholder 2"/>
          <p:cNvSpPr>
            <a:spLocks noGrp="1"/>
          </p:cNvSpPr>
          <p:nvPr>
            <p:ph idx="1"/>
          </p:nvPr>
        </p:nvSpPr>
        <p:spPr/>
        <p:txBody>
          <a:bodyPr/>
          <a:lstStyle/>
          <a:p>
            <a:r>
              <a:rPr lang="en-US" dirty="0" smtClean="0"/>
              <a:t>ThreadLifeCycleDemo.java</a:t>
            </a:r>
          </a:p>
          <a:p>
            <a:endParaRPr lang="en-US" dirty="0"/>
          </a:p>
        </p:txBody>
      </p:sp>
    </p:spTree>
    <p:extLst>
      <p:ext uri="{BB962C8B-B14F-4D97-AF65-F5344CB8AC3E}">
        <p14:creationId xmlns:p14="http://schemas.microsoft.com/office/powerpoint/2010/main" xmlns="" val="4505631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300" dirty="0"/>
              <a:t>20.4: Controlling  threads  using sleep(),join()</a:t>
            </a:r>
            <a:r>
              <a:rPr lang="en-US" dirty="0" smtClean="0"/>
              <a:t/>
            </a:r>
            <a:br>
              <a:rPr lang="en-US" dirty="0" smtClean="0"/>
            </a:br>
            <a:r>
              <a:rPr lang="en-US" dirty="0" smtClean="0"/>
              <a:t>Controlling Thread using  join()</a:t>
            </a:r>
            <a:endParaRPr lang="en-US" dirty="0"/>
          </a:p>
        </p:txBody>
      </p:sp>
      <p:sp>
        <p:nvSpPr>
          <p:cNvPr id="3" name="Content Placeholder 2"/>
          <p:cNvSpPr>
            <a:spLocks noGrp="1"/>
          </p:cNvSpPr>
          <p:nvPr>
            <p:ph idx="1"/>
          </p:nvPr>
        </p:nvSpPr>
        <p:spPr/>
        <p:txBody>
          <a:bodyPr/>
          <a:lstStyle/>
          <a:p>
            <a:r>
              <a:rPr lang="en-US" dirty="0" smtClean="0"/>
              <a:t>In Tread join</a:t>
            </a:r>
            <a:r>
              <a:rPr lang="en-US" b="0" dirty="0"/>
              <a:t> method can be used to pause the current thread </a:t>
            </a:r>
            <a:r>
              <a:rPr lang="en-US" b="0" dirty="0" smtClean="0"/>
              <a:t>execution</a:t>
            </a:r>
          </a:p>
          <a:p>
            <a:pPr marL="0" indent="0">
              <a:buNone/>
            </a:pPr>
            <a:r>
              <a:rPr lang="en-US" b="0" dirty="0"/>
              <a:t> </a:t>
            </a:r>
            <a:r>
              <a:rPr lang="en-US" b="0" dirty="0" smtClean="0"/>
              <a:t>       </a:t>
            </a:r>
            <a:r>
              <a:rPr lang="en-US" b="0" dirty="0"/>
              <a:t>until unless the specified thread is dead. </a:t>
            </a:r>
            <a:endParaRPr lang="en-US" b="0" dirty="0" smtClean="0"/>
          </a:p>
          <a:p>
            <a:r>
              <a:rPr lang="en-US" b="0" dirty="0" smtClean="0"/>
              <a:t>There </a:t>
            </a:r>
            <a:r>
              <a:rPr lang="en-US" b="0" dirty="0"/>
              <a:t>are three overloaded join functions</a:t>
            </a:r>
            <a:r>
              <a:rPr lang="en-US" b="0" dirty="0" smtClean="0"/>
              <a:t>.</a:t>
            </a:r>
          </a:p>
          <a:p>
            <a:pPr lvl="1"/>
            <a:r>
              <a:rPr lang="en-US" b="1" dirty="0"/>
              <a:t>public final void join()</a:t>
            </a:r>
            <a:endParaRPr lang="en-US" dirty="0">
              <a:solidFill>
                <a:schemeClr val="tx1"/>
              </a:solidFill>
            </a:endParaRPr>
          </a:p>
          <a:p>
            <a:pPr lvl="1"/>
            <a:r>
              <a:rPr lang="en-US" b="1" dirty="0"/>
              <a:t>public final synchronized void join(long </a:t>
            </a:r>
            <a:r>
              <a:rPr lang="en-US" b="1" dirty="0" err="1"/>
              <a:t>millis</a:t>
            </a:r>
            <a:r>
              <a:rPr lang="en-US" b="1" dirty="0" smtClean="0"/>
              <a:t>)</a:t>
            </a:r>
          </a:p>
          <a:p>
            <a:pPr lvl="1"/>
            <a:r>
              <a:rPr lang="en-US" b="1" dirty="0"/>
              <a:t>public final synchronized void join(long </a:t>
            </a:r>
            <a:r>
              <a:rPr lang="en-US" b="1" dirty="0" err="1"/>
              <a:t>millis</a:t>
            </a:r>
            <a:r>
              <a:rPr lang="en-US" b="1" dirty="0"/>
              <a:t>, </a:t>
            </a:r>
            <a:r>
              <a:rPr lang="en-US" b="1" dirty="0" err="1"/>
              <a:t>int</a:t>
            </a:r>
            <a:r>
              <a:rPr lang="en-US" b="1" dirty="0"/>
              <a:t> nanos)</a:t>
            </a:r>
            <a:endParaRPr lang="en-US" b="0" dirty="0" smtClean="0"/>
          </a:p>
          <a:p>
            <a:pPr marL="0" indent="0">
              <a:buNone/>
            </a:pPr>
            <a:endParaRPr lang="en-US" dirty="0"/>
          </a:p>
        </p:txBody>
      </p:sp>
    </p:spTree>
    <p:extLst>
      <p:ext uri="{BB962C8B-B14F-4D97-AF65-F5344CB8AC3E}">
        <p14:creationId xmlns:p14="http://schemas.microsoft.com/office/powerpoint/2010/main" xmlns="" val="8472822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ontent Placeholder 2"/>
          <p:cNvSpPr>
            <a:spLocks noGrp="1"/>
          </p:cNvSpPr>
          <p:nvPr>
            <p:ph idx="1"/>
          </p:nvPr>
        </p:nvSpPr>
        <p:spPr/>
        <p:txBody>
          <a:bodyPr/>
          <a:lstStyle/>
          <a:p>
            <a:r>
              <a:rPr lang="en-US" dirty="0" err="1" smtClean="0"/>
              <a:t>ThreadJoinDemo</a:t>
            </a:r>
            <a:r>
              <a:rPr lang="en-US" dirty="0" smtClean="0"/>
              <a:t> . Java</a:t>
            </a:r>
          </a:p>
          <a:p>
            <a:r>
              <a:rPr lang="en-US" b="0" dirty="0" smtClean="0"/>
              <a:t>SleepDemo.java</a:t>
            </a:r>
          </a:p>
        </p:txBody>
      </p:sp>
      <p:sp>
        <p:nvSpPr>
          <p:cNvPr id="2" name="Title 1"/>
          <p:cNvSpPr>
            <a:spLocks noGrp="1"/>
          </p:cNvSpPr>
          <p:nvPr>
            <p:ph type="title"/>
          </p:nvPr>
        </p:nvSpPr>
        <p:spPr/>
        <p:txBody>
          <a:bodyPr/>
          <a:lstStyle/>
          <a:p>
            <a:r>
              <a:rPr lang="en-US" sz="1200" dirty="0"/>
              <a:t>20.4: Controlling  threads  using sleep(),join()</a:t>
            </a:r>
            <a:r>
              <a:rPr lang="en-US" dirty="0"/>
              <a:t/>
            </a:r>
            <a:br>
              <a:rPr lang="en-US" dirty="0"/>
            </a:br>
            <a:r>
              <a:rPr lang="en-US" dirty="0"/>
              <a:t>Demo :</a:t>
            </a:r>
          </a:p>
        </p:txBody>
      </p:sp>
    </p:spTree>
    <p:extLst>
      <p:ext uri="{BB962C8B-B14F-4D97-AF65-F5344CB8AC3E}">
        <p14:creationId xmlns:p14="http://schemas.microsoft.com/office/powerpoint/2010/main" xmlns="" val="21718026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p:cNvSpPr>
          <p:nvPr>
            <p:ph type="title"/>
          </p:nvPr>
        </p:nvSpPr>
        <p:spPr/>
        <p:txBody>
          <a:bodyPr>
            <a:normAutofit/>
          </a:bodyPr>
          <a:lstStyle/>
          <a:p>
            <a:r>
              <a:rPr lang="en-US" dirty="0"/>
              <a:t>Summary</a:t>
            </a:r>
          </a:p>
        </p:txBody>
      </p:sp>
      <p:sp>
        <p:nvSpPr>
          <p:cNvPr id="217091" name="Rectangle 3"/>
          <p:cNvSpPr>
            <a:spLocks noGrp="1"/>
          </p:cNvSpPr>
          <p:nvPr>
            <p:ph idx="1"/>
          </p:nvPr>
        </p:nvSpPr>
        <p:spPr/>
        <p:txBody>
          <a:bodyPr/>
          <a:lstStyle/>
          <a:p>
            <a:r>
              <a:rPr lang="en-US" dirty="0">
                <a:solidFill>
                  <a:schemeClr val="tx1"/>
                </a:solidFill>
              </a:rPr>
              <a:t>In this lesson, you have learnt the following:</a:t>
            </a:r>
          </a:p>
          <a:p>
            <a:pPr lvl="1"/>
            <a:r>
              <a:rPr lang="en-US" dirty="0">
                <a:solidFill>
                  <a:schemeClr val="tx1"/>
                </a:solidFill>
              </a:rPr>
              <a:t>What </a:t>
            </a:r>
            <a:r>
              <a:rPr lang="en-US" dirty="0" smtClean="0">
                <a:solidFill>
                  <a:schemeClr val="tx1"/>
                </a:solidFill>
              </a:rPr>
              <a:t>is Thread and  use of Multithread </a:t>
            </a:r>
          </a:p>
          <a:p>
            <a:pPr lvl="1"/>
            <a:r>
              <a:rPr lang="en-US" dirty="0" smtClean="0">
                <a:solidFill>
                  <a:schemeClr val="tx1"/>
                </a:solidFill>
              </a:rPr>
              <a:t>how to create a Thread program and Lifecycle?</a:t>
            </a:r>
            <a:endParaRPr lang="en-US" dirty="0">
              <a:solidFill>
                <a:schemeClr val="tx1"/>
              </a:solidFill>
            </a:endParaRPr>
          </a:p>
          <a:p>
            <a:pPr lvl="1"/>
            <a:r>
              <a:rPr lang="en-US" dirty="0" smtClean="0">
                <a:solidFill>
                  <a:schemeClr val="tx1"/>
                </a:solidFill>
              </a:rPr>
              <a:t>Thread Priorities Implementation in Multi Threading </a:t>
            </a:r>
          </a:p>
          <a:p>
            <a:pPr marL="457200" lvl="1" indent="0">
              <a:buNone/>
            </a:pPr>
            <a:r>
              <a:rPr lang="en-US" dirty="0">
                <a:solidFill>
                  <a:schemeClr val="tx1"/>
                </a:solidFill>
              </a:rPr>
              <a:t> </a:t>
            </a:r>
            <a:r>
              <a:rPr lang="en-US" dirty="0" smtClean="0">
                <a:solidFill>
                  <a:schemeClr val="tx1"/>
                </a:solidFill>
              </a:rPr>
              <a:t>     environment .</a:t>
            </a:r>
          </a:p>
          <a:p>
            <a:pPr lvl="1"/>
            <a:r>
              <a:rPr lang="en-US" dirty="0" smtClean="0">
                <a:solidFill>
                  <a:schemeClr val="tx1"/>
                </a:solidFill>
              </a:rPr>
              <a:t>Use of sleep() , join()</a:t>
            </a: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xmlns="" val="8601759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p:cNvSpPr>
          <p:nvPr>
            <p:ph type="title"/>
          </p:nvPr>
        </p:nvSpPr>
        <p:spPr/>
        <p:txBody>
          <a:bodyPr>
            <a:normAutofit/>
          </a:bodyPr>
          <a:lstStyle/>
          <a:p>
            <a:r>
              <a:rPr lang="en-US" dirty="0"/>
              <a:t>Review Question</a:t>
            </a:r>
          </a:p>
        </p:txBody>
      </p:sp>
      <p:sp>
        <p:nvSpPr>
          <p:cNvPr id="219139" name="Rectangle 3"/>
          <p:cNvSpPr>
            <a:spLocks noGrp="1"/>
          </p:cNvSpPr>
          <p:nvPr>
            <p:ph idx="1"/>
          </p:nvPr>
        </p:nvSpPr>
        <p:spPr/>
        <p:txBody>
          <a:bodyPr/>
          <a:lstStyle/>
          <a:p>
            <a:r>
              <a:rPr lang="en-US" dirty="0">
                <a:solidFill>
                  <a:schemeClr val="tx1"/>
                </a:solidFill>
              </a:rPr>
              <a:t>Question </a:t>
            </a:r>
            <a:r>
              <a:rPr lang="en-US" dirty="0" smtClean="0">
                <a:solidFill>
                  <a:schemeClr val="tx1"/>
                </a:solidFill>
              </a:rPr>
              <a:t>1 which method is invoked to send thread </a:t>
            </a:r>
          </a:p>
          <a:p>
            <a:pPr marL="0" indent="0">
              <a:buNone/>
            </a:pPr>
            <a:r>
              <a:rPr lang="en-US" dirty="0">
                <a:solidFill>
                  <a:schemeClr val="tx1"/>
                </a:solidFill>
              </a:rPr>
              <a:t> </a:t>
            </a:r>
            <a:r>
              <a:rPr lang="en-US" dirty="0" smtClean="0">
                <a:solidFill>
                  <a:schemeClr val="tx1"/>
                </a:solidFill>
              </a:rPr>
              <a:t>      object to runnable stage.</a:t>
            </a:r>
            <a:endParaRPr lang="en-US" dirty="0">
              <a:solidFill>
                <a:schemeClr val="tx1"/>
              </a:solidFill>
            </a:endParaRPr>
          </a:p>
          <a:p>
            <a:pPr lvl="1"/>
            <a:r>
              <a:rPr lang="en-US" b="1" dirty="0">
                <a:solidFill>
                  <a:schemeClr val="tx1"/>
                </a:solidFill>
              </a:rPr>
              <a:t>Option 1 :</a:t>
            </a:r>
            <a:r>
              <a:rPr lang="en-US" dirty="0">
                <a:solidFill>
                  <a:schemeClr val="tx1"/>
                </a:solidFill>
              </a:rPr>
              <a:t> </a:t>
            </a:r>
            <a:r>
              <a:rPr lang="en-US" dirty="0" smtClean="0">
                <a:solidFill>
                  <a:schemeClr val="tx1"/>
                </a:solidFill>
              </a:rPr>
              <a:t>start()</a:t>
            </a:r>
            <a:endParaRPr lang="en-US" dirty="0">
              <a:solidFill>
                <a:schemeClr val="tx1"/>
              </a:solidFill>
            </a:endParaRPr>
          </a:p>
          <a:p>
            <a:pPr lvl="1"/>
            <a:r>
              <a:rPr lang="en-US" b="1" dirty="0">
                <a:solidFill>
                  <a:schemeClr val="tx1"/>
                </a:solidFill>
              </a:rPr>
              <a:t>Option 2 :</a:t>
            </a:r>
            <a:r>
              <a:rPr lang="en-US" dirty="0">
                <a:solidFill>
                  <a:schemeClr val="tx1"/>
                </a:solidFill>
              </a:rPr>
              <a:t> </a:t>
            </a:r>
            <a:r>
              <a:rPr lang="en-US" dirty="0" smtClean="0">
                <a:solidFill>
                  <a:schemeClr val="tx1"/>
                </a:solidFill>
              </a:rPr>
              <a:t>stop()</a:t>
            </a:r>
            <a:endParaRPr lang="en-US" dirty="0">
              <a:solidFill>
                <a:schemeClr val="tx1"/>
              </a:solidFill>
            </a:endParaRPr>
          </a:p>
          <a:p>
            <a:r>
              <a:rPr lang="en-US" dirty="0">
                <a:solidFill>
                  <a:schemeClr val="tx1"/>
                </a:solidFill>
              </a:rPr>
              <a:t>Question 2: </a:t>
            </a:r>
            <a:r>
              <a:rPr lang="en-US" dirty="0" smtClean="0">
                <a:solidFill>
                  <a:schemeClr val="tx1"/>
                </a:solidFill>
              </a:rPr>
              <a:t>Does sleep() belongs to Thread class ?</a:t>
            </a:r>
            <a:endParaRPr lang="en-US" dirty="0">
              <a:solidFill>
                <a:schemeClr val="tx1"/>
              </a:solidFill>
            </a:endParaRPr>
          </a:p>
          <a:p>
            <a:pPr lvl="1"/>
            <a:r>
              <a:rPr lang="en-US" b="1" dirty="0" smtClean="0">
                <a:solidFill>
                  <a:schemeClr val="tx1"/>
                </a:solidFill>
              </a:rPr>
              <a:t>True/False</a:t>
            </a:r>
            <a:r>
              <a:rPr lang="en-US" b="1" dirty="0">
                <a:solidFill>
                  <a:schemeClr val="tx1"/>
                </a:solidFill>
              </a:rPr>
              <a:t>.</a:t>
            </a:r>
          </a:p>
        </p:txBody>
      </p:sp>
    </p:spTree>
    <p:extLst>
      <p:ext uri="{BB962C8B-B14F-4D97-AF65-F5344CB8AC3E}">
        <p14:creationId xmlns:p14="http://schemas.microsoft.com/office/powerpoint/2010/main" xmlns="" val="69221559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customXml/itemProps3.xml><?xml version="1.0" encoding="utf-8"?>
<ds:datastoreItem xmlns:ds="http://schemas.openxmlformats.org/officeDocument/2006/customXml" ds:itemID="{1F977F61-4B33-4026-85CF-AA3DCCF6FC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5668</TotalTime>
  <Words>1767</Words>
  <Application>Microsoft Office PowerPoint</Application>
  <PresentationFormat>On-screen Show (4:3)</PresentationFormat>
  <Paragraphs>362</Paragraphs>
  <Slides>18</Slides>
  <Notes>18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2_Corporate Presentation Template (4x3 - Normal)</vt:lpstr>
      <vt:lpstr>think-cell Slide</vt:lpstr>
      <vt:lpstr>Core Java 8 and Development Tools</vt:lpstr>
      <vt:lpstr>Lesson Objectives</vt:lpstr>
      <vt:lpstr>20.1:  Understanding  Threads?   Thread and Process</vt:lpstr>
      <vt:lpstr>20.1:  Understanding  Threads?   Thread Application</vt:lpstr>
      <vt:lpstr>20.1:  Understanding  Threads? Create Thread using Extending Thread</vt:lpstr>
      <vt:lpstr>20.1:  Understanding  Threads? Creating Thread Implementing Runnable</vt:lpstr>
      <vt:lpstr>20.1:  Understanding  Threads? Thread Extending Vs. Implementing</vt:lpstr>
      <vt:lpstr>20.1:  Understanding  Threads? Thread</vt:lpstr>
      <vt:lpstr>20.1:  Understanding  Threads? Demo</vt:lpstr>
      <vt:lpstr>20.2:  Thread Life cycle   Thread Life Cycle</vt:lpstr>
      <vt:lpstr>20.3: Scheduling threads- Priorities  Thread  Priorities</vt:lpstr>
      <vt:lpstr>20.3: Scheduling threads- Priorities Demo</vt:lpstr>
      <vt:lpstr>20.4: Controlling  threads  using sleep(),join() Controlling thread using sleep()</vt:lpstr>
      <vt:lpstr>20.2:  Thread Life cycle   Demo</vt:lpstr>
      <vt:lpstr>20.4: Controlling  threads  using sleep(),join() Controlling Thread using  join()</vt:lpstr>
      <vt:lpstr>20.4: Controlling  threads  using sleep(),join() Demo :</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333</cp:revision>
  <cp:lastPrinted>2016-07-14T02:57:04Z</cp:lastPrinted>
  <dcterms:created xsi:type="dcterms:W3CDTF">2012-05-18T02:59:15Z</dcterms:created>
  <dcterms:modified xsi:type="dcterms:W3CDTF">2022-09-20T07:22:43Z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