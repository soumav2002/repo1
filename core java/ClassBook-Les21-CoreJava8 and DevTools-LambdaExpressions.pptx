
<file path=[Content_Types].xml><?xml version="1.0" encoding="utf-8"?>
<Types xmlns="http://schemas.openxmlformats.org/package/2006/content-types">
  <Override PartName="/ppt/tags/tag8.xml" ContentType="application/vnd.openxmlformats-officedocument.presentationml.tags+xml"/>
  <Override PartName="/ppt/notesSlides/notesSlide2.xml" ContentType="application/vnd.openxmlformats-officedocument.presentationml.notesSlide+xml"/>
  <Override PartName="/customXml/itemProps1.xml" ContentType="application/vnd.openxmlformats-officedocument.customXmlProperties+xml"/>
  <Override PartName="/ppt/slides/slide4.xml" ContentType="application/vnd.openxmlformats-officedocument.presentationml.slide+xml"/>
  <Override PartName="/ppt/slides/slide18.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ags/tag4.xml" ContentType="application/vnd.openxmlformats-officedocument.presentationml.tags+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notesSlides/notesSlide16.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tags/tag16.xml" ContentType="application/vnd.openxmlformats-officedocument.presentationml.tags+xml"/>
  <Override PartName="/ppt/tags/tag18.xml" ContentType="application/vnd.openxmlformats-officedocument.presentationml.tags+xml"/>
  <Override PartName="/ppt/tags/tag27.xml" ContentType="application/vnd.openxmlformats-officedocument.presentationml.tags+xml"/>
  <Override PartName="/ppt/tags/tag36.xml" ContentType="application/vnd.openxmlformats-officedocument.presentationml.tags+xml"/>
  <Override PartName="/ppt/notesSlides/notesSlide14.xml" ContentType="application/vnd.openxmlformats-officedocument.presentationml.notesSlide+xml"/>
  <Override PartName="/docProps/custom.xml" ContentType="application/vnd.openxmlformats-officedocument.custom-properties+xml"/>
  <Override PartName="/ppt/tags/tag14.xml" ContentType="application/vnd.openxmlformats-officedocument.presentationml.tags+xml"/>
  <Override PartName="/ppt/tags/tag25.xml" ContentType="application/vnd.openxmlformats-officedocument.presentationml.tags+xml"/>
  <Override PartName="/ppt/tags/tag34.xml" ContentType="application/vnd.openxmlformats-officedocument.presentationml.tags+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tags/tag12.xml" ContentType="application/vnd.openxmlformats-officedocument.presentationml.tags+xml"/>
  <Override PartName="/ppt/tags/tag23.xml" ContentType="application/vnd.openxmlformats-officedocument.presentationml.tags+xml"/>
  <Override PartName="/ppt/tags/tag32.xml" ContentType="application/vnd.openxmlformats-officedocument.presentationml.tags+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tags/tag9.xml" ContentType="application/vnd.openxmlformats-officedocument.presentationml.tags+xml"/>
  <Override PartName="/ppt/tags/tag10.xml" ContentType="application/vnd.openxmlformats-officedocument.presentationml.tags+xml"/>
  <Override PartName="/ppt/tags/tag21.xml" ContentType="application/vnd.openxmlformats-officedocument.presentationml.tags+xml"/>
  <Override PartName="/ppt/tags/tag30.xml" ContentType="application/vnd.openxmlformats-officedocument.presentationml.tags+xml"/>
  <Override PartName="/ppt/notesSlides/notesSlide5.xml" ContentType="application/vnd.openxmlformats-officedocument.presentationml.notesSlide+xml"/>
  <Override PartName="/customXml/itemProps2.xml" ContentType="application/vnd.openxmlformats-officedocument.customXml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bin" ContentType="application/vnd.openxmlformats-officedocument.oleObject"/>
  <Override PartName="/ppt/tags/tag7.xml" ContentType="application/vnd.openxmlformats-officedocument.presentationml.tags+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ags/tag5.xml" ContentType="application/vnd.openxmlformats-officedocument.presentationml.tags+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Default Extension="emf" ContentType="image/x-emf"/>
  <Override PartName="/ppt/tags/tag3.xml" ContentType="application/vnd.openxmlformats-officedocument.presentationml.tags+xml"/>
  <Default Extension="jpeg" ContentType="image/jpeg"/>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tags/tag1.xml" ContentType="application/vnd.openxmlformats-officedocument.presentationml.tags+xml"/>
  <Override PartName="/ppt/tags/tag19.xml" ContentType="application/vnd.openxmlformats-officedocument.presentationml.tags+xml"/>
  <Override PartName="/ppt/tags/tag28.xml" ContentType="application/vnd.openxmlformats-officedocument.presentationml.tags+xml"/>
  <Override PartName="/ppt/notesSlides/notesSlide1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tags/tag17.xml" ContentType="application/vnd.openxmlformats-officedocument.presentationml.tags+xml"/>
  <Override PartName="/ppt/tags/tag26.xml" ContentType="application/vnd.openxmlformats-officedocument.presentationml.tags+xml"/>
  <Override PartName="/ppt/tags/tag35.xml" ContentType="application/vnd.openxmlformats-officedocument.presentationml.tags+xml"/>
  <Override PartName="/ppt/notesSlides/notesSlide13.xml" ContentType="application/vnd.openxmlformats-officedocument.presentationml.notesSlide+xml"/>
  <Override PartName="/ppt/slideLayouts/slideLayout10.xml" ContentType="application/vnd.openxmlformats-officedocument.presentationml.slideLayout+xml"/>
  <Default Extension="vml" ContentType="application/vnd.openxmlformats-officedocument.vmlDrawing"/>
  <Override PartName="/ppt/tags/tag15.xml" ContentType="application/vnd.openxmlformats-officedocument.presentationml.tags+xml"/>
  <Override PartName="/ppt/tags/tag24.xml" ContentType="application/vnd.openxmlformats-officedocument.presentationml.tags+xml"/>
  <Override PartName="/ppt/tags/tag33.xml" ContentType="application/vnd.openxmlformats-officedocument.presentationml.tags+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tags/tag13.xml" ContentType="application/vnd.openxmlformats-officedocument.presentationml.tags+xml"/>
  <Override PartName="/ppt/tags/tag22.xml" ContentType="application/vnd.openxmlformats-officedocument.presentationml.tags+xml"/>
  <Override PartName="/ppt/tags/tag31.xml" ContentType="application/vnd.openxmlformats-officedocument.presentationml.tags+xml"/>
  <Override PartName="/ppt/notesSlides/notesSlide6.xml" ContentType="application/vnd.openxmlformats-officedocument.presentationml.notesSlide+xml"/>
  <Override PartName="/ppt/slides/slide8.xml" ContentType="application/vnd.openxmlformats-officedocument.presentationml.slide+xml"/>
  <Override PartName="/ppt/handoutMasters/handoutMaster1.xml" ContentType="application/vnd.openxmlformats-officedocument.presentationml.handoutMaster+xml"/>
  <Override PartName="/ppt/tags/tag11.xml" ContentType="application/vnd.openxmlformats-officedocument.presentationml.tags+xml"/>
  <Override PartName="/ppt/tags/tag20.xml" ContentType="application/vnd.openxmlformats-officedocument.presentationml.tags+xml"/>
  <Override PartName="/ppt/notesSlides/notesSlide4.xml" ContentType="application/vnd.openxmlformats-officedocument.presentationml.notesSlide+xml"/>
  <Override PartName="/docProps/core.xml" ContentType="application/vnd.openxmlformats-package.core-properties+xml"/>
  <Override PartName="/customXml/itemProps3.xml" ContentType="application/vnd.openxmlformats-officedocument.customXmlProperties+xml"/>
  <Override PartName="/ppt/slides/slide6.xml" ContentType="application/vnd.openxmlformats-officedocument.presentationml.slide+xml"/>
  <Override PartName="/ppt/slideLayouts/slideLayout8.xml" ContentType="application/vnd.openxmlformats-officedocument.presentationml.slideLayout+xml"/>
  <Override PartName="/ppt/tags/tag6.xml" ContentType="application/vnd.openxmlformats-officedocument.presentationml.tags+xml"/>
  <Override PartName="/ppt/slideMasters/slideMaster1.xml" ContentType="application/vnd.openxmlformats-officedocument.presentationml.slideMaster+xml"/>
  <Override PartName="/ppt/slideLayouts/slideLayout4.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Layouts/slideLayout15.xml" ContentType="application/vnd.openxmlformats-officedocument.presentationml.slideLayout+xml"/>
  <Override PartName="/ppt/tags/tag2.xml" ContentType="application/vnd.openxmlformats-officedocument.presentationml.tags+xml"/>
  <Override PartName="/ppt/notesSlides/notesSlide18.xml" ContentType="application/vnd.openxmlformats-officedocument.presentationml.notesSlide+xml"/>
  <Default Extension="rels" ContentType="application/vnd.openxmlformats-package.relationships+xml"/>
  <Override PartName="/ppt/tags/tag29.xml" ContentType="application/vnd.openxmlformats-officedocument.presentationml.tag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0" r:id="rId4"/>
  </p:sldMasterIdLst>
  <p:notesMasterIdLst>
    <p:notesMasterId r:id="rId26"/>
  </p:notesMasterIdLst>
  <p:handoutMasterIdLst>
    <p:handoutMasterId r:id="rId27"/>
  </p:handoutMasterIdLst>
  <p:sldIdLst>
    <p:sldId id="320" r:id="rId5"/>
    <p:sldId id="259" r:id="rId6"/>
    <p:sldId id="304" r:id="rId7"/>
    <p:sldId id="305" r:id="rId8"/>
    <p:sldId id="306" r:id="rId9"/>
    <p:sldId id="307" r:id="rId10"/>
    <p:sldId id="308" r:id="rId11"/>
    <p:sldId id="309" r:id="rId12"/>
    <p:sldId id="283" r:id="rId13"/>
    <p:sldId id="310" r:id="rId14"/>
    <p:sldId id="311" r:id="rId15"/>
    <p:sldId id="312" r:id="rId16"/>
    <p:sldId id="313" r:id="rId17"/>
    <p:sldId id="314" r:id="rId18"/>
    <p:sldId id="319" r:id="rId19"/>
    <p:sldId id="315" r:id="rId20"/>
    <p:sldId id="316" r:id="rId21"/>
    <p:sldId id="317" r:id="rId22"/>
    <p:sldId id="318" r:id="rId23"/>
    <p:sldId id="298" r:id="rId24"/>
    <p:sldId id="299" r:id="rId25"/>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F9900"/>
    <a:srgbClr val="993300"/>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MasterView">
  <p:normalViewPr showOutlineIcons="0">
    <p:restoredLeft sz="16378" autoAdjust="0"/>
    <p:restoredTop sz="75424" autoAdjust="0"/>
  </p:normalViewPr>
  <p:slideViewPr>
    <p:cSldViewPr snapToGrid="0" showGuides="1">
      <p:cViewPr>
        <p:scale>
          <a:sx n="70" d="100"/>
          <a:sy n="70" d="100"/>
        </p:scale>
        <p:origin x="-1776" y="-485"/>
      </p:cViewPr>
      <p:guideLst>
        <p:guide orient="horz" pos="2160"/>
        <p:guide pos="249"/>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p:scale>
          <a:sx n="70" d="100"/>
          <a:sy n="70" d="100"/>
        </p:scale>
        <p:origin x="-2088" y="-276"/>
      </p:cViewPr>
      <p:guideLst>
        <p:guide orient="horz" pos="2801"/>
        <p:guide pos="1220"/>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sz="quarter" idx="1"/>
          </p:nvPr>
        </p:nvSpPr>
        <p:spPr>
          <a:xfrm>
            <a:off x="4143587" y="0"/>
            <a:ext cx="3169920" cy="480060"/>
          </a:xfrm>
          <a:prstGeom prst="rect">
            <a:avLst/>
          </a:prstGeom>
        </p:spPr>
        <p:txBody>
          <a:bodyPr vert="horz" lIns="96661" tIns="48331" rIns="96661" bIns="48331" rtlCol="0"/>
          <a:lstStyle>
            <a:lvl1pPr algn="r">
              <a:defRPr sz="1300"/>
            </a:lvl1pPr>
          </a:lstStyle>
          <a:p>
            <a:fld id="{DB228672-4337-41E0-A109-2BF6C0A0EED5}" type="datetimeFigureOut">
              <a:rPr lang="en-US" smtClean="0"/>
              <a:pPr/>
              <a:t>9/20/2022</a:t>
            </a:fld>
            <a:endParaRPr lang="en-US"/>
          </a:p>
        </p:txBody>
      </p:sp>
      <p:sp>
        <p:nvSpPr>
          <p:cNvPr id="4" name="Footer Placeholder 3"/>
          <p:cNvSpPr>
            <a:spLocks noGrp="1"/>
          </p:cNvSpPr>
          <p:nvPr>
            <p:ph type="ftr" sz="quarter" idx="2"/>
          </p:nvPr>
        </p:nvSpPr>
        <p:spPr>
          <a:xfrm>
            <a:off x="0" y="9119474"/>
            <a:ext cx="3169920" cy="480060"/>
          </a:xfrm>
          <a:prstGeom prst="rect">
            <a:avLst/>
          </a:prstGeom>
        </p:spPr>
        <p:txBody>
          <a:bodyPr vert="horz" lIns="96661" tIns="48331" rIns="96661" bIns="48331" rtlCol="0" anchor="b"/>
          <a:lstStyle>
            <a:lvl1pPr algn="l">
              <a:defRPr sz="1300"/>
            </a:lvl1pPr>
          </a:lstStyle>
          <a:p>
            <a:r>
              <a:rPr lang="en-US" smtClean="0"/>
              <a:t>Page XX-#</a:t>
            </a:r>
            <a:endParaRPr lang="en-US"/>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61" tIns="48331" rIns="96661" bIns="48331" rtlCol="0" anchor="b"/>
          <a:lstStyle>
            <a:lvl1pPr algn="r">
              <a:defRPr sz="1300"/>
            </a:lvl1pPr>
          </a:lstStyle>
          <a:p>
            <a:fld id="{0381AB50-9623-476D-A480-EBA540222513}" type="slidenum">
              <a:rPr lang="en-US" smtClean="0"/>
              <a:pPr/>
              <a:t>‹#›</a:t>
            </a:fld>
            <a:endParaRPr lang="en-US"/>
          </a:p>
        </p:txBody>
      </p:sp>
    </p:spTree>
    <p:extLst>
      <p:ext uri="{BB962C8B-B14F-4D97-AF65-F5344CB8AC3E}">
        <p14:creationId xmlns="" xmlns:p14="http://schemas.microsoft.com/office/powerpoint/2010/main" val="2812618692"/>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1930400" y="720725"/>
            <a:ext cx="4800600" cy="3600450"/>
          </a:xfrm>
          <a:prstGeom prst="rect">
            <a:avLst/>
          </a:prstGeom>
          <a:noFill/>
          <a:ln w="12700">
            <a:solidFill>
              <a:prstClr val="black"/>
            </a:solidFill>
          </a:ln>
        </p:spPr>
        <p:txBody>
          <a:bodyPr vert="horz" lIns="96661" tIns="48331" rIns="96661" bIns="48331" rtlCol="0" anchor="ctr"/>
          <a:lstStyle/>
          <a:p>
            <a:r>
              <a:rPr lang="en-US" dirty="0" smtClean="0"/>
              <a:t>text</a:t>
            </a:r>
            <a:endParaRPr lang="en-US" dirty="0"/>
          </a:p>
        </p:txBody>
      </p:sp>
      <p:sp>
        <p:nvSpPr>
          <p:cNvPr id="5" name="Notes Placeholder 4"/>
          <p:cNvSpPr>
            <a:spLocks noGrp="1"/>
          </p:cNvSpPr>
          <p:nvPr>
            <p:ph type="body" sz="quarter" idx="3"/>
          </p:nvPr>
        </p:nvSpPr>
        <p:spPr>
          <a:xfrm>
            <a:off x="1936750" y="4447617"/>
            <a:ext cx="4826644" cy="4320540"/>
          </a:xfrm>
          <a:prstGeom prst="rect">
            <a:avLst/>
          </a:prstGeom>
        </p:spPr>
        <p:txBody>
          <a:bodyPr vert="horz" lIns="96661" tIns="48331" rIns="96661" bIns="48331"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0" name="Line 8"/>
          <p:cNvSpPr>
            <a:spLocks noChangeShapeType="1"/>
          </p:cNvSpPr>
          <p:nvPr/>
        </p:nvSpPr>
        <p:spPr bwMode="auto">
          <a:xfrm>
            <a:off x="1604976" y="600075"/>
            <a:ext cx="0" cy="8401050"/>
          </a:xfrm>
          <a:prstGeom prst="line">
            <a:avLst/>
          </a:prstGeom>
          <a:noFill/>
          <a:ln w="9525">
            <a:solidFill>
              <a:schemeClr val="tx1"/>
            </a:solidFill>
            <a:round/>
            <a:headEnd/>
            <a:tailEnd/>
          </a:ln>
          <a:effectLst/>
        </p:spPr>
        <p:txBody>
          <a:bodyPr lIns="96661" tIns="48331" rIns="96661" bIns="48331"/>
          <a:lstStyle/>
          <a:p>
            <a:endParaRPr lang="en-US"/>
          </a:p>
        </p:txBody>
      </p:sp>
      <p:sp>
        <p:nvSpPr>
          <p:cNvPr id="11" name="Rectangle 14"/>
          <p:cNvSpPr>
            <a:spLocks noChangeArrowheads="1"/>
          </p:cNvSpPr>
          <p:nvPr/>
        </p:nvSpPr>
        <p:spPr bwMode="auto">
          <a:xfrm>
            <a:off x="257387" y="160021"/>
            <a:ext cx="6934201" cy="325041"/>
          </a:xfrm>
          <a:prstGeom prst="rect">
            <a:avLst/>
          </a:prstGeom>
          <a:noFill/>
          <a:ln w="9525">
            <a:noFill/>
            <a:miter lim="800000"/>
            <a:headEnd/>
            <a:tailEnd/>
          </a:ln>
          <a:effectLst/>
        </p:spPr>
        <p:txBody>
          <a:bodyPr lIns="97725" tIns="48862" rIns="97725" bIns="48862"/>
          <a:lstStyle/>
          <a:p>
            <a:pPr marL="0" marR="0" indent="0" algn="l" defTabSz="966612" rtl="0" eaLnBrk="1" fontAlgn="auto" latinLnBrk="0" hangingPunct="1">
              <a:lnSpc>
                <a:spcPct val="100000"/>
              </a:lnSpc>
              <a:spcBef>
                <a:spcPts val="0"/>
              </a:spcBef>
              <a:spcAft>
                <a:spcPts val="0"/>
              </a:spcAft>
              <a:buClrTx/>
              <a:buSzTx/>
              <a:buFontTx/>
              <a:buNone/>
              <a:tabLst/>
              <a:defRPr/>
            </a:pPr>
            <a:r>
              <a:rPr lang="en-US" sz="1200" dirty="0" smtClean="0">
                <a:latin typeface="Arial" pitchFamily="34" charset="0"/>
                <a:cs typeface="Arial" pitchFamily="34" charset="0"/>
              </a:rPr>
              <a:t>Core Java 8 and Development Tools                               </a:t>
            </a:r>
            <a:r>
              <a:rPr lang="en-US" sz="1200" baseline="0" dirty="0" smtClean="0">
                <a:latin typeface="Arial" pitchFamily="34" charset="0"/>
                <a:cs typeface="Arial" pitchFamily="34" charset="0"/>
              </a:rPr>
              <a:t>                           </a:t>
            </a:r>
            <a:r>
              <a:rPr lang="en-US" sz="1200" dirty="0" smtClean="0">
                <a:latin typeface="Arial" pitchFamily="34" charset="0"/>
                <a:cs typeface="Arial" pitchFamily="34" charset="0"/>
              </a:rPr>
              <a:t>Lambda Expressions		</a:t>
            </a:r>
            <a:endParaRPr lang="en-US" sz="1200" dirty="0">
              <a:latin typeface="Arial" pitchFamily="34" charset="0"/>
              <a:cs typeface="Arial" pitchFamily="34" charset="0"/>
            </a:endParaRPr>
          </a:p>
        </p:txBody>
      </p:sp>
      <p:sp>
        <p:nvSpPr>
          <p:cNvPr id="12" name="Rectangle 14"/>
          <p:cNvSpPr>
            <a:spLocks noChangeArrowheads="1"/>
          </p:cNvSpPr>
          <p:nvPr/>
        </p:nvSpPr>
        <p:spPr bwMode="auto">
          <a:xfrm>
            <a:off x="3831187" y="8788595"/>
            <a:ext cx="2946699" cy="341758"/>
          </a:xfrm>
          <a:prstGeom prst="rect">
            <a:avLst/>
          </a:prstGeom>
          <a:noFill/>
          <a:ln w="9525">
            <a:noFill/>
            <a:miter lim="800000"/>
            <a:headEnd/>
            <a:tailEnd/>
          </a:ln>
          <a:effectLst/>
        </p:spPr>
        <p:txBody>
          <a:bodyPr lIns="97725" tIns="48862" rIns="97725" bIns="48862"/>
          <a:lstStyle/>
          <a:p>
            <a:pPr marL="0" marR="0" indent="0" algn="l" defTabSz="966612" rtl="0" eaLnBrk="1" fontAlgn="auto" latinLnBrk="0" hangingPunct="1">
              <a:lnSpc>
                <a:spcPct val="100000"/>
              </a:lnSpc>
              <a:spcBef>
                <a:spcPts val="0"/>
              </a:spcBef>
              <a:spcAft>
                <a:spcPts val="0"/>
              </a:spcAft>
              <a:buClrTx/>
              <a:buSzTx/>
              <a:buFontTx/>
              <a:buNone/>
              <a:tabLst/>
              <a:defRPr/>
            </a:pPr>
            <a:r>
              <a:rPr lang="en-US" sz="1100" dirty="0" smtClean="0">
                <a:latin typeface="Arial" pitchFamily="34" charset="0"/>
                <a:cs typeface="Arial" pitchFamily="34" charset="0"/>
              </a:rPr>
              <a:t>		 Page 21-</a:t>
            </a:r>
            <a:fld id="{BD9FB300-F9DC-4669-88F4-967ABA23CC04}" type="slidenum">
              <a:rPr lang="en-US" sz="1100" smtClean="0">
                <a:latin typeface="Arial" pitchFamily="34" charset="0"/>
                <a:cs typeface="Arial" pitchFamily="34" charset="0"/>
              </a:rPr>
              <a:pPr marL="0" marR="0" indent="0" algn="l" defTabSz="966612" rtl="0" eaLnBrk="1" fontAlgn="auto" latinLnBrk="0" hangingPunct="1">
                <a:lnSpc>
                  <a:spcPct val="100000"/>
                </a:lnSpc>
                <a:spcBef>
                  <a:spcPts val="0"/>
                </a:spcBef>
                <a:spcAft>
                  <a:spcPts val="0"/>
                </a:spcAft>
                <a:buClrTx/>
                <a:buSzTx/>
                <a:buFontTx/>
                <a:buNone/>
                <a:tabLst/>
                <a:defRPr/>
              </a:pPr>
              <a:t>‹#›</a:t>
            </a:fld>
            <a:r>
              <a:rPr lang="en-US" sz="1100" dirty="0" smtClean="0">
                <a:latin typeface="Arial" pitchFamily="34" charset="0"/>
                <a:cs typeface="Arial" pitchFamily="34" charset="0"/>
              </a:rPr>
              <a:t> </a:t>
            </a:r>
          </a:p>
          <a:p>
            <a:r>
              <a:rPr lang="en-US" sz="1100" dirty="0" smtClean="0">
                <a:latin typeface="Arial" pitchFamily="34" charset="0"/>
                <a:cs typeface="Arial" pitchFamily="34" charset="0"/>
              </a:rPr>
              <a:t>  </a:t>
            </a:r>
            <a:endParaRPr lang="en-US" sz="1100" dirty="0">
              <a:latin typeface="Arial" pitchFamily="34" charset="0"/>
              <a:cs typeface="Arial" pitchFamily="34" charset="0"/>
            </a:endParaRPr>
          </a:p>
        </p:txBody>
      </p:sp>
    </p:spTree>
    <p:extLst>
      <p:ext uri="{BB962C8B-B14F-4D97-AF65-F5344CB8AC3E}">
        <p14:creationId xmlns="" xmlns:p14="http://schemas.microsoft.com/office/powerpoint/2010/main" val="1122094422"/>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000" kern="1200">
        <a:solidFill>
          <a:schemeClr val="tx1"/>
        </a:solidFill>
        <a:latin typeface="Arial" pitchFamily="34" charset="0"/>
        <a:ea typeface="+mn-ea"/>
        <a:cs typeface="Arial" pitchFamily="34" charset="0"/>
      </a:defRPr>
    </a:lvl1pPr>
    <a:lvl2pPr marL="457200" algn="l" defTabSz="914400" rtl="0" eaLnBrk="1" latinLnBrk="0" hangingPunct="1">
      <a:defRPr sz="1000" kern="1200">
        <a:solidFill>
          <a:schemeClr val="tx1"/>
        </a:solidFill>
        <a:latin typeface="Arial" pitchFamily="34" charset="0"/>
        <a:ea typeface="+mn-ea"/>
        <a:cs typeface="Arial" pitchFamily="34" charset="0"/>
      </a:defRPr>
    </a:lvl2pPr>
    <a:lvl3pPr marL="914400" algn="l" defTabSz="914400" rtl="0" eaLnBrk="1" latinLnBrk="0" hangingPunct="1">
      <a:defRPr sz="1000" kern="1200">
        <a:solidFill>
          <a:schemeClr val="tx1"/>
        </a:solidFill>
        <a:latin typeface="Arial" pitchFamily="34" charset="0"/>
        <a:ea typeface="+mn-ea"/>
        <a:cs typeface="Arial" pitchFamily="34" charset="0"/>
      </a:defRPr>
    </a:lvl3pPr>
    <a:lvl4pPr marL="1371600" algn="l" defTabSz="914400" rtl="0" eaLnBrk="1" latinLnBrk="0" hangingPunct="1">
      <a:defRPr sz="1000" kern="1200">
        <a:solidFill>
          <a:schemeClr val="tx1"/>
        </a:solidFill>
        <a:latin typeface="Arial" pitchFamily="34" charset="0"/>
        <a:ea typeface="+mn-ea"/>
        <a:cs typeface="Arial" pitchFamily="34" charset="0"/>
      </a:defRPr>
    </a:lvl4pPr>
    <a:lvl5pPr marL="1828800" algn="l" defTabSz="914400" rtl="0" eaLnBrk="1" latinLnBrk="0" hangingPunct="1">
      <a:defRPr sz="10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p:cNvSpPr>
            <a:spLocks noGrp="1" noRot="1" noChangeAspect="1"/>
          </p:cNvSpPr>
          <p:nvPr>
            <p:ph type="sldImg"/>
          </p:nvPr>
        </p:nvSpPr>
        <p:spPr>
          <a:xfrm>
            <a:off x="1931988" y="720725"/>
            <a:ext cx="4800600" cy="3600450"/>
          </a:xfrm>
        </p:spPr>
      </p:sp>
      <p:sp>
        <p:nvSpPr>
          <p:cNvPr id="6" name="Notes Placeholder 5"/>
          <p:cNvSpPr>
            <a:spLocks noGrp="1"/>
          </p:cNvSpPr>
          <p:nvPr>
            <p:ph type="body" idx="1"/>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smtClean="0"/>
              <a:t>This lesson covers new feature in Java 8, lambda expressions. It also covers concepts of functional interfaces and method references. </a:t>
            </a:r>
          </a:p>
          <a:p>
            <a:endParaRPr lang="en-US" dirty="0" smtClean="0"/>
          </a:p>
          <a:p>
            <a:r>
              <a:rPr lang="en-US" dirty="0" smtClean="0"/>
              <a:t>Lesson outline: </a:t>
            </a:r>
          </a:p>
          <a:p>
            <a:endParaRPr lang="en-US" dirty="0" smtClean="0"/>
          </a:p>
          <a:p>
            <a:pPr lvl="1"/>
            <a:r>
              <a:rPr lang="en-US" dirty="0" smtClean="0"/>
              <a:t>21.1: Introduction</a:t>
            </a:r>
          </a:p>
          <a:p>
            <a:pPr lvl="1"/>
            <a:r>
              <a:rPr lang="en-US" dirty="0" smtClean="0"/>
              <a:t>21.2: Writing Lambda Expressions</a:t>
            </a:r>
          </a:p>
          <a:p>
            <a:pPr lvl="1"/>
            <a:r>
              <a:rPr lang="en-US" dirty="0" smtClean="0"/>
              <a:t>21.3: Functional Interfaces</a:t>
            </a:r>
          </a:p>
          <a:p>
            <a:pPr lvl="1"/>
            <a:r>
              <a:rPr lang="en-US" dirty="0" smtClean="0"/>
              <a:t>21.4: Types of Functional Interfaces</a:t>
            </a:r>
          </a:p>
          <a:p>
            <a:pPr lvl="1"/>
            <a:r>
              <a:rPr lang="en-US" dirty="0" smtClean="0"/>
              <a:t>21.5: Method reference</a:t>
            </a:r>
          </a:p>
          <a:p>
            <a:pPr lvl="1"/>
            <a:r>
              <a:rPr lang="en-US" dirty="0" smtClean="0"/>
              <a:t>21.6: Best practices</a:t>
            </a:r>
          </a:p>
          <a:p>
            <a:endParaRPr lang="en-US" dirty="0"/>
          </a:p>
        </p:txBody>
      </p:sp>
      <p:sp>
        <p:nvSpPr>
          <p:cNvPr id="6" name="Slide Image Placeholder 5"/>
          <p:cNvSpPr>
            <a:spLocks noGrp="1" noRot="1" noChangeAspect="1"/>
          </p:cNvSpPr>
          <p:nvPr>
            <p:ph type="sldImg"/>
          </p:nvPr>
        </p:nvSpPr>
        <p:spPr>
          <a:xfrm>
            <a:off x="1931988" y="720725"/>
            <a:ext cx="4800600" cy="3600450"/>
          </a:xfr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smtClean="0"/>
              <a:t>Before we get into the discussion of Lambda expressions, lets first have a look at functional interfaces. When an interface is declared with only one abstract method, then it is referred as Functional Interface. The method in functional interface is called as functional method. Along with the functional method, you can also add default and static method to functional interface. Optionally such interfaces can be annotated with @</a:t>
            </a:r>
            <a:r>
              <a:rPr lang="en-US" dirty="0" err="1" smtClean="0"/>
              <a:t>FunctionalInterface</a:t>
            </a:r>
            <a:r>
              <a:rPr lang="en-US" dirty="0" smtClean="0"/>
              <a:t> annotation. This annotation is not a requirement for the compiler to recognize an interface as a functional interface, but merely an aid to capture design intent and enlist the help of the compiler in identifying accidental violations of design intent.</a:t>
            </a:r>
          </a:p>
          <a:p>
            <a:endParaRPr lang="en-US" dirty="0" smtClean="0"/>
          </a:p>
          <a:p>
            <a:r>
              <a:rPr lang="en-US" dirty="0" smtClean="0"/>
              <a:t>Note: An empty interface is called as “Marker Interface”.</a:t>
            </a:r>
          </a:p>
          <a:p>
            <a:endParaRPr lang="en-US" dirty="0" smtClean="0"/>
          </a:p>
        </p:txBody>
      </p:sp>
      <p:sp>
        <p:nvSpPr>
          <p:cNvPr id="6" name="Slide Image Placeholder 5"/>
          <p:cNvSpPr>
            <a:spLocks noGrp="1" noRot="1" noChangeAspect="1"/>
          </p:cNvSpPr>
          <p:nvPr>
            <p:ph type="sldImg"/>
          </p:nvPr>
        </p:nvSpPr>
        <p:spPr>
          <a:xfrm>
            <a:off x="1931988" y="720725"/>
            <a:ext cx="4800600" cy="3600450"/>
          </a:xfr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smtClean="0"/>
              <a:t>As shown in the slide example, a functional interface is annotated with @</a:t>
            </a:r>
            <a:r>
              <a:rPr lang="en-US" dirty="0" err="1" smtClean="0"/>
              <a:t>FunctionalInterface</a:t>
            </a:r>
            <a:r>
              <a:rPr lang="en-US" dirty="0" smtClean="0"/>
              <a:t> so as it instructs compiler to rectify any rules violation. </a:t>
            </a:r>
          </a:p>
        </p:txBody>
      </p:sp>
      <p:sp>
        <p:nvSpPr>
          <p:cNvPr id="6" name="Slide Image Placeholder 5"/>
          <p:cNvSpPr>
            <a:spLocks noGrp="1" noRot="1" noChangeAspect="1"/>
          </p:cNvSpPr>
          <p:nvPr>
            <p:ph type="sldImg"/>
          </p:nvPr>
        </p:nvSpPr>
        <p:spPr>
          <a:xfrm>
            <a:off x="1931988" y="720725"/>
            <a:ext cx="4800600" cy="3600450"/>
          </a:xfr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smtClean="0"/>
              <a:t>The slides shows one way to implement the functional interfaces. Is it worthy to create separate class for single method implementation? </a:t>
            </a:r>
          </a:p>
          <a:p>
            <a:endParaRPr lang="en-US" dirty="0"/>
          </a:p>
        </p:txBody>
      </p:sp>
      <p:sp>
        <p:nvSpPr>
          <p:cNvPr id="6" name="Slide Image Placeholder 5"/>
          <p:cNvSpPr>
            <a:spLocks noGrp="1" noRot="1" noChangeAspect="1"/>
          </p:cNvSpPr>
          <p:nvPr>
            <p:ph type="sldImg"/>
          </p:nvPr>
        </p:nvSpPr>
        <p:spPr>
          <a:xfrm>
            <a:off x="1931988" y="720725"/>
            <a:ext cx="4800600" cy="3600450"/>
          </a:xfr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smtClean="0"/>
              <a:t>The slides shows how to implement the functional interfaces using lambda expression. This way is more concise as we are implementing functional interface without creating additional class.</a:t>
            </a:r>
          </a:p>
          <a:p>
            <a:endParaRPr lang="en-US" dirty="0" smtClean="0"/>
          </a:p>
          <a:p>
            <a:r>
              <a:rPr lang="en-US" dirty="0" smtClean="0"/>
              <a:t>Lets discover the lambda expression in detail.  </a:t>
            </a:r>
          </a:p>
          <a:p>
            <a:endParaRPr lang="en-US" dirty="0"/>
          </a:p>
        </p:txBody>
      </p:sp>
      <p:sp>
        <p:nvSpPr>
          <p:cNvPr id="5" name="Slide Image Placeholder 4"/>
          <p:cNvSpPr>
            <a:spLocks noGrp="1" noRot="1" noChangeAspect="1"/>
          </p:cNvSpPr>
          <p:nvPr>
            <p:ph type="sldImg"/>
          </p:nvPr>
        </p:nvSpPr>
        <p:spPr>
          <a:xfrm>
            <a:off x="1931988" y="720725"/>
            <a:ext cx="4800600" cy="3600450"/>
          </a:xfr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smtClean="0"/>
              <a:t>What is Lambda expression?</a:t>
            </a:r>
          </a:p>
          <a:p>
            <a:endParaRPr lang="en-US" dirty="0" smtClean="0"/>
          </a:p>
          <a:p>
            <a:r>
              <a:rPr lang="en-US" dirty="0" smtClean="0"/>
              <a:t>Lambda expression allows for creation and use of single method anonymous classes instead of creating separate concrete class for functional interface implementation.</a:t>
            </a:r>
          </a:p>
          <a:p>
            <a:endParaRPr lang="en-US" dirty="0" smtClean="0"/>
          </a:p>
          <a:p>
            <a:r>
              <a:rPr lang="en-US" dirty="0" smtClean="0"/>
              <a:t>A lambda expression is an anonymous block of code that encapsulates an expression or a series of statements and returns a result. They can accept zero or more parameters, any of which can be passed with or without type specification since the type can be automatically derived from the context.</a:t>
            </a:r>
          </a:p>
          <a:p>
            <a:endParaRPr lang="en-US" dirty="0" smtClean="0"/>
          </a:p>
          <a:p>
            <a:r>
              <a:rPr lang="en-US" dirty="0" smtClean="0"/>
              <a:t>The parameter list for a lambda expression can include zero or more arguments. If there are no arguments, then an empty set of parentheses can be used. No parenthesis is required for single argument.</a:t>
            </a:r>
          </a:p>
          <a:p>
            <a:endParaRPr lang="en-US" dirty="0" smtClean="0"/>
          </a:p>
          <a:p>
            <a:r>
              <a:rPr lang="en-US" dirty="0" smtClean="0"/>
              <a:t>Why Lambda Expressions?</a:t>
            </a:r>
          </a:p>
          <a:p>
            <a:endParaRPr lang="en-US" dirty="0" smtClean="0"/>
          </a:p>
          <a:p>
            <a:r>
              <a:rPr lang="en-US" dirty="0" smtClean="0"/>
              <a:t>Lambda expressions are an important addition to Java that greatly improves overall maintainability, readability, and developer productivity. They can be applied in many different contexts, ranging from simple anonymous functions to sorting and filtering Collections. Moreover, lambda expressions can be assigned to variables and then passed into other objects.</a:t>
            </a:r>
          </a:p>
        </p:txBody>
      </p:sp>
      <p:sp>
        <p:nvSpPr>
          <p:cNvPr id="6" name="Slide Image Placeholder 5"/>
          <p:cNvSpPr>
            <a:spLocks noGrp="1" noRot="1" noChangeAspect="1"/>
          </p:cNvSpPr>
          <p:nvPr>
            <p:ph type="sldImg"/>
          </p:nvPr>
        </p:nvSpPr>
        <p:spPr>
          <a:xfrm>
            <a:off x="1931988" y="720725"/>
            <a:ext cx="4800600" cy="3600450"/>
          </a:xfr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p:cNvSpPr>
            <a:spLocks noGrp="1" noRot="1" noChangeAspect="1"/>
          </p:cNvSpPr>
          <p:nvPr>
            <p:ph type="sldImg"/>
          </p:nvPr>
        </p:nvSpPr>
        <p:spPr>
          <a:xfrm>
            <a:off x="1931988" y="720725"/>
            <a:ext cx="4800600" cy="3600450"/>
          </a:xfrm>
        </p:spPr>
      </p:sp>
      <p:sp>
        <p:nvSpPr>
          <p:cNvPr id="6" name="Notes Placeholder 5"/>
          <p:cNvSpPr>
            <a:spLocks noGrp="1"/>
          </p:cNvSpPr>
          <p:nvPr>
            <p:ph type="body" idx="1"/>
          </p:nvPr>
        </p:nvSpPr>
        <p:spPr/>
        <p:txBody>
          <a:bodyPr/>
          <a:lstStyle/>
          <a:p>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931988" y="720725"/>
            <a:ext cx="4800600" cy="3600450"/>
          </a:xfrm>
        </p:spPr>
      </p:sp>
      <p:sp>
        <p:nvSpPr>
          <p:cNvPr id="3" name="Notes Placeholder 2"/>
          <p:cNvSpPr>
            <a:spLocks noGrp="1"/>
          </p:cNvSpPr>
          <p:nvPr>
            <p:ph type="body" idx="1"/>
          </p:nvPr>
        </p:nvSpPr>
        <p:spPr/>
        <p:txBody>
          <a:bodyPr/>
          <a:lstStyle/>
          <a:p>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smtClean="0"/>
              <a:t>Built-in Functional Interfaces</a:t>
            </a:r>
          </a:p>
          <a:p>
            <a:endParaRPr lang="en-US" dirty="0" smtClean="0"/>
          </a:p>
          <a:p>
            <a:r>
              <a:rPr lang="en-US" dirty="0" smtClean="0"/>
              <a:t>As we have learnt so far, functional interfaces can be implemented by writing lambda expressions. Does it means, we have to write functional interface every time if we want to work with Lambda expressions? </a:t>
            </a:r>
          </a:p>
          <a:p>
            <a:endParaRPr lang="en-US" dirty="0" smtClean="0"/>
          </a:p>
          <a:p>
            <a:r>
              <a:rPr lang="en-US" dirty="0" smtClean="0"/>
              <a:t>Certainly no. As Java 8 comes with dozens of built-in functional interfaces, all are written and kept in </a:t>
            </a:r>
            <a:r>
              <a:rPr lang="en-US" dirty="0" err="1" smtClean="0"/>
              <a:t>java.util.function</a:t>
            </a:r>
            <a:r>
              <a:rPr lang="en-US" dirty="0" smtClean="0"/>
              <a:t> package. These interfaces can be useful when implementing lambda expressions. </a:t>
            </a:r>
          </a:p>
          <a:p>
            <a:endParaRPr lang="en-US" dirty="0" smtClean="0"/>
          </a:p>
          <a:p>
            <a:r>
              <a:rPr lang="en-US" dirty="0" smtClean="0"/>
              <a:t>All of these functional interfaces are written in generics format and hence can be applied in many different contexts. Use of such interfaces can greatly reduce the amount of code. </a:t>
            </a:r>
          </a:p>
          <a:p>
            <a:endParaRPr lang="en-US" dirty="0" smtClean="0"/>
          </a:p>
          <a:p>
            <a:r>
              <a:rPr lang="en-US" dirty="0" smtClean="0"/>
              <a:t>Functional Interfaces are categories into four types:</a:t>
            </a:r>
          </a:p>
          <a:p>
            <a:endParaRPr lang="en-US" dirty="0" smtClean="0"/>
          </a:p>
          <a:p>
            <a:r>
              <a:rPr lang="en-US" dirty="0" smtClean="0"/>
              <a:t>Supplier</a:t>
            </a:r>
          </a:p>
          <a:p>
            <a:r>
              <a:rPr lang="en-US" dirty="0" smtClean="0"/>
              <a:t>Consumer</a:t>
            </a:r>
          </a:p>
          <a:p>
            <a:r>
              <a:rPr lang="en-US" dirty="0" smtClean="0"/>
              <a:t>Predicate</a:t>
            </a:r>
          </a:p>
          <a:p>
            <a:r>
              <a:rPr lang="en-US" dirty="0" smtClean="0"/>
              <a:t>Function</a:t>
            </a:r>
          </a:p>
          <a:p>
            <a:endParaRPr lang="en-US" dirty="0" smtClean="0"/>
          </a:p>
          <a:p>
            <a:r>
              <a:rPr lang="en-US" dirty="0" smtClean="0"/>
              <a:t>Lets discover the each type in detail!</a:t>
            </a:r>
          </a:p>
        </p:txBody>
      </p:sp>
      <p:sp>
        <p:nvSpPr>
          <p:cNvPr id="6" name="Slide Image Placeholder 5"/>
          <p:cNvSpPr>
            <a:spLocks noGrp="1" noRot="1" noChangeAspect="1"/>
          </p:cNvSpPr>
          <p:nvPr>
            <p:ph type="sldImg"/>
          </p:nvPr>
        </p:nvSpPr>
        <p:spPr>
          <a:xfrm>
            <a:off x="1931988" y="720725"/>
            <a:ext cx="4800600" cy="3600450"/>
          </a:xfr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smtClean="0"/>
              <a:t>Supplier&lt;T&gt;</a:t>
            </a:r>
          </a:p>
          <a:p>
            <a:endParaRPr lang="en-US" dirty="0" smtClean="0"/>
          </a:p>
          <a:p>
            <a:r>
              <a:rPr lang="en-US" dirty="0" smtClean="0"/>
              <a:t>As the name suggest, Supplier&lt;T&gt; interface contains only one method get() which accepts no arguments but supplies a new object of type T. There are few predefined suppliers which returns object of specified type. For example, </a:t>
            </a:r>
            <a:r>
              <a:rPr lang="en-US" dirty="0" err="1" smtClean="0"/>
              <a:t>BooleanSupplier</a:t>
            </a:r>
            <a:r>
              <a:rPr lang="en-US" dirty="0" smtClean="0"/>
              <a:t> supplies Boolean valued results.  </a:t>
            </a:r>
          </a:p>
        </p:txBody>
      </p:sp>
      <p:sp>
        <p:nvSpPr>
          <p:cNvPr id="6" name="Slide Image Placeholder 5"/>
          <p:cNvSpPr>
            <a:spLocks noGrp="1" noRot="1" noChangeAspect="1"/>
          </p:cNvSpPr>
          <p:nvPr>
            <p:ph type="sldImg"/>
          </p:nvPr>
        </p:nvSpPr>
        <p:spPr>
          <a:xfrm>
            <a:off x="1931988" y="720725"/>
            <a:ext cx="4800600" cy="3600450"/>
          </a:xfr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smtClean="0"/>
              <a:t>Consumer&lt;T&gt;/</a:t>
            </a:r>
            <a:r>
              <a:rPr lang="en-US" dirty="0" err="1" smtClean="0"/>
              <a:t>BiConsumer</a:t>
            </a:r>
            <a:r>
              <a:rPr lang="en-US" dirty="0" smtClean="0"/>
              <a:t>&lt;T,U&gt;</a:t>
            </a:r>
          </a:p>
          <a:p>
            <a:endParaRPr lang="en-US" dirty="0" smtClean="0"/>
          </a:p>
          <a:p>
            <a:r>
              <a:rPr lang="en-US" dirty="0" smtClean="0"/>
              <a:t>Consumers are of two types, a Consumer&lt;T&gt; accepts a single object and returns nothing, while the another </a:t>
            </a:r>
            <a:r>
              <a:rPr lang="en-US" dirty="0" err="1" smtClean="0"/>
              <a:t>BiConsumer</a:t>
            </a:r>
            <a:r>
              <a:rPr lang="en-US" dirty="0" smtClean="0"/>
              <a:t>&lt;T&gt; accepts two objects of any type and returns nothing. It contains a single method called accept() as shown in the slide. </a:t>
            </a:r>
          </a:p>
          <a:p>
            <a:endParaRPr lang="en-US" dirty="0" smtClean="0"/>
          </a:p>
          <a:p>
            <a:endParaRPr lang="en-US" dirty="0" smtClean="0"/>
          </a:p>
        </p:txBody>
      </p:sp>
      <p:sp>
        <p:nvSpPr>
          <p:cNvPr id="6" name="Slide Image Placeholder 5"/>
          <p:cNvSpPr>
            <a:spLocks noGrp="1" noRot="1" noChangeAspect="1"/>
          </p:cNvSpPr>
          <p:nvPr>
            <p:ph type="sldImg"/>
          </p:nvPr>
        </p:nvSpPr>
        <p:spPr>
          <a:xfrm>
            <a:off x="1931988" y="720725"/>
            <a:ext cx="4800600" cy="3600450"/>
          </a:xfr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smtClean="0"/>
              <a:t>Predicate&lt;T&gt;/</a:t>
            </a:r>
            <a:r>
              <a:rPr lang="en-US" dirty="0" err="1" smtClean="0"/>
              <a:t>BiPredicate</a:t>
            </a:r>
            <a:r>
              <a:rPr lang="en-US" dirty="0" smtClean="0"/>
              <a:t>&lt;T,U&gt;</a:t>
            </a:r>
          </a:p>
          <a:p>
            <a:endParaRPr lang="en-US" dirty="0" smtClean="0"/>
          </a:p>
          <a:p>
            <a:r>
              <a:rPr lang="en-US" dirty="0" smtClean="0"/>
              <a:t>In mathematics, a predicate is a </a:t>
            </a:r>
            <a:r>
              <a:rPr lang="en-US" dirty="0" err="1" smtClean="0"/>
              <a:t>boolean</a:t>
            </a:r>
            <a:r>
              <a:rPr lang="en-US" dirty="0" smtClean="0"/>
              <a:t>-valued function that takes an argument and returns true or false. The function represents a condition that returns true or false for the specified argument. The other type </a:t>
            </a:r>
            <a:r>
              <a:rPr lang="en-US" dirty="0" err="1" smtClean="0"/>
              <a:t>BiPredicate</a:t>
            </a:r>
            <a:r>
              <a:rPr lang="en-US" dirty="0" smtClean="0"/>
              <a:t> is a predicate of two arguments which returns a Boolean value.</a:t>
            </a:r>
          </a:p>
          <a:p>
            <a:endParaRPr lang="en-US" dirty="0" smtClean="0"/>
          </a:p>
        </p:txBody>
      </p:sp>
      <p:sp>
        <p:nvSpPr>
          <p:cNvPr id="6" name="Slide Image Placeholder 5"/>
          <p:cNvSpPr>
            <a:spLocks noGrp="1" noRot="1" noChangeAspect="1"/>
          </p:cNvSpPr>
          <p:nvPr>
            <p:ph type="sldImg"/>
          </p:nvPr>
        </p:nvSpPr>
        <p:spPr>
          <a:xfrm>
            <a:off x="1931988" y="720725"/>
            <a:ext cx="4800600" cy="3600450"/>
          </a:xfr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smtClean="0"/>
              <a:t>Function&lt;T,R&gt;/</a:t>
            </a:r>
            <a:r>
              <a:rPr lang="en-US" dirty="0" err="1" smtClean="0"/>
              <a:t>BiFunction</a:t>
            </a:r>
            <a:r>
              <a:rPr lang="en-US" dirty="0" smtClean="0"/>
              <a:t>&lt;T,U,R&gt;</a:t>
            </a:r>
          </a:p>
          <a:p>
            <a:endParaRPr lang="en-US" dirty="0" smtClean="0"/>
          </a:p>
          <a:p>
            <a:r>
              <a:rPr lang="en-US" dirty="0" smtClean="0"/>
              <a:t>Function&lt;T&gt; represents a function that takes an argument of type T</a:t>
            </a:r>
          </a:p>
          <a:p>
            <a:r>
              <a:rPr lang="en-US" dirty="0" smtClean="0"/>
              <a:t>and returns a result of type R. </a:t>
            </a:r>
            <a:r>
              <a:rPr lang="en-US" dirty="0" err="1" smtClean="0"/>
              <a:t>BiFunction</a:t>
            </a:r>
            <a:r>
              <a:rPr lang="en-US" dirty="0" smtClean="0"/>
              <a:t>&lt;T,U&gt; represents a function that takes two arguments of types T and U, and returns a result of type R.</a:t>
            </a:r>
          </a:p>
          <a:p>
            <a:endParaRPr lang="en-US" dirty="0" smtClean="0"/>
          </a:p>
          <a:p>
            <a:r>
              <a:rPr lang="en-US" dirty="0" err="1" smtClean="0"/>
              <a:t>UnaryOperator</a:t>
            </a:r>
            <a:r>
              <a:rPr lang="en-US" dirty="0" smtClean="0"/>
              <a:t>&lt;T,T&gt;</a:t>
            </a:r>
          </a:p>
          <a:p>
            <a:endParaRPr lang="en-US" dirty="0" smtClean="0"/>
          </a:p>
          <a:p>
            <a:r>
              <a:rPr lang="en-US" dirty="0" smtClean="0"/>
              <a:t>Inherits the Function&lt;T,T&gt;, where it accepts and return a result of type T.</a:t>
            </a:r>
          </a:p>
          <a:p>
            <a:endParaRPr lang="en-US" dirty="0" smtClean="0"/>
          </a:p>
          <a:p>
            <a:r>
              <a:rPr lang="en-US" dirty="0" err="1" smtClean="0"/>
              <a:t>BinaryOperator</a:t>
            </a:r>
            <a:r>
              <a:rPr lang="en-US" dirty="0" smtClean="0"/>
              <a:t>&lt;T&gt;</a:t>
            </a:r>
          </a:p>
          <a:p>
            <a:endParaRPr lang="en-US" dirty="0" smtClean="0"/>
          </a:p>
          <a:p>
            <a:r>
              <a:rPr lang="en-US" dirty="0" smtClean="0"/>
              <a:t>Inherits from </a:t>
            </a:r>
            <a:r>
              <a:rPr lang="en-US" dirty="0" err="1" smtClean="0"/>
              <a:t>BiFunction</a:t>
            </a:r>
            <a:r>
              <a:rPr lang="en-US" dirty="0" smtClean="0"/>
              <a:t>&lt;T,T,T&gt;. Represents a function that takes two arguments of the same type and returns a result of the same.</a:t>
            </a:r>
          </a:p>
          <a:p>
            <a:endParaRPr lang="en-US" dirty="0" smtClean="0"/>
          </a:p>
          <a:p>
            <a:r>
              <a:rPr lang="en-US" dirty="0" smtClean="0"/>
              <a:t>Having discussed the different types of functional interfaces, let see now how to use them to write lambda expressions. </a:t>
            </a:r>
          </a:p>
        </p:txBody>
      </p:sp>
      <p:sp>
        <p:nvSpPr>
          <p:cNvPr id="6" name="Slide Image Placeholder 5"/>
          <p:cNvSpPr>
            <a:spLocks noGrp="1" noRot="1" noChangeAspect="1"/>
          </p:cNvSpPr>
          <p:nvPr>
            <p:ph type="sldImg"/>
          </p:nvPr>
        </p:nvSpPr>
        <p:spPr>
          <a:xfrm>
            <a:off x="1931988" y="720725"/>
            <a:ext cx="4800600" cy="3600450"/>
          </a:xfr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p:cNvSpPr>
            <a:spLocks noGrp="1" noRot="1" noChangeAspect="1"/>
          </p:cNvSpPr>
          <p:nvPr>
            <p:ph type="sldImg"/>
          </p:nvPr>
        </p:nvSpPr>
        <p:spPr>
          <a:xfrm>
            <a:off x="1931988" y="720725"/>
            <a:ext cx="4800600" cy="3600450"/>
          </a:xfrm>
        </p:spPr>
      </p:sp>
      <p:sp>
        <p:nvSpPr>
          <p:cNvPr id="6" name="Notes Placeholder 5"/>
          <p:cNvSpPr>
            <a:spLocks noGrp="1"/>
          </p:cNvSpPr>
          <p:nvPr>
            <p:ph type="body" idx="1"/>
          </p:nvPr>
        </p:nvSpPr>
        <p:spPr/>
        <p:txBody>
          <a:bodyPr/>
          <a:lstStyle/>
          <a:p>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smtClean="0"/>
              <a:t>Using Built-in Functional Interfaces</a:t>
            </a:r>
          </a:p>
          <a:p>
            <a:endParaRPr lang="en-US" dirty="0" smtClean="0"/>
          </a:p>
          <a:p>
            <a:r>
              <a:rPr lang="en-US" dirty="0" smtClean="0"/>
              <a:t>The first example show a consumer of type string which accepts a string and return nothing but print the accepted string value. </a:t>
            </a:r>
          </a:p>
          <a:p>
            <a:endParaRPr lang="en-US" dirty="0" smtClean="0"/>
          </a:p>
          <a:p>
            <a:r>
              <a:rPr lang="en-US" dirty="0" smtClean="0"/>
              <a:t>The supplier is of type String which supplies an object of String to a consumer which prints it. </a:t>
            </a:r>
          </a:p>
          <a:p>
            <a:endParaRPr lang="en-US" dirty="0" smtClean="0"/>
          </a:p>
          <a:p>
            <a:r>
              <a:rPr lang="en-US" dirty="0" smtClean="0"/>
              <a:t>The predicate is used to accept integer objects and returns true or false based on even test on given number. </a:t>
            </a:r>
          </a:p>
          <a:p>
            <a:endParaRPr lang="en-US" dirty="0" smtClean="0"/>
          </a:p>
          <a:p>
            <a:r>
              <a:rPr lang="en-US" dirty="0" smtClean="0"/>
              <a:t>The last example shows, a </a:t>
            </a:r>
            <a:r>
              <a:rPr lang="en-US" dirty="0" err="1" smtClean="0"/>
              <a:t>BiFunction</a:t>
            </a:r>
            <a:r>
              <a:rPr lang="en-US" dirty="0" smtClean="0"/>
              <a:t> which accepts two integer objects and return an integer which is maximum. The same expression can also be written as:</a:t>
            </a:r>
          </a:p>
          <a:p>
            <a:endParaRPr lang="en-US" dirty="0" smtClean="0"/>
          </a:p>
          <a:p>
            <a:r>
              <a:rPr lang="en-US" dirty="0" err="1" smtClean="0"/>
              <a:t>BinaryOperator</a:t>
            </a:r>
            <a:r>
              <a:rPr lang="en-US" dirty="0" smtClean="0"/>
              <a:t>&lt;Integer&gt; </a:t>
            </a:r>
            <a:r>
              <a:rPr lang="en-US" dirty="0" err="1" smtClean="0"/>
              <a:t>maxFunction</a:t>
            </a:r>
            <a:r>
              <a:rPr lang="en-US" dirty="0" smtClean="0"/>
              <a:t> = (</a:t>
            </a:r>
            <a:r>
              <a:rPr lang="en-US" dirty="0" err="1" smtClean="0"/>
              <a:t>x,y</a:t>
            </a:r>
            <a:r>
              <a:rPr lang="en-US" dirty="0" smtClean="0"/>
              <a:t>) -&gt; x&gt;</a:t>
            </a:r>
            <a:r>
              <a:rPr lang="en-US" dirty="0" err="1" smtClean="0"/>
              <a:t>y?x:y</a:t>
            </a:r>
            <a:r>
              <a:rPr lang="en-US" dirty="0" smtClean="0"/>
              <a:t>;</a:t>
            </a:r>
          </a:p>
          <a:p>
            <a:endParaRPr lang="en-US" dirty="0" smtClean="0"/>
          </a:p>
          <a:p>
            <a:r>
              <a:rPr lang="en-US" dirty="0" smtClean="0"/>
              <a:t>The functional interfaces described so far are utilized throughout the JDK, and they can also be utilized in developer applications.</a:t>
            </a:r>
          </a:p>
          <a:p>
            <a:endParaRPr lang="en-US" dirty="0" smtClean="0"/>
          </a:p>
          <a:p>
            <a:endParaRPr lang="en-US" dirty="0" smtClean="0"/>
          </a:p>
        </p:txBody>
      </p:sp>
      <p:sp>
        <p:nvSpPr>
          <p:cNvPr id="6" name="Slide Image Placeholder 5"/>
          <p:cNvSpPr>
            <a:spLocks noGrp="1" noRot="1" noChangeAspect="1"/>
          </p:cNvSpPr>
          <p:nvPr>
            <p:ph type="sldImg"/>
          </p:nvPr>
        </p:nvSpPr>
        <p:spPr>
          <a:xfrm>
            <a:off x="1931988" y="720725"/>
            <a:ext cx="4800600" cy="3600450"/>
          </a:xfr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931988" y="720725"/>
            <a:ext cx="4800600" cy="3600450"/>
          </a:xfrm>
        </p:spPr>
      </p:sp>
      <p:sp>
        <p:nvSpPr>
          <p:cNvPr id="3" name="Notes Placeholder 2"/>
          <p:cNvSpPr>
            <a:spLocks noGrp="1"/>
          </p:cNvSpPr>
          <p:nvPr>
            <p:ph type="body" idx="1"/>
          </p:nvPr>
        </p:nvSpPr>
        <p:spPr/>
        <p:txBody>
          <a:bodyPr/>
          <a:lstStyle/>
          <a:p>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smtClean="0"/>
              <a:t>Method Reference</a:t>
            </a:r>
          </a:p>
          <a:p>
            <a:endParaRPr lang="en-US" dirty="0" smtClean="0"/>
          </a:p>
          <a:p>
            <a:r>
              <a:rPr lang="en-US" dirty="0" smtClean="0"/>
              <a:t>If a lambda expression is written only to invoke a single method by name, then such expression can be shorthanded by using method reference. The syntax of method reference is:</a:t>
            </a:r>
          </a:p>
          <a:p>
            <a:endParaRPr lang="en-US" dirty="0" smtClean="0"/>
          </a:p>
          <a:p>
            <a:r>
              <a:rPr lang="en-US" dirty="0" smtClean="0"/>
              <a:t>	&lt;class or instance name&gt; :: &lt;method name&gt;</a:t>
            </a:r>
          </a:p>
          <a:p>
            <a:endParaRPr lang="en-US" dirty="0" smtClean="0"/>
          </a:p>
          <a:p>
            <a:r>
              <a:rPr lang="en-US" dirty="0" smtClean="0"/>
              <a:t>The double colon operator specifies the method reference. The method which is referred must reflect pre-defined or custom functional interface. </a:t>
            </a:r>
          </a:p>
          <a:p>
            <a:endParaRPr lang="en-US" dirty="0" smtClean="0"/>
          </a:p>
          <a:p>
            <a:r>
              <a:rPr lang="en-US" dirty="0" smtClean="0"/>
              <a:t>The slide example shows method </a:t>
            </a:r>
            <a:r>
              <a:rPr lang="en-US" dirty="0" err="1" smtClean="0"/>
              <a:t>println</a:t>
            </a:r>
            <a:r>
              <a:rPr lang="en-US" dirty="0" smtClean="0"/>
              <a:t>() which accept object to print and  returns nothing, suits perfectly with predefined functional interface called Consumer&lt;T&gt; and matches with abstract method void accept(T) signature.  Hence lambda expression can be short handed by refereeing it with method reference. </a:t>
            </a:r>
            <a:endParaRPr lang="en-US" dirty="0"/>
          </a:p>
        </p:txBody>
      </p:sp>
      <p:sp>
        <p:nvSpPr>
          <p:cNvPr id="6" name="Slide Image Placeholder 5"/>
          <p:cNvSpPr>
            <a:spLocks noGrp="1" noRot="1" noChangeAspect="1"/>
          </p:cNvSpPr>
          <p:nvPr>
            <p:ph type="sldImg"/>
          </p:nvPr>
        </p:nvSpPr>
        <p:spPr>
          <a:xfrm>
            <a:off x="1931988" y="720725"/>
            <a:ext cx="4800600" cy="3600450"/>
          </a:xfr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931988" y="720725"/>
            <a:ext cx="4800600" cy="3600450"/>
          </a:xfrm>
        </p:spPr>
      </p:sp>
      <p:sp>
        <p:nvSpPr>
          <p:cNvPr id="3" name="Notes Placeholder 2"/>
          <p:cNvSpPr>
            <a:spLocks noGrp="1"/>
          </p:cNvSpPr>
          <p:nvPr>
            <p:ph type="body" idx="1"/>
          </p:nvPr>
        </p:nvSpPr>
        <p:spPr/>
        <p:txBody>
          <a:bodyPr/>
          <a:lstStyle/>
          <a:p>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931988" y="720725"/>
            <a:ext cx="4800600" cy="3600450"/>
          </a:xfrm>
        </p:spPr>
      </p:sp>
      <p:sp>
        <p:nvSpPr>
          <p:cNvPr id="3" name="Notes Placeholder 2"/>
          <p:cNvSpPr>
            <a:spLocks noGrp="1"/>
          </p:cNvSpPr>
          <p:nvPr>
            <p:ph type="body" idx="1"/>
          </p:nvPr>
        </p:nvSpPr>
        <p:spPr/>
        <p:txBody>
          <a:bodyPr/>
          <a:lstStyle/>
          <a:p>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Image Placeholder 4"/>
          <p:cNvSpPr>
            <a:spLocks noGrp="1" noRot="1" noChangeAspect="1"/>
          </p:cNvSpPr>
          <p:nvPr>
            <p:ph type="sldImg"/>
          </p:nvPr>
        </p:nvSpPr>
        <p:spPr>
          <a:xfrm>
            <a:off x="1931988" y="720725"/>
            <a:ext cx="4800600" cy="3600450"/>
          </a:xfrm>
        </p:spPr>
      </p:sp>
      <p:sp>
        <p:nvSpPr>
          <p:cNvPr id="6" name="Notes Placeholder 5"/>
          <p:cNvSpPr>
            <a:spLocks noGrp="1"/>
          </p:cNvSpPr>
          <p:nvPr>
            <p:ph type="body" idx="1"/>
          </p:nvPr>
        </p:nvSpPr>
        <p:spPr/>
        <p:txBody>
          <a:bodyPr/>
          <a:lstStyle/>
          <a:p>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vmlDrawing" Target="../drawings/vmlDrawing2.vml"/><Relationship Id="rId6" Type="http://schemas.openxmlformats.org/officeDocument/2006/relationships/oleObject" Target="../embeddings/oleObject2.bin"/><Relationship Id="rId5" Type="http://schemas.openxmlformats.org/officeDocument/2006/relationships/slideMaster" Target="../slideMasters/slideMaster1.xml"/><Relationship Id="rId4" Type="http://schemas.openxmlformats.org/officeDocument/2006/relationships/tags" Target="../tags/tag9.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vmlDrawing" Target="../drawings/vmlDrawing3.vml"/><Relationship Id="rId6" Type="http://schemas.openxmlformats.org/officeDocument/2006/relationships/oleObject" Target="../embeddings/oleObject3.bin"/><Relationship Id="rId5" Type="http://schemas.openxmlformats.org/officeDocument/2006/relationships/slideMaster" Target="../slideMasters/slideMaster1.xml"/><Relationship Id="rId4" Type="http://schemas.openxmlformats.org/officeDocument/2006/relationships/tags" Target="../tags/tag12.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20.xml"/><Relationship Id="rId7" Type="http://schemas.openxmlformats.org/officeDocument/2006/relationships/oleObject" Target="../embeddings/oleObject4.bin"/><Relationship Id="rId2" Type="http://schemas.openxmlformats.org/officeDocument/2006/relationships/tags" Target="../tags/tag19.xml"/><Relationship Id="rId1" Type="http://schemas.openxmlformats.org/officeDocument/2006/relationships/vmlDrawing" Target="../drawings/vmlDrawing4.vml"/><Relationship Id="rId6" Type="http://schemas.openxmlformats.org/officeDocument/2006/relationships/slideMaster" Target="../slideMasters/slideMaster1.xml"/><Relationship Id="rId5" Type="http://schemas.openxmlformats.org/officeDocument/2006/relationships/tags" Target="../tags/tag22.xml"/><Relationship Id="rId4" Type="http://schemas.openxmlformats.org/officeDocument/2006/relationships/tags" Target="../tags/tag21.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24.xml"/><Relationship Id="rId7" Type="http://schemas.openxmlformats.org/officeDocument/2006/relationships/oleObject" Target="../embeddings/oleObject5.bin"/><Relationship Id="rId2" Type="http://schemas.openxmlformats.org/officeDocument/2006/relationships/tags" Target="../tags/tag23.xml"/><Relationship Id="rId1" Type="http://schemas.openxmlformats.org/officeDocument/2006/relationships/vmlDrawing" Target="../drawings/vmlDrawing5.vml"/><Relationship Id="rId6" Type="http://schemas.openxmlformats.org/officeDocument/2006/relationships/slideMaster" Target="../slideMasters/slideMaster1.xml"/><Relationship Id="rId5" Type="http://schemas.openxmlformats.org/officeDocument/2006/relationships/tags" Target="../tags/tag26.xml"/><Relationship Id="rId4" Type="http://schemas.openxmlformats.org/officeDocument/2006/relationships/tags" Target="../tags/tag25.xml"/></Relationships>
</file>

<file path=ppt/slideLayouts/_rels/slideLayout12.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28.xml"/><Relationship Id="rId7" Type="http://schemas.openxmlformats.org/officeDocument/2006/relationships/tags" Target="../tags/tag32.xml"/><Relationship Id="rId2" Type="http://schemas.openxmlformats.org/officeDocument/2006/relationships/tags" Target="../tags/tag27.xml"/><Relationship Id="rId1" Type="http://schemas.openxmlformats.org/officeDocument/2006/relationships/vmlDrawing" Target="../drawings/vmlDrawing6.vml"/><Relationship Id="rId6" Type="http://schemas.openxmlformats.org/officeDocument/2006/relationships/tags" Target="../tags/tag31.xml"/><Relationship Id="rId5" Type="http://schemas.openxmlformats.org/officeDocument/2006/relationships/tags" Target="../tags/tag30.xml"/><Relationship Id="rId4" Type="http://schemas.openxmlformats.org/officeDocument/2006/relationships/tags" Target="../tags/tag29.xml"/><Relationship Id="rId9" Type="http://schemas.openxmlformats.org/officeDocument/2006/relationships/oleObject" Target="../embeddings/oleObject6.bin"/></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Master" Target="../slideMasters/slideMaster1.xml"/><Relationship Id="rId1" Type="http://schemas.openxmlformats.org/officeDocument/2006/relationships/tags" Target="../tags/tag33.xml"/></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vmlDrawing" Target="../drawings/vmlDrawing7.vml"/><Relationship Id="rId5" Type="http://schemas.openxmlformats.org/officeDocument/2006/relationships/oleObject" Target="../embeddings/oleObject7.bin"/><Relationship Id="rId4"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6.xml"/><Relationship Id="rId1" Type="http://schemas.openxmlformats.org/officeDocument/2006/relationships/vmlDrawing" Target="../drawings/vmlDrawing8.vml"/><Relationship Id="rId4" Type="http://schemas.openxmlformats.org/officeDocument/2006/relationships/oleObject" Target="../embeddings/oleObject8.bin"/></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1">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1" y="0"/>
          <a:ext cx="146538" cy="158750"/>
        </p:xfrm>
        <a:graphic>
          <a:graphicData uri="http://schemas.openxmlformats.org/presentationml/2006/ole">
            <p:oleObj spid="_x0000_s2055" name="think-cell Slide" r:id="rId6" imgW="360" imgH="360" progId="">
              <p:embed/>
            </p:oleObj>
          </a:graphicData>
        </a:graphic>
      </p:graphicFrame>
      <p:sp>
        <p:nvSpPr>
          <p:cNvPr id="2" name="Title 1"/>
          <p:cNvSpPr>
            <a:spLocks noGrp="1"/>
          </p:cNvSpPr>
          <p:nvPr>
            <p:ph type="ctrTitle" hasCustomPrompt="1"/>
            <p:custDataLst>
              <p:tags r:id="rId3"/>
            </p:custDataLst>
          </p:nvPr>
        </p:nvSpPr>
        <p:spPr>
          <a:xfrm>
            <a:off x="0" y="2959926"/>
            <a:ext cx="5035137" cy="1098157"/>
          </a:xfrm>
        </p:spPr>
        <p:txBody>
          <a:bodyPr lIns="720000" tIns="33059" rIns="33059" bIns="33059" anchor="t"/>
          <a:lstStyle>
            <a:lvl1pPr marL="0" indent="0" algn="l">
              <a:defRPr sz="3700" b="1">
                <a:solidFill>
                  <a:schemeClr val="tx1"/>
                </a:solidFill>
              </a:defRPr>
            </a:lvl1pPr>
          </a:lstStyle>
          <a:p>
            <a:r>
              <a:rPr lang="fr-FR" dirty="0" smtClean="0"/>
              <a:t>Click to </a:t>
            </a:r>
            <a:r>
              <a:rPr lang="fr-FR" dirty="0" err="1" smtClean="0"/>
              <a:t>edit</a:t>
            </a:r>
            <a:r>
              <a:rPr lang="fr-FR" dirty="0" smtClean="0"/>
              <a:t> Master </a:t>
            </a:r>
            <a:r>
              <a:rPr lang="fr-FR" dirty="0" err="1" smtClean="0"/>
              <a:t>title</a:t>
            </a:r>
            <a:r>
              <a:rPr lang="fr-FR" dirty="0" smtClean="0"/>
              <a:t> style</a:t>
            </a:r>
            <a:endParaRPr lang="en-US" dirty="0"/>
          </a:p>
        </p:txBody>
      </p:sp>
      <p:sp>
        <p:nvSpPr>
          <p:cNvPr id="3" name="Subtitle 2"/>
          <p:cNvSpPr>
            <a:spLocks noGrp="1"/>
          </p:cNvSpPr>
          <p:nvPr>
            <p:ph type="subTitle" idx="1" hasCustomPrompt="1"/>
            <p:custDataLst>
              <p:tags r:id="rId4"/>
            </p:custDataLst>
          </p:nvPr>
        </p:nvSpPr>
        <p:spPr>
          <a:xfrm>
            <a:off x="4491614" y="4949633"/>
            <a:ext cx="4652387" cy="874227"/>
          </a:xfrm>
        </p:spPr>
        <p:txBody>
          <a:bodyPr lIns="720000" tIns="33059" rIns="33059" bIns="33059"/>
          <a:lstStyle>
            <a:lvl1pPr marL="0" indent="0" algn="l">
              <a:buNone/>
              <a:defRPr sz="2200" b="0">
                <a:solidFill>
                  <a:schemeClr val="tx1"/>
                </a:solidFill>
              </a:defRPr>
            </a:lvl1pPr>
            <a:lvl2pPr marL="457171" indent="0" algn="ctr">
              <a:buNone/>
              <a:defRPr>
                <a:solidFill>
                  <a:schemeClr val="tx1">
                    <a:tint val="75000"/>
                  </a:schemeClr>
                </a:solidFill>
              </a:defRPr>
            </a:lvl2pPr>
            <a:lvl3pPr marL="914342" indent="0" algn="ctr">
              <a:buNone/>
              <a:defRPr>
                <a:solidFill>
                  <a:schemeClr val="tx1">
                    <a:tint val="75000"/>
                  </a:schemeClr>
                </a:solidFill>
              </a:defRPr>
            </a:lvl3pPr>
            <a:lvl4pPr marL="1371513" indent="0" algn="ctr">
              <a:buNone/>
              <a:defRPr>
                <a:solidFill>
                  <a:schemeClr val="tx1">
                    <a:tint val="75000"/>
                  </a:schemeClr>
                </a:solidFill>
              </a:defRPr>
            </a:lvl4pPr>
            <a:lvl5pPr marL="1828684" indent="0" algn="ctr">
              <a:buNone/>
              <a:defRPr>
                <a:solidFill>
                  <a:schemeClr val="tx1">
                    <a:tint val="75000"/>
                  </a:schemeClr>
                </a:solidFill>
              </a:defRPr>
            </a:lvl5pPr>
            <a:lvl6pPr marL="2285855" indent="0" algn="ctr">
              <a:buNone/>
              <a:defRPr>
                <a:solidFill>
                  <a:schemeClr val="tx1">
                    <a:tint val="75000"/>
                  </a:schemeClr>
                </a:solidFill>
              </a:defRPr>
            </a:lvl6pPr>
            <a:lvl7pPr marL="2743026" indent="0" algn="ctr">
              <a:buNone/>
              <a:defRPr>
                <a:solidFill>
                  <a:schemeClr val="tx1">
                    <a:tint val="75000"/>
                  </a:schemeClr>
                </a:solidFill>
              </a:defRPr>
            </a:lvl7pPr>
            <a:lvl8pPr marL="3200198" indent="0" algn="ctr">
              <a:buNone/>
              <a:defRPr>
                <a:solidFill>
                  <a:schemeClr val="tx1">
                    <a:tint val="75000"/>
                  </a:schemeClr>
                </a:solidFill>
              </a:defRPr>
            </a:lvl8pPr>
            <a:lvl9pPr marL="3657369" indent="0" algn="ctr">
              <a:buNone/>
              <a:defRPr>
                <a:solidFill>
                  <a:schemeClr val="tx1">
                    <a:tint val="75000"/>
                  </a:schemeClr>
                </a:solidFill>
              </a:defRPr>
            </a:lvl9pPr>
          </a:lstStyle>
          <a:p>
            <a:r>
              <a:rPr lang="fr-FR" dirty="0" smtClean="0"/>
              <a:t>Click to </a:t>
            </a:r>
            <a:r>
              <a:rPr lang="fr-FR" dirty="0" err="1" smtClean="0"/>
              <a:t>edit</a:t>
            </a:r>
            <a:r>
              <a:rPr lang="fr-FR" dirty="0" smtClean="0"/>
              <a:t> Master </a:t>
            </a:r>
            <a:r>
              <a:rPr lang="fr-FR" dirty="0" err="1" smtClean="0"/>
              <a:t>text</a:t>
            </a:r>
            <a:r>
              <a:rPr lang="fr-FR" dirty="0" smtClean="0"/>
              <a:t> style</a:t>
            </a:r>
          </a:p>
        </p:txBody>
      </p:sp>
    </p:spTree>
    <p:extLst>
      <p:ext uri="{BB962C8B-B14F-4D97-AF65-F5344CB8AC3E}">
        <p14:creationId xmlns="" xmlns:p14="http://schemas.microsoft.com/office/powerpoint/2010/main" val="3795672394"/>
      </p:ext>
    </p:extLst>
  </p:cSld>
  <p:clrMapOvr>
    <a:masterClrMapping/>
  </p:clrMapOvr>
  <p:timing>
    <p:tnLst>
      <p:par>
        <p:cTn id="1" dur="indefinite" restart="never" nodeType="tmRoot"/>
      </p:par>
    </p:tnLst>
  </p:timing>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Mast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0" y="1"/>
          <a:ext cx="135749" cy="143985"/>
        </p:xfrm>
        <a:graphic>
          <a:graphicData uri="http://schemas.openxmlformats.org/presentationml/2006/ole">
            <p:oleObj spid="_x0000_s3079" name="think-cell Slide" r:id="rId6" imgW="360" imgH="360" progId="">
              <p:embed/>
            </p:oleObj>
          </a:graphicData>
        </a:graphic>
      </p:graphicFrame>
      <p:sp>
        <p:nvSpPr>
          <p:cNvPr id="2" name="Title 1"/>
          <p:cNvSpPr>
            <a:spLocks noGrp="1"/>
          </p:cNvSpPr>
          <p:nvPr>
            <p:ph type="title" hasCustomPrompt="1"/>
            <p:custDataLst>
              <p:tags r:id="rId3"/>
            </p:custDataLst>
          </p:nvPr>
        </p:nvSpPr>
        <p:spPr/>
        <p:txBody>
          <a:bodyPr/>
          <a:lstStyle>
            <a:lvl1pPr>
              <a:defRPr/>
            </a:lvl1pPr>
          </a:lstStyle>
          <a:p>
            <a:r>
              <a:rPr lang="en-US" noProof="0" dirty="0" smtClean="0"/>
              <a:t>Click to edit Master title style</a:t>
            </a:r>
            <a:endParaRPr lang="en-US" dirty="0"/>
          </a:p>
        </p:txBody>
      </p:sp>
      <p:sp>
        <p:nvSpPr>
          <p:cNvPr id="3" name="Content Placeholder 2"/>
          <p:cNvSpPr>
            <a:spLocks noGrp="1"/>
          </p:cNvSpPr>
          <p:nvPr>
            <p:ph idx="1" hasCustomPrompt="1"/>
            <p:custDataLst>
              <p:tags r:id="rId4"/>
            </p:custDataLst>
          </p:nvPr>
        </p:nvSpPr>
        <p:spPr>
          <a:xfrm>
            <a:off x="298516" y="1494766"/>
            <a:ext cx="8845484"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 xmlns:p14="http://schemas.microsoft.com/office/powerpoint/2010/main" val="2369701293"/>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essonObjectiv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6" y="1494766"/>
            <a:ext cx="6793764"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6" name="Picture 5"/>
          <p:cNvPicPr>
            <a:picLocks noChangeAspect="1"/>
          </p:cNvPicPr>
          <p:nvPr userDrawn="1"/>
        </p:nvPicPr>
        <p:blipFill>
          <a:blip r:embed="rId3">
            <a:extLst>
              <a:ext uri="{28A0092B-C50C-407E-A947-70E740481C1C}">
                <a14:useLocalDpi xmlns="" xmlns:a14="http://schemas.microsoft.com/office/drawing/2010/main" val="0"/>
              </a:ext>
            </a:extLst>
          </a:blip>
          <a:stretch>
            <a:fillRect/>
          </a:stretch>
        </p:blipFill>
        <p:spPr>
          <a:xfrm>
            <a:off x="7092280" y="1828800"/>
            <a:ext cx="2003192" cy="2011680"/>
          </a:xfrm>
          <a:prstGeom prst="rect">
            <a:avLst/>
          </a:prstGeom>
        </p:spPr>
      </p:pic>
    </p:spTree>
    <p:extLst>
      <p:ext uri="{BB962C8B-B14F-4D97-AF65-F5344CB8AC3E}">
        <p14:creationId xmlns="" xmlns:p14="http://schemas.microsoft.com/office/powerpoint/2010/main" val="4021288375"/>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em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7" y="1494766"/>
            <a:ext cx="6649748"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17410" name="Picture 2"/>
          <p:cNvPicPr>
            <a:picLocks noChangeAspect="1" noChangeArrowheads="1"/>
          </p:cNvPicPr>
          <p:nvPr userDrawn="1"/>
        </p:nvPicPr>
        <p:blipFill>
          <a:blip r:embed="rId3">
            <a:extLst>
              <a:ext uri="{28A0092B-C50C-407E-A947-70E740481C1C}">
                <a14:useLocalDpi xmlns="" xmlns:a14="http://schemas.microsoft.com/office/drawing/2010/main" val="0"/>
              </a:ext>
            </a:extLst>
          </a:blip>
          <a:srcRect/>
          <a:stretch>
            <a:fillRect/>
          </a:stretch>
        </p:blipFill>
        <p:spPr bwMode="auto">
          <a:xfrm>
            <a:off x="7020272" y="1828800"/>
            <a:ext cx="2103120" cy="1555494"/>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Tree>
    <p:extLst>
      <p:ext uri="{BB962C8B-B14F-4D97-AF65-F5344CB8AC3E}">
        <p14:creationId xmlns="" xmlns:p14="http://schemas.microsoft.com/office/powerpoint/2010/main" val="18301769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ab">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7" y="1494766"/>
            <a:ext cx="6559484"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18434" name="Picture 2"/>
          <p:cNvPicPr>
            <a:picLocks noChangeAspect="1" noChangeArrowheads="1"/>
          </p:cNvPicPr>
          <p:nvPr userDrawn="1"/>
        </p:nvPicPr>
        <p:blipFill>
          <a:blip r:embed="rId3">
            <a:extLst>
              <a:ext uri="{28A0092B-C50C-407E-A947-70E740481C1C}">
                <a14:useLocalDpi xmlns="" xmlns:a14="http://schemas.microsoft.com/office/drawing/2010/main" val="0"/>
              </a:ext>
            </a:extLst>
          </a:blip>
          <a:srcRect/>
          <a:stretch>
            <a:fillRect/>
          </a:stretch>
        </p:blipFill>
        <p:spPr bwMode="auto">
          <a:xfrm>
            <a:off x="6858000" y="1828800"/>
            <a:ext cx="2286000" cy="1603988"/>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Tree>
    <p:extLst>
      <p:ext uri="{BB962C8B-B14F-4D97-AF65-F5344CB8AC3E}">
        <p14:creationId xmlns="" xmlns:p14="http://schemas.microsoft.com/office/powerpoint/2010/main" val="1564502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6" y="1494766"/>
            <a:ext cx="6887389"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19458" name="Picture 2" descr="http://www.strategic-resume.com/wp-content/uploads/2015/08/SummaryIcon.png"/>
          <p:cNvPicPr>
            <a:picLocks noChangeAspect="1" noChangeArrowheads="1"/>
          </p:cNvPicPr>
          <p:nvPr userDrawn="1"/>
        </p:nvPicPr>
        <p:blipFill>
          <a:blip r:embed="rId3">
            <a:extLst>
              <a:ext uri="{28A0092B-C50C-407E-A947-70E740481C1C}">
                <a14:useLocalDpi xmlns="" xmlns:a14="http://schemas.microsoft.com/office/drawing/2010/main" val="0"/>
              </a:ext>
            </a:extLst>
          </a:blip>
          <a:srcRect/>
          <a:stretch>
            <a:fillRect/>
          </a:stretch>
        </p:blipFill>
        <p:spPr bwMode="auto">
          <a:xfrm>
            <a:off x="7282885" y="1494990"/>
            <a:ext cx="1638300" cy="1714500"/>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30613324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ssessm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6" y="1494766"/>
            <a:ext cx="6887389"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20482" name="Picture 2"/>
          <p:cNvPicPr>
            <a:picLocks noChangeAspect="1" noChangeArrowheads="1"/>
          </p:cNvPicPr>
          <p:nvPr userDrawn="1"/>
        </p:nvPicPr>
        <p:blipFill>
          <a:blip r:embed="rId3">
            <a:extLst>
              <a:ext uri="{28A0092B-C50C-407E-A947-70E740481C1C}">
                <a14:useLocalDpi xmlns="" xmlns:a14="http://schemas.microsoft.com/office/drawing/2010/main" val="0"/>
              </a:ext>
            </a:extLst>
          </a:blip>
          <a:srcRect/>
          <a:stretch>
            <a:fillRect/>
          </a:stretch>
        </p:blipFill>
        <p:spPr bwMode="auto">
          <a:xfrm>
            <a:off x="7270375" y="1828800"/>
            <a:ext cx="1828800" cy="1819422"/>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Tree>
    <p:extLst>
      <p:ext uri="{BB962C8B-B14F-4D97-AF65-F5344CB8AC3E}">
        <p14:creationId xmlns="" xmlns:p14="http://schemas.microsoft.com/office/powerpoint/2010/main" val="16288174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ssessment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pic>
        <p:nvPicPr>
          <p:cNvPr id="8" name="Picture 2"/>
          <p:cNvPicPr>
            <a:picLocks noChangeAspect="1" noChangeArrowheads="1"/>
          </p:cNvPicPr>
          <p:nvPr userDrawn="1"/>
        </p:nvPicPr>
        <p:blipFill>
          <a:blip r:embed="rId2">
            <a:extLst>
              <a:ext uri="{28A0092B-C50C-407E-A947-70E740481C1C}">
                <a14:useLocalDpi xmlns="" xmlns:a14="http://schemas.microsoft.com/office/drawing/2010/main" val="0"/>
              </a:ext>
            </a:extLst>
          </a:blip>
          <a:srcRect/>
          <a:stretch>
            <a:fillRect/>
          </a:stretch>
        </p:blipFill>
        <p:spPr bwMode="auto">
          <a:xfrm>
            <a:off x="7270375" y="1828800"/>
            <a:ext cx="1828800" cy="1819422"/>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Tree>
    <p:extLst>
      <p:ext uri="{BB962C8B-B14F-4D97-AF65-F5344CB8AC3E}">
        <p14:creationId xmlns="" xmlns:p14="http://schemas.microsoft.com/office/powerpoint/2010/main" val="4633031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Objectiv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6" y="1494766"/>
            <a:ext cx="6887389"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 xmlns:p14="http://schemas.microsoft.com/office/powerpoint/2010/main" val="27957802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amp; Headin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0" y="1"/>
          <a:ext cx="135749" cy="143985"/>
        </p:xfrm>
        <a:graphic>
          <a:graphicData uri="http://schemas.openxmlformats.org/presentationml/2006/ole">
            <p:oleObj spid="_x0000_s4103" name="think-cell Slide" r:id="rId7" imgW="360" imgH="360" progId="">
              <p:embed/>
            </p:oleObj>
          </a:graphicData>
        </a:graphic>
      </p:graphicFrame>
      <p:sp>
        <p:nvSpPr>
          <p:cNvPr id="2" name="Title 1"/>
          <p:cNvSpPr>
            <a:spLocks noGrp="1"/>
          </p:cNvSpPr>
          <p:nvPr>
            <p:ph type="title" hasCustomPrompt="1"/>
            <p:custDataLst>
              <p:tags r:id="rId3"/>
            </p:custDataLst>
          </p:nvPr>
        </p:nvSpPr>
        <p:spPr/>
        <p:txBody>
          <a:bodyPr/>
          <a:lstStyle>
            <a:lvl1pPr>
              <a:defRPr/>
            </a:lvl1pPr>
          </a:lstStyle>
          <a:p>
            <a:r>
              <a:rPr lang="en-US" noProof="0" dirty="0" smtClean="0"/>
              <a:t>Click to edit Master title style</a:t>
            </a:r>
            <a:endParaRPr lang="en-US" dirty="0"/>
          </a:p>
        </p:txBody>
      </p:sp>
      <p:sp>
        <p:nvSpPr>
          <p:cNvPr id="3" name="Content Placeholder 2"/>
          <p:cNvSpPr>
            <a:spLocks noGrp="1"/>
          </p:cNvSpPr>
          <p:nvPr>
            <p:ph idx="1" hasCustomPrompt="1"/>
            <p:custDataLst>
              <p:tags r:id="rId4"/>
            </p:custDataLst>
          </p:nvPr>
        </p:nvSpPr>
        <p:spPr>
          <a:xfrm>
            <a:off x="298516" y="2111956"/>
            <a:ext cx="8845484" cy="4026560"/>
          </a:xfrm>
        </p:spPr>
        <p:txBody>
          <a:bodyPr/>
          <a:lstStyle>
            <a:lvl1pPr>
              <a:defRPr b="0"/>
            </a:lvl1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8" name="Espace réservé du texte 7"/>
          <p:cNvSpPr>
            <a:spLocks noGrp="1"/>
          </p:cNvSpPr>
          <p:nvPr>
            <p:ph type="body" sz="quarter" idx="11" hasCustomPrompt="1"/>
            <p:custDataLst>
              <p:tags r:id="rId5"/>
            </p:custDataLst>
          </p:nvPr>
        </p:nvSpPr>
        <p:spPr>
          <a:xfrm>
            <a:off x="298604" y="1495447"/>
            <a:ext cx="8860286" cy="643612"/>
          </a:xfrm>
        </p:spPr>
        <p:txBody>
          <a:bodyPr/>
          <a:lstStyle>
            <a:lvl1pPr marL="0" indent="0">
              <a:buNone/>
              <a:defRPr b="1">
                <a:solidFill>
                  <a:schemeClr val="accent2"/>
                </a:solidFill>
              </a:defRPr>
            </a:lvl1pPr>
          </a:lstStyle>
          <a:p>
            <a:pPr lvl="0"/>
            <a:r>
              <a:rPr lang="fr-FR" dirty="0" smtClean="0"/>
              <a:t>Click to </a:t>
            </a:r>
            <a:r>
              <a:rPr lang="fr-FR" dirty="0" err="1" smtClean="0"/>
              <a:t>edit</a:t>
            </a:r>
            <a:r>
              <a:rPr lang="fr-FR" dirty="0" smtClean="0"/>
              <a:t> Master </a:t>
            </a:r>
            <a:r>
              <a:rPr lang="fr-FR" dirty="0" err="1" smtClean="0"/>
              <a:t>text</a:t>
            </a:r>
            <a:r>
              <a:rPr lang="fr-FR" dirty="0" smtClean="0"/>
              <a:t> style</a:t>
            </a:r>
          </a:p>
        </p:txBody>
      </p:sp>
    </p:spTree>
    <p:extLst>
      <p:ext uri="{BB962C8B-B14F-4D97-AF65-F5344CB8AC3E}">
        <p14:creationId xmlns="" xmlns:p14="http://schemas.microsoft.com/office/powerpoint/2010/main" val="3868570921"/>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Contents">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0" y="0"/>
          <a:ext cx="146538" cy="158750"/>
        </p:xfrm>
        <a:graphic>
          <a:graphicData uri="http://schemas.openxmlformats.org/presentationml/2006/ole">
            <p:oleObj spid="_x0000_s5127" name="think-cell Slide" r:id="rId7" imgW="360" imgH="360" progId="">
              <p:embed/>
            </p:oleObj>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smtClean="0"/>
              <a:t>Click to edit Master title style</a:t>
            </a:r>
          </a:p>
        </p:txBody>
      </p:sp>
      <p:sp>
        <p:nvSpPr>
          <p:cNvPr id="4" name="Espace réservé du contenu 3"/>
          <p:cNvSpPr>
            <a:spLocks noGrp="1"/>
          </p:cNvSpPr>
          <p:nvPr>
            <p:ph sz="quarter" idx="10" hasCustomPrompt="1"/>
            <p:custDataLst>
              <p:tags r:id="rId4"/>
            </p:custDataLst>
          </p:nvPr>
        </p:nvSpPr>
        <p:spPr>
          <a:xfrm>
            <a:off x="290500" y="1533439"/>
            <a:ext cx="4155820" cy="4715504"/>
          </a:xfrm>
        </p:spPr>
        <p:txBody>
          <a:bodyPr/>
          <a:lstStyle>
            <a:lvl1pPr>
              <a:defRPr sz="2000"/>
            </a:lvl1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6" name="Espace réservé du contenu 5"/>
          <p:cNvSpPr>
            <a:spLocks noGrp="1"/>
          </p:cNvSpPr>
          <p:nvPr>
            <p:ph sz="quarter" idx="11" hasCustomPrompt="1"/>
            <p:custDataLst>
              <p:tags r:id="rId5"/>
            </p:custDataLst>
          </p:nvPr>
        </p:nvSpPr>
        <p:spPr>
          <a:xfrm>
            <a:off x="4636466" y="1533440"/>
            <a:ext cx="4155820" cy="4725584"/>
          </a:xfrm>
        </p:spPr>
        <p:txBody>
          <a:bodyPr/>
          <a:lstStyle>
            <a:lvl1pPr>
              <a:defRPr sz="2000"/>
            </a:lvl1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 xmlns:p14="http://schemas.microsoft.com/office/powerpoint/2010/main" val="4289790481"/>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 Contents &amp; Headings">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2"/>
            </p:custDataLst>
          </p:nvPr>
        </p:nvGraphicFramePr>
        <p:xfrm>
          <a:off x="0" y="0"/>
          <a:ext cx="146538" cy="158750"/>
        </p:xfrm>
        <a:graphic>
          <a:graphicData uri="http://schemas.openxmlformats.org/presentationml/2006/ole">
            <p:oleObj spid="_x0000_s6151" name="think-cell Slide" r:id="rId9" imgW="360" imgH="360" progId="">
              <p:embed/>
            </p:oleObj>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smtClean="0"/>
              <a:t>Click to edit Master title style</a:t>
            </a:r>
          </a:p>
        </p:txBody>
      </p:sp>
      <p:sp>
        <p:nvSpPr>
          <p:cNvPr id="4" name="Espace réservé du contenu 3"/>
          <p:cNvSpPr>
            <a:spLocks noGrp="1"/>
          </p:cNvSpPr>
          <p:nvPr>
            <p:ph sz="quarter" idx="10" hasCustomPrompt="1"/>
            <p:custDataLst>
              <p:tags r:id="rId4"/>
            </p:custDataLst>
          </p:nvPr>
        </p:nvSpPr>
        <p:spPr>
          <a:xfrm>
            <a:off x="290500" y="2206953"/>
            <a:ext cx="4155820" cy="4041990"/>
          </a:xfrm>
        </p:spPr>
        <p:txBody>
          <a:bodyPr/>
          <a:lstStyle>
            <a:lvl1pPr>
              <a:defRPr sz="1800"/>
            </a:lvl1pPr>
            <a:lvl2pPr>
              <a:defRPr sz="1600"/>
            </a:lvl2pPr>
            <a:lvl3pPr>
              <a:defRPr sz="1400"/>
            </a:lvl3pPr>
            <a:lvl4pPr>
              <a:defRPr sz="1200"/>
            </a:lvl4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6" name="Espace réservé du contenu 5"/>
          <p:cNvSpPr>
            <a:spLocks noGrp="1"/>
          </p:cNvSpPr>
          <p:nvPr>
            <p:ph sz="quarter" idx="11" hasCustomPrompt="1"/>
            <p:custDataLst>
              <p:tags r:id="rId5"/>
            </p:custDataLst>
          </p:nvPr>
        </p:nvSpPr>
        <p:spPr>
          <a:xfrm>
            <a:off x="4636466" y="2208394"/>
            <a:ext cx="4155820" cy="4050630"/>
          </a:xfrm>
        </p:spPr>
        <p:txBody>
          <a:bodyPr/>
          <a:lstStyle>
            <a:lvl1pPr>
              <a:defRPr sz="1800"/>
            </a:lvl1pPr>
            <a:lvl2pPr>
              <a:defRPr sz="1600"/>
            </a:lvl2pPr>
            <a:lvl3pPr>
              <a:defRPr sz="1400"/>
            </a:lvl3pPr>
            <a:lvl4pPr>
              <a:defRPr sz="1200"/>
            </a:lvl4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7" name="Espace réservé du texte 6"/>
          <p:cNvSpPr>
            <a:spLocks noGrp="1"/>
          </p:cNvSpPr>
          <p:nvPr>
            <p:ph type="body" sz="quarter" idx="12" hasCustomPrompt="1"/>
            <p:custDataLst>
              <p:tags r:id="rId6"/>
            </p:custDataLst>
          </p:nvPr>
        </p:nvSpPr>
        <p:spPr>
          <a:xfrm>
            <a:off x="290501" y="1542648"/>
            <a:ext cx="4155820" cy="653034"/>
          </a:xfrm>
        </p:spPr>
        <p:txBody>
          <a:bodyPr anchor="ctr"/>
          <a:lstStyle>
            <a:lvl1pPr algn="ctr">
              <a:buNone/>
              <a:defRPr sz="2200" b="1">
                <a:solidFill>
                  <a:schemeClr val="tx2">
                    <a:lumMod val="50000"/>
                  </a:schemeClr>
                </a:solidFill>
              </a:defRPr>
            </a:lvl1pPr>
            <a:lvl5pPr>
              <a:buNone/>
              <a:defRPr/>
            </a:lvl5pPr>
          </a:lstStyle>
          <a:p>
            <a:pPr lvl="0"/>
            <a:r>
              <a:rPr lang="en-US" noProof="0" dirty="0" smtClean="0"/>
              <a:t>Click to edit Master text style</a:t>
            </a:r>
          </a:p>
        </p:txBody>
      </p:sp>
      <p:sp>
        <p:nvSpPr>
          <p:cNvPr id="9" name="Espace réservé du texte 8"/>
          <p:cNvSpPr>
            <a:spLocks noGrp="1"/>
          </p:cNvSpPr>
          <p:nvPr>
            <p:ph type="body" sz="quarter" idx="13" hasCustomPrompt="1"/>
            <p:custDataLst>
              <p:tags r:id="rId7"/>
            </p:custDataLst>
          </p:nvPr>
        </p:nvSpPr>
        <p:spPr>
          <a:xfrm>
            <a:off x="4636749" y="1533439"/>
            <a:ext cx="4155820" cy="653034"/>
          </a:xfrm>
        </p:spPr>
        <p:txBody>
          <a:bodyPr anchor="ctr"/>
          <a:lstStyle>
            <a:lvl1pPr algn="ctr">
              <a:buNone/>
              <a:defRPr lang="fr-FR" sz="2200" b="1" kern="1200" noProof="0" dirty="0" smtClean="0">
                <a:solidFill>
                  <a:schemeClr val="tx2">
                    <a:lumMod val="50000"/>
                  </a:schemeClr>
                </a:solidFill>
                <a:latin typeface="+mn-lt"/>
                <a:ea typeface="+mn-ea"/>
                <a:cs typeface="+mn-cs"/>
              </a:defRPr>
            </a:lvl1pPr>
          </a:lstStyle>
          <a:p>
            <a:pPr lvl="0"/>
            <a:r>
              <a:rPr lang="en-US" noProof="0" dirty="0" smtClean="0"/>
              <a:t>Click to edit Master text style</a:t>
            </a:r>
          </a:p>
        </p:txBody>
      </p:sp>
    </p:spTree>
    <p:extLst>
      <p:ext uri="{BB962C8B-B14F-4D97-AF65-F5344CB8AC3E}">
        <p14:creationId xmlns="" xmlns:p14="http://schemas.microsoft.com/office/powerpoint/2010/main" val="23237276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 Content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hasCustomPrompt="1"/>
          </p:nvPr>
        </p:nvSpPr>
        <p:spPr>
          <a:xfrm>
            <a:off x="408791" y="1459814"/>
            <a:ext cx="3990466" cy="468996"/>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wrap="square" anchor="ctr">
            <a:noAutofit/>
          </a:bodyPr>
          <a:lstStyle>
            <a:lvl1pPr marL="0" indent="0" algn="ctr" rtl="0" eaLnBrk="0" fontAlgn="base" hangingPunct="0">
              <a:lnSpc>
                <a:spcPct val="85000"/>
              </a:lnSpc>
              <a:spcBef>
                <a:spcPct val="0"/>
              </a:spcBef>
              <a:spcAft>
                <a:spcPct val="0"/>
              </a:spcAft>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4" name="Content Placeholder 3"/>
          <p:cNvSpPr>
            <a:spLocks noGrp="1"/>
          </p:cNvSpPr>
          <p:nvPr>
            <p:ph sz="half" idx="2" hasCustomPrompt="1"/>
          </p:nvPr>
        </p:nvSpPr>
        <p:spPr>
          <a:xfrm>
            <a:off x="408791" y="1984895"/>
            <a:ext cx="3990466" cy="1685312"/>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2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5" name="Text Placeholder 4"/>
          <p:cNvSpPr>
            <a:spLocks noGrp="1"/>
          </p:cNvSpPr>
          <p:nvPr>
            <p:ph type="body" sz="quarter" idx="3" hasCustomPrompt="1"/>
          </p:nvPr>
        </p:nvSpPr>
        <p:spPr>
          <a:xfrm>
            <a:off x="4766260" y="1459814"/>
            <a:ext cx="3990466" cy="468996"/>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vert="horz" wrap="square" lIns="91440" tIns="45720" rIns="91440" bIns="45720" numCol="1" anchor="ctr" anchorCtr="1" compatLnSpc="1">
            <a:prstTxWarp prst="textNoShape">
              <a:avLst/>
            </a:prstTxWarp>
            <a:noAutofit/>
          </a:bodyPr>
          <a:lstStyle>
            <a:lvl1pPr marL="0" indent="0">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6" name="Content Placeholder 5"/>
          <p:cNvSpPr>
            <a:spLocks noGrp="1"/>
          </p:cNvSpPr>
          <p:nvPr>
            <p:ph sz="quarter" idx="4" hasCustomPrompt="1"/>
          </p:nvPr>
        </p:nvSpPr>
        <p:spPr>
          <a:xfrm>
            <a:off x="4766260" y="1984895"/>
            <a:ext cx="3990466" cy="1685312"/>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7" name="Text Placeholder 2"/>
          <p:cNvSpPr>
            <a:spLocks noGrp="1"/>
          </p:cNvSpPr>
          <p:nvPr>
            <p:ph type="body" idx="12" hasCustomPrompt="1"/>
          </p:nvPr>
        </p:nvSpPr>
        <p:spPr>
          <a:xfrm>
            <a:off x="408791" y="3843789"/>
            <a:ext cx="3990466" cy="468996"/>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wrap="square" anchor="ctr">
            <a:noAutofit/>
          </a:bodyPr>
          <a:lstStyle>
            <a:lvl1pPr marL="0" indent="0" algn="ctr" rtl="0" eaLnBrk="0" fontAlgn="base" hangingPunct="0">
              <a:lnSpc>
                <a:spcPct val="85000"/>
              </a:lnSpc>
              <a:spcBef>
                <a:spcPct val="0"/>
              </a:spcBef>
              <a:spcAft>
                <a:spcPct val="0"/>
              </a:spcAft>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8" name="Content Placeholder 3"/>
          <p:cNvSpPr>
            <a:spLocks noGrp="1"/>
          </p:cNvSpPr>
          <p:nvPr>
            <p:ph sz="half" idx="13" hasCustomPrompt="1"/>
          </p:nvPr>
        </p:nvSpPr>
        <p:spPr>
          <a:xfrm>
            <a:off x="408791" y="4375488"/>
            <a:ext cx="3990466" cy="1820917"/>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9" name="Text Placeholder 4"/>
          <p:cNvSpPr>
            <a:spLocks noGrp="1"/>
          </p:cNvSpPr>
          <p:nvPr>
            <p:ph type="body" sz="quarter" idx="14" hasCustomPrompt="1"/>
          </p:nvPr>
        </p:nvSpPr>
        <p:spPr>
          <a:xfrm>
            <a:off x="4766260" y="3843789"/>
            <a:ext cx="3990466" cy="468996"/>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vert="horz" wrap="square" lIns="91440" tIns="45720" rIns="91440" bIns="45720" numCol="1" anchor="ctr" anchorCtr="1" compatLnSpc="1">
            <a:prstTxWarp prst="textNoShape">
              <a:avLst/>
            </a:prstTxWarp>
            <a:noAutofit/>
          </a:bodyPr>
          <a:lstStyle>
            <a:lvl1pPr marL="0" indent="0">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10" name="Content Placeholder 5"/>
          <p:cNvSpPr>
            <a:spLocks noGrp="1"/>
          </p:cNvSpPr>
          <p:nvPr>
            <p:ph sz="quarter" idx="15" hasCustomPrompt="1"/>
          </p:nvPr>
        </p:nvSpPr>
        <p:spPr>
          <a:xfrm>
            <a:off x="4766260" y="4375488"/>
            <a:ext cx="3990466" cy="1820917"/>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 xmlns:p14="http://schemas.microsoft.com/office/powerpoint/2010/main" val="361950397"/>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O NOT US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pic>
        <p:nvPicPr>
          <p:cNvPr id="3" name="Picture 12"/>
          <p:cNvPicPr>
            <a:picLocks noChangeAspect="1" noChangeArrowheads="1"/>
          </p:cNvPicPr>
          <p:nvPr userDrawn="1"/>
        </p:nvPicPr>
        <p:blipFill>
          <a:blip r:embed="rId3"/>
          <a:srcRect/>
          <a:stretch>
            <a:fillRect/>
          </a:stretch>
        </p:blipFill>
        <p:spPr bwMode="auto">
          <a:xfrm>
            <a:off x="7315200" y="1828799"/>
            <a:ext cx="1693941" cy="1554480"/>
          </a:xfrm>
          <a:prstGeom prst="rect">
            <a:avLst/>
          </a:prstGeom>
          <a:noFill/>
          <a:ln w="9525">
            <a:noFill/>
            <a:miter lim="800000"/>
            <a:headEnd/>
            <a:tailEnd/>
          </a:ln>
          <a:effectLst/>
        </p:spPr>
      </p:pic>
      <p:sp>
        <p:nvSpPr>
          <p:cNvPr id="4" name="Content Placeholder 2"/>
          <p:cNvSpPr>
            <a:spLocks noGrp="1"/>
          </p:cNvSpPr>
          <p:nvPr>
            <p:ph idx="1" hasCustomPrompt="1"/>
            <p:custDataLst>
              <p:tags r:id="rId1"/>
            </p:custDataLst>
          </p:nvPr>
        </p:nvSpPr>
        <p:spPr>
          <a:xfrm>
            <a:off x="298516" y="1494766"/>
            <a:ext cx="7009788"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 xmlns:p14="http://schemas.microsoft.com/office/powerpoint/2010/main" val="37359795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2"/>
            </p:custDataLst>
          </p:nvPr>
        </p:nvGraphicFramePr>
        <p:xfrm>
          <a:off x="0" y="0"/>
          <a:ext cx="146538" cy="158750"/>
        </p:xfrm>
        <a:graphic>
          <a:graphicData uri="http://schemas.openxmlformats.org/presentationml/2006/ole">
            <p:oleObj spid="_x0000_s7175" name="think-cell Slide" r:id="rId5" imgW="360" imgH="360" progId="">
              <p:embed/>
            </p:oleObj>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smtClean="0"/>
              <a:t>Click to edit Master title style</a:t>
            </a:r>
          </a:p>
        </p:txBody>
      </p:sp>
    </p:spTree>
    <p:extLst>
      <p:ext uri="{BB962C8B-B14F-4D97-AF65-F5344CB8AC3E}">
        <p14:creationId xmlns="" xmlns:p14="http://schemas.microsoft.com/office/powerpoint/2010/main" val="3719172338"/>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lvl1pPr>
              <a:buFont typeface="Wingdings" pitchFamily="2" charset="2"/>
              <a:buChar char="Ø"/>
              <a:defRPr/>
            </a:lvl1pPr>
            <a:lvl4pPr>
              <a:defRPr lang="en-US" sz="1600" kern="1200" dirty="0" smtClean="0">
                <a:solidFill>
                  <a:schemeClr val="bg1">
                    <a:lumMod val="50000"/>
                  </a:schemeClr>
                </a:solidFill>
                <a:latin typeface="Candara" panose="020E0502030303020204" pitchFamily="34" charset="0"/>
                <a:ea typeface="+mn-ea"/>
                <a:cs typeface="+mn-cs"/>
              </a:defRPr>
            </a:lvl4pPr>
            <a:lvl5pPr>
              <a:defRPr lang="en-US" sz="1600" kern="1200" dirty="0">
                <a:solidFill>
                  <a:schemeClr val="bg1">
                    <a:lumMod val="50000"/>
                  </a:schemeClr>
                </a:solidFill>
                <a:latin typeface="Candara" panose="020E0502030303020204" pitchFamily="34" charset="0"/>
                <a:ea typeface="+mn-ea"/>
                <a:cs typeface="+mn-cs"/>
              </a:defRPr>
            </a:lvl5pPr>
          </a:lstStyle>
          <a:p>
            <a:pPr lvl="0"/>
            <a:r>
              <a:rPr lang="en-US" dirty="0" smtClean="0"/>
              <a:t>Click to edit Master text styles</a:t>
            </a:r>
          </a:p>
          <a:p>
            <a:pPr lvl="1"/>
            <a:r>
              <a:rPr lang="en-US" dirty="0" smtClean="0"/>
              <a:t>Second level</a:t>
            </a:r>
          </a:p>
          <a:p>
            <a:pPr lvl="2"/>
            <a:r>
              <a:rPr lang="en-US" dirty="0" smtClean="0"/>
              <a:t>Third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47CD3BC1-A2FE-477B-BC4B-91440EEA7D51}" type="datetimeFigureOut">
              <a:rPr lang="en-US" smtClean="0"/>
              <a:pPr/>
              <a:t>9/20/2022</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 xmlns:p14="http://schemas.microsoft.com/office/powerpoint/2010/main" val="256241832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2"/>
            </p:custDataLst>
          </p:nvPr>
        </p:nvGraphicFramePr>
        <p:xfrm>
          <a:off x="0" y="1"/>
          <a:ext cx="135749" cy="143985"/>
        </p:xfrm>
        <a:graphic>
          <a:graphicData uri="http://schemas.openxmlformats.org/presentationml/2006/ole">
            <p:oleObj spid="_x0000_s8199" name="think-cell Slide" r:id="rId4" imgW="360" imgH="360" progId="">
              <p:embed/>
            </p:oleObj>
          </a:graphicData>
        </a:graphic>
      </p:graphicFrame>
    </p:spTree>
    <p:extLst>
      <p:ext uri="{BB962C8B-B14F-4D97-AF65-F5344CB8AC3E}">
        <p14:creationId xmlns="" xmlns:p14="http://schemas.microsoft.com/office/powerpoint/2010/main" val="2343418916"/>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26" Type="http://schemas.openxmlformats.org/officeDocument/2006/relationships/oleObject" Target="../embeddings/oleObject1.bin"/><Relationship Id="rId3" Type="http://schemas.openxmlformats.org/officeDocument/2006/relationships/slideLayout" Target="../slideLayouts/slideLayout3.xml"/><Relationship Id="rId21" Type="http://schemas.openxmlformats.org/officeDocument/2006/relationships/tags" Target="../tags/tag2.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4.xml"/><Relationship Id="rId10" Type="http://schemas.openxmlformats.org/officeDocument/2006/relationships/slideLayout" Target="../slideLayouts/slideLayout10.xml"/><Relationship Id="rId19" Type="http://schemas.openxmlformats.org/officeDocument/2006/relationships/vmlDrawing" Target="../drawings/vmlDrawing1.v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20"/>
            </p:custDataLst>
          </p:nvPr>
        </p:nvGraphicFramePr>
        <p:xfrm>
          <a:off x="1" y="0"/>
          <a:ext cx="146538" cy="158750"/>
        </p:xfrm>
        <a:graphic>
          <a:graphicData uri="http://schemas.openxmlformats.org/presentationml/2006/ole">
            <p:oleObj spid="_x0000_s1031" name="think-cell Slide" r:id="rId26" imgW="360" imgH="360" progId="">
              <p:embed/>
            </p:oleObj>
          </a:graphicData>
        </a:graphic>
      </p:graphicFrame>
      <p:sp>
        <p:nvSpPr>
          <p:cNvPr id="2" name="Title Placeholder 1"/>
          <p:cNvSpPr>
            <a:spLocks noGrp="1"/>
          </p:cNvSpPr>
          <p:nvPr>
            <p:ph type="title"/>
            <p:custDataLst>
              <p:tags r:id="rId21"/>
            </p:custDataLst>
          </p:nvPr>
        </p:nvSpPr>
        <p:spPr>
          <a:xfrm>
            <a:off x="1" y="0"/>
            <a:ext cx="9143999" cy="1002135"/>
          </a:xfrm>
          <a:prstGeom prst="rect">
            <a:avLst/>
          </a:prstGeom>
        </p:spPr>
        <p:txBody>
          <a:bodyPr vert="horz" lIns="297529" tIns="33059" rIns="165294" bIns="33059" rtlCol="0" anchor="ctr">
            <a:noAutofit/>
          </a:bodyPr>
          <a:lstStyle/>
          <a:p>
            <a:r>
              <a:rPr lang="fr-FR" noProof="0" dirty="0" smtClean="0"/>
              <a:t>Cliquez pour modifier le style du titre</a:t>
            </a:r>
            <a:endParaRPr lang="en-US" noProof="0" dirty="0"/>
          </a:p>
        </p:txBody>
      </p:sp>
      <p:sp>
        <p:nvSpPr>
          <p:cNvPr id="3" name="Text Placeholder 2"/>
          <p:cNvSpPr>
            <a:spLocks noGrp="1"/>
          </p:cNvSpPr>
          <p:nvPr>
            <p:ph type="body" idx="1"/>
            <p:custDataLst>
              <p:tags r:id="rId22"/>
            </p:custDataLst>
          </p:nvPr>
        </p:nvSpPr>
        <p:spPr>
          <a:xfrm>
            <a:off x="298516" y="1501977"/>
            <a:ext cx="8712115" cy="4636540"/>
          </a:xfrm>
          <a:prstGeom prst="rect">
            <a:avLst/>
          </a:prstGeom>
        </p:spPr>
        <p:txBody>
          <a:bodyPr vert="horz" lIns="108000" tIns="72000" rIns="72000" bIns="72000" rtlCol="0">
            <a:noAutofit/>
          </a:body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11" name="TextBox 10"/>
          <p:cNvSpPr txBox="1"/>
          <p:nvPr>
            <p:custDataLst>
              <p:tags r:id="rId23"/>
            </p:custDataLst>
          </p:nvPr>
        </p:nvSpPr>
        <p:spPr>
          <a:xfrm>
            <a:off x="8827276" y="6661691"/>
            <a:ext cx="110608" cy="107722"/>
          </a:xfrm>
          <a:prstGeom prst="rect">
            <a:avLst/>
          </a:prstGeom>
          <a:noFill/>
        </p:spPr>
        <p:txBody>
          <a:bodyPr wrap="none" lIns="0" tIns="0" rIns="0" bIns="0" rtlCol="0" anchor="ctr">
            <a:spAutoFit/>
          </a:bodyPr>
          <a:lstStyle/>
          <a:p>
            <a:pPr algn="ctr"/>
            <a:fld id="{6A895693-0027-4F28-9367-92E39A51F51C}" type="slidenum">
              <a:rPr lang="en-US" sz="700" smtClean="0">
                <a:solidFill>
                  <a:schemeClr val="tx2"/>
                </a:solidFill>
              </a:rPr>
              <a:pPr algn="ctr"/>
              <a:t>‹#›</a:t>
            </a:fld>
            <a:endParaRPr lang="en-US" sz="700" dirty="0">
              <a:solidFill>
                <a:schemeClr val="tx2"/>
              </a:solidFill>
            </a:endParaRPr>
          </a:p>
        </p:txBody>
      </p:sp>
      <p:sp>
        <p:nvSpPr>
          <p:cNvPr id="9" name="Freeform 4"/>
          <p:cNvSpPr>
            <a:spLocks/>
          </p:cNvSpPr>
          <p:nvPr>
            <p:custDataLst>
              <p:tags r:id="rId24"/>
            </p:custDataLst>
          </p:nvPr>
        </p:nvSpPr>
        <p:spPr bwMode="auto">
          <a:xfrm>
            <a:off x="2" y="676402"/>
            <a:ext cx="9143999" cy="728122"/>
          </a:xfrm>
          <a:custGeom>
            <a:avLst/>
            <a:gdLst/>
            <a:ahLst/>
            <a:cxnLst>
              <a:cxn ang="0">
                <a:pos x="2965" y="93"/>
              </a:cxn>
              <a:cxn ang="0">
                <a:pos x="303" y="93"/>
              </a:cxn>
              <a:cxn ang="0">
                <a:pos x="151" y="187"/>
              </a:cxn>
              <a:cxn ang="0">
                <a:pos x="0" y="93"/>
              </a:cxn>
              <a:cxn ang="0">
                <a:pos x="0" y="112"/>
              </a:cxn>
              <a:cxn ang="0">
                <a:pos x="151" y="205"/>
              </a:cxn>
              <a:cxn ang="0">
                <a:pos x="303" y="112"/>
              </a:cxn>
              <a:cxn ang="0">
                <a:pos x="2965" y="112"/>
              </a:cxn>
              <a:cxn ang="0">
                <a:pos x="3118" y="19"/>
              </a:cxn>
              <a:cxn ang="0">
                <a:pos x="3118" y="0"/>
              </a:cxn>
              <a:cxn ang="0">
                <a:pos x="2965" y="93"/>
              </a:cxn>
            </a:cxnLst>
            <a:rect l="0" t="0" r="r" b="b"/>
            <a:pathLst>
              <a:path w="3118" h="205">
                <a:moveTo>
                  <a:pt x="2965" y="93"/>
                </a:moveTo>
                <a:cubicBezTo>
                  <a:pt x="303" y="93"/>
                  <a:pt x="303" y="93"/>
                  <a:pt x="303" y="93"/>
                </a:cubicBezTo>
                <a:cubicBezTo>
                  <a:pt x="183" y="93"/>
                  <a:pt x="151" y="187"/>
                  <a:pt x="151" y="187"/>
                </a:cubicBezTo>
                <a:cubicBezTo>
                  <a:pt x="151" y="187"/>
                  <a:pt x="119" y="93"/>
                  <a:pt x="0" y="93"/>
                </a:cubicBezTo>
                <a:cubicBezTo>
                  <a:pt x="0" y="112"/>
                  <a:pt x="0" y="112"/>
                  <a:pt x="0" y="112"/>
                </a:cubicBezTo>
                <a:cubicBezTo>
                  <a:pt x="119" y="112"/>
                  <a:pt x="151" y="205"/>
                  <a:pt x="151" y="205"/>
                </a:cubicBezTo>
                <a:cubicBezTo>
                  <a:pt x="151" y="205"/>
                  <a:pt x="183" y="112"/>
                  <a:pt x="303" y="112"/>
                </a:cubicBezTo>
                <a:cubicBezTo>
                  <a:pt x="2965" y="112"/>
                  <a:pt x="2965" y="112"/>
                  <a:pt x="2965" y="112"/>
                </a:cubicBezTo>
                <a:cubicBezTo>
                  <a:pt x="3085" y="112"/>
                  <a:pt x="3118" y="19"/>
                  <a:pt x="3118" y="19"/>
                </a:cubicBezTo>
                <a:cubicBezTo>
                  <a:pt x="3118" y="0"/>
                  <a:pt x="3118" y="0"/>
                  <a:pt x="3118" y="0"/>
                </a:cubicBezTo>
                <a:cubicBezTo>
                  <a:pt x="3118" y="0"/>
                  <a:pt x="3085" y="93"/>
                  <a:pt x="2965" y="93"/>
                </a:cubicBezTo>
                <a:close/>
              </a:path>
            </a:pathLst>
          </a:custGeom>
          <a:solidFill>
            <a:schemeClr val="accent5"/>
          </a:solidFill>
          <a:ln w="9525">
            <a:noFill/>
            <a:round/>
            <a:headEnd/>
            <a:tailEnd/>
          </a:ln>
          <a:effectLst>
            <a:outerShdw blurRad="50800" dist="25400" dir="5400000" algn="t" rotWithShape="0">
              <a:prstClr val="black">
                <a:alpha val="31000"/>
              </a:prstClr>
            </a:outerShdw>
          </a:effectLst>
        </p:spPr>
        <p:txBody>
          <a:bodyPr vert="horz" wrap="square" lIns="99563" tIns="49782" rIns="99563" bIns="49782" numCol="1" anchor="t" anchorCtr="0" compatLnSpc="1">
            <a:prstTxWarp prst="textNoShape">
              <a:avLst/>
            </a:prstTxWarp>
          </a:bodyPr>
          <a:lstStyle/>
          <a:p>
            <a:endParaRPr lang="fr-FR"/>
          </a:p>
        </p:txBody>
      </p:sp>
      <p:cxnSp>
        <p:nvCxnSpPr>
          <p:cNvPr id="15" name="Straight Connector 5"/>
          <p:cNvCxnSpPr/>
          <p:nvPr>
            <p:custDataLst>
              <p:tags r:id="rId25"/>
            </p:custDataLst>
          </p:nvPr>
        </p:nvCxnSpPr>
        <p:spPr>
          <a:xfrm flipH="1">
            <a:off x="2" y="6362700"/>
            <a:ext cx="9143999" cy="0"/>
          </a:xfrm>
          <a:prstGeom prst="line">
            <a:avLst/>
          </a:prstGeom>
          <a:ln w="9525" cmpd="sng">
            <a:solidFill>
              <a:schemeClr val="accent5"/>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 xmlns:p14="http://schemas.microsoft.com/office/powerpoint/2010/main" val="3415721856"/>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 id="2147483684" r:id="rId14"/>
    <p:sldLayoutId id="2147483685" r:id="rId15"/>
    <p:sldLayoutId id="2147483686" r:id="rId16"/>
    <p:sldLayoutId id="2147483687" r:id="rId17"/>
  </p:sldLayoutIdLst>
  <p:timing>
    <p:tnLst>
      <p:par>
        <p:cTn id="1" dur="indefinite" restart="never" nodeType="tmRoot"/>
      </p:par>
    </p:tnLst>
  </p:timing>
  <p:hf sldNum="0" hdr="0" dt="0"/>
  <p:txStyles>
    <p:titleStyle>
      <a:lvl1pPr marL="0" indent="0" algn="l" defTabSz="914342" rtl="0" eaLnBrk="1" latinLnBrk="0" hangingPunct="1">
        <a:lnSpc>
          <a:spcPct val="85000"/>
        </a:lnSpc>
        <a:spcBef>
          <a:spcPct val="0"/>
        </a:spcBef>
        <a:buNone/>
        <a:defRPr sz="3200" b="0" kern="1200">
          <a:solidFill>
            <a:schemeClr val="tx1"/>
          </a:solidFill>
          <a:latin typeface="+mj-lt"/>
          <a:ea typeface="+mj-ea"/>
          <a:cs typeface="+mj-cs"/>
        </a:defRPr>
      </a:lvl1pPr>
    </p:titleStyle>
    <p:bodyStyle>
      <a:lvl1pPr marL="166189" indent="-166189" algn="l" defTabSz="914342" rtl="0" eaLnBrk="1" latinLnBrk="0" hangingPunct="1">
        <a:lnSpc>
          <a:spcPct val="90000"/>
        </a:lnSpc>
        <a:spcBef>
          <a:spcPts val="0"/>
        </a:spcBef>
        <a:spcAft>
          <a:spcPts val="600"/>
        </a:spcAft>
        <a:buClr>
          <a:schemeClr val="accent5"/>
        </a:buClr>
        <a:buFont typeface="Wingdings" pitchFamily="2" charset="2"/>
        <a:buChar char="§"/>
        <a:defRPr sz="2200" b="0" kern="1200">
          <a:solidFill>
            <a:schemeClr val="bg2">
              <a:lumMod val="50000"/>
            </a:schemeClr>
          </a:solidFill>
          <a:latin typeface="+mn-lt"/>
          <a:ea typeface="+mn-ea"/>
          <a:cs typeface="+mn-cs"/>
        </a:defRPr>
      </a:lvl1pPr>
      <a:lvl2pPr marL="355600" indent="-180975" algn="l" defTabSz="914342" rtl="0" eaLnBrk="1" latinLnBrk="0" hangingPunct="1">
        <a:lnSpc>
          <a:spcPct val="90000"/>
        </a:lnSpc>
        <a:spcBef>
          <a:spcPts val="0"/>
        </a:spcBef>
        <a:spcAft>
          <a:spcPts val="600"/>
        </a:spcAft>
        <a:buClr>
          <a:schemeClr val="accent3"/>
        </a:buClr>
        <a:buFont typeface="Wingdings" pitchFamily="2" charset="2"/>
        <a:buChar char="§"/>
        <a:defRPr sz="1800" kern="1200">
          <a:solidFill>
            <a:schemeClr val="bg2">
              <a:lumMod val="50000"/>
            </a:schemeClr>
          </a:solidFill>
          <a:latin typeface="+mn-lt"/>
          <a:ea typeface="+mn-ea"/>
          <a:cs typeface="+mn-cs"/>
        </a:defRPr>
      </a:lvl2pPr>
      <a:lvl3pPr marL="536575" indent="-165100" algn="l" defTabSz="914342" rtl="0" eaLnBrk="1" latinLnBrk="0" hangingPunct="1">
        <a:lnSpc>
          <a:spcPct val="90000"/>
        </a:lnSpc>
        <a:spcBef>
          <a:spcPts val="0"/>
        </a:spcBef>
        <a:spcAft>
          <a:spcPts val="600"/>
        </a:spcAft>
        <a:buClr>
          <a:schemeClr val="accent2"/>
        </a:buClr>
        <a:buFont typeface="Arial" pitchFamily="34" charset="0"/>
        <a:buChar char="•"/>
        <a:tabLst/>
        <a:defRPr sz="1600" kern="1200">
          <a:solidFill>
            <a:schemeClr val="bg2">
              <a:lumMod val="50000"/>
            </a:schemeClr>
          </a:solidFill>
          <a:latin typeface="+mn-lt"/>
          <a:ea typeface="+mn-ea"/>
          <a:cs typeface="+mn-cs"/>
        </a:defRPr>
      </a:lvl3pPr>
      <a:lvl4pPr marL="711200" indent="-165100" algn="l" defTabSz="914342" rtl="0" eaLnBrk="1" latinLnBrk="0" hangingPunct="1">
        <a:lnSpc>
          <a:spcPct val="90000"/>
        </a:lnSpc>
        <a:spcBef>
          <a:spcPts val="0"/>
        </a:spcBef>
        <a:spcAft>
          <a:spcPts val="600"/>
        </a:spcAft>
        <a:buClr>
          <a:schemeClr val="bg2"/>
        </a:buClr>
        <a:buFont typeface="Arial" pitchFamily="34" charset="0"/>
        <a:buChar char="–"/>
        <a:tabLst/>
        <a:defRPr sz="1400" kern="1200">
          <a:solidFill>
            <a:schemeClr val="bg2">
              <a:lumMod val="50000"/>
            </a:schemeClr>
          </a:solidFill>
          <a:latin typeface="+mn-lt"/>
          <a:ea typeface="+mn-ea"/>
          <a:cs typeface="+mn-cs"/>
        </a:defRPr>
      </a:lvl4pPr>
      <a:lvl5pPr marL="1609624" indent="-193663" algn="l" defTabSz="914342" rtl="0" eaLnBrk="1" latinLnBrk="0" hangingPunct="1">
        <a:spcBef>
          <a:spcPts val="0"/>
        </a:spcBef>
        <a:buClr>
          <a:srgbClr val="B1B1B1"/>
        </a:buClr>
        <a:buFont typeface="Arial" pitchFamily="34" charset="0"/>
        <a:buChar char="–"/>
        <a:defRPr sz="1700" kern="1200">
          <a:solidFill>
            <a:srgbClr val="494949"/>
          </a:solidFill>
          <a:latin typeface="+mn-lt"/>
          <a:ea typeface="+mn-ea"/>
          <a:cs typeface="+mn-cs"/>
        </a:defRPr>
      </a:lvl5pPr>
      <a:lvl6pPr marL="2514441"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12"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783"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954"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342" rtl="0" eaLnBrk="1" latinLnBrk="0" hangingPunct="1">
        <a:defRPr sz="1800" kern="1200">
          <a:solidFill>
            <a:schemeClr val="tx1"/>
          </a:solidFill>
          <a:latin typeface="+mn-lt"/>
          <a:ea typeface="+mn-ea"/>
          <a:cs typeface="+mn-cs"/>
        </a:defRPr>
      </a:lvl1pPr>
      <a:lvl2pPr marL="457171" algn="l" defTabSz="914342" rtl="0" eaLnBrk="1" latinLnBrk="0" hangingPunct="1">
        <a:defRPr sz="1800" kern="1200">
          <a:solidFill>
            <a:schemeClr val="tx1"/>
          </a:solidFill>
          <a:latin typeface="+mn-lt"/>
          <a:ea typeface="+mn-ea"/>
          <a:cs typeface="+mn-cs"/>
        </a:defRPr>
      </a:lvl2pPr>
      <a:lvl3pPr marL="914342" algn="l" defTabSz="914342" rtl="0" eaLnBrk="1" latinLnBrk="0" hangingPunct="1">
        <a:defRPr sz="1800" kern="1200">
          <a:solidFill>
            <a:schemeClr val="tx1"/>
          </a:solidFill>
          <a:latin typeface="+mn-lt"/>
          <a:ea typeface="+mn-ea"/>
          <a:cs typeface="+mn-cs"/>
        </a:defRPr>
      </a:lvl3pPr>
      <a:lvl4pPr marL="1371513" algn="l" defTabSz="914342" rtl="0" eaLnBrk="1" latinLnBrk="0" hangingPunct="1">
        <a:defRPr sz="1800" kern="1200">
          <a:solidFill>
            <a:schemeClr val="tx1"/>
          </a:solidFill>
          <a:latin typeface="+mn-lt"/>
          <a:ea typeface="+mn-ea"/>
          <a:cs typeface="+mn-cs"/>
        </a:defRPr>
      </a:lvl4pPr>
      <a:lvl5pPr marL="1828684" algn="l" defTabSz="914342" rtl="0" eaLnBrk="1" latinLnBrk="0" hangingPunct="1">
        <a:defRPr sz="1800" kern="1200">
          <a:solidFill>
            <a:schemeClr val="tx1"/>
          </a:solidFill>
          <a:latin typeface="+mn-lt"/>
          <a:ea typeface="+mn-ea"/>
          <a:cs typeface="+mn-cs"/>
        </a:defRPr>
      </a:lvl5pPr>
      <a:lvl6pPr marL="2285855" algn="l" defTabSz="914342" rtl="0" eaLnBrk="1" latinLnBrk="0" hangingPunct="1">
        <a:defRPr sz="1800" kern="1200">
          <a:solidFill>
            <a:schemeClr val="tx1"/>
          </a:solidFill>
          <a:latin typeface="+mn-lt"/>
          <a:ea typeface="+mn-ea"/>
          <a:cs typeface="+mn-cs"/>
        </a:defRPr>
      </a:lvl6pPr>
      <a:lvl7pPr marL="2743026" algn="l" defTabSz="914342" rtl="0" eaLnBrk="1" latinLnBrk="0" hangingPunct="1">
        <a:defRPr sz="1800" kern="1200">
          <a:solidFill>
            <a:schemeClr val="tx1"/>
          </a:solidFill>
          <a:latin typeface="+mn-lt"/>
          <a:ea typeface="+mn-ea"/>
          <a:cs typeface="+mn-cs"/>
        </a:defRPr>
      </a:lvl7pPr>
      <a:lvl8pPr marL="3200198" algn="l" defTabSz="914342" rtl="0" eaLnBrk="1" latinLnBrk="0" hangingPunct="1">
        <a:defRPr sz="1800" kern="1200">
          <a:solidFill>
            <a:schemeClr val="tx1"/>
          </a:solidFill>
          <a:latin typeface="+mn-lt"/>
          <a:ea typeface="+mn-ea"/>
          <a:cs typeface="+mn-cs"/>
        </a:defRPr>
      </a:lvl8pPr>
      <a:lvl9pPr marL="3657369" algn="l" defTabSz="914342"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ctrTitle"/>
          </p:nvPr>
        </p:nvSpPr>
        <p:spPr/>
        <p:txBody>
          <a:bodyPr>
            <a:normAutofit/>
          </a:bodyPr>
          <a:lstStyle/>
          <a:p>
            <a:r>
              <a:rPr lang="en-US" sz="3600" dirty="0"/>
              <a:t>Core Java 8 </a:t>
            </a:r>
            <a:r>
              <a:rPr lang="en-US" sz="3600" dirty="0" smtClean="0"/>
              <a:t>and </a:t>
            </a:r>
            <a:r>
              <a:rPr lang="en-US" sz="3600" dirty="0"/>
              <a:t>Development Tools</a:t>
            </a:r>
          </a:p>
        </p:txBody>
      </p:sp>
      <p:sp>
        <p:nvSpPr>
          <p:cNvPr id="12" name="Subtitle 11"/>
          <p:cNvSpPr>
            <a:spLocks noGrp="1"/>
          </p:cNvSpPr>
          <p:nvPr>
            <p:ph type="subTitle" idx="1"/>
          </p:nvPr>
        </p:nvSpPr>
        <p:spPr/>
        <p:txBody>
          <a:bodyPr>
            <a:normAutofit/>
          </a:bodyPr>
          <a:lstStyle/>
          <a:p>
            <a:pPr algn="l"/>
            <a:r>
              <a:rPr lang="en-US" sz="2000" dirty="0" smtClean="0">
                <a:solidFill>
                  <a:schemeClr val="tx1"/>
                </a:solidFill>
              </a:rPr>
              <a:t>Lesson 21 : Lambda </a:t>
            </a:r>
            <a:r>
              <a:rPr lang="en-US" sz="2000" dirty="0">
                <a:solidFill>
                  <a:schemeClr val="tx1"/>
                </a:solidFill>
              </a:rPr>
              <a:t>Expressions</a:t>
            </a:r>
          </a:p>
        </p:txBody>
      </p:sp>
    </p:spTree>
    <p:extLst>
      <p:ext uri="{BB962C8B-B14F-4D97-AF65-F5344CB8AC3E}">
        <p14:creationId xmlns="" xmlns:p14="http://schemas.microsoft.com/office/powerpoint/2010/main" val="100069674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dirty="0" smtClean="0"/>
              <a:t>Lesson Objectives</a:t>
            </a:r>
            <a:endParaRPr lang="en-US" sz="2400" dirty="0"/>
          </a:p>
        </p:txBody>
      </p:sp>
      <p:sp>
        <p:nvSpPr>
          <p:cNvPr id="2" name="Content Placeholder 1"/>
          <p:cNvSpPr>
            <a:spLocks noGrp="1"/>
          </p:cNvSpPr>
          <p:nvPr>
            <p:ph idx="1"/>
          </p:nvPr>
        </p:nvSpPr>
        <p:spPr/>
        <p:txBody>
          <a:bodyPr/>
          <a:lstStyle/>
          <a:p>
            <a:r>
              <a:rPr lang="en-US" dirty="0"/>
              <a:t>After completing this lesson, participants will be able to </a:t>
            </a:r>
          </a:p>
          <a:p>
            <a:pPr lvl="1"/>
            <a:r>
              <a:rPr lang="en-US" dirty="0"/>
              <a:t>Understand the concept of Lambda expressions</a:t>
            </a:r>
          </a:p>
          <a:p>
            <a:pPr lvl="1"/>
            <a:r>
              <a:rPr lang="en-US" dirty="0"/>
              <a:t>Work with  lambda expressions </a:t>
            </a:r>
          </a:p>
          <a:p>
            <a:pPr lvl="1"/>
            <a:r>
              <a:rPr lang="en-US" dirty="0"/>
              <a:t>Use method references and functional interfaces</a:t>
            </a:r>
          </a:p>
          <a:p>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p:txBody>
          <a:bodyPr/>
          <a:lstStyle/>
          <a:p>
            <a:r>
              <a:rPr lang="en-US" dirty="0" smtClean="0">
                <a:solidFill>
                  <a:schemeClr val="tx1"/>
                </a:solidFill>
              </a:rPr>
              <a:t>Functional Interface is an interface having exactly one abstract method  </a:t>
            </a:r>
          </a:p>
          <a:p>
            <a:r>
              <a:rPr lang="en-US" dirty="0" smtClean="0">
                <a:solidFill>
                  <a:schemeClr val="tx1"/>
                </a:solidFill>
              </a:rPr>
              <a:t>Such interfaces are marked with optional @FunctionalInterface annotation</a:t>
            </a:r>
          </a:p>
          <a:p>
            <a:endParaRPr lang="en-US" dirty="0">
              <a:solidFill>
                <a:schemeClr val="tx1"/>
              </a:solidFill>
            </a:endParaRPr>
          </a:p>
          <a:p>
            <a:endParaRPr lang="en-US" dirty="0" smtClean="0">
              <a:solidFill>
                <a:schemeClr val="tx1"/>
              </a:solidFill>
            </a:endParaRPr>
          </a:p>
          <a:p>
            <a:endParaRPr lang="en-US" dirty="0">
              <a:solidFill>
                <a:schemeClr val="tx1"/>
              </a:solidFill>
            </a:endParaRPr>
          </a:p>
          <a:p>
            <a:endParaRPr lang="en-US" dirty="0" smtClean="0">
              <a:solidFill>
                <a:schemeClr val="tx1"/>
              </a:solidFill>
            </a:endParaRPr>
          </a:p>
          <a:p>
            <a:endParaRPr lang="en-US" dirty="0">
              <a:solidFill>
                <a:schemeClr val="tx1"/>
              </a:solidFill>
            </a:endParaRPr>
          </a:p>
          <a:p>
            <a:endParaRPr lang="en-US" dirty="0" smtClean="0">
              <a:solidFill>
                <a:schemeClr val="tx1"/>
              </a:solidFill>
            </a:endParaRPr>
          </a:p>
          <a:p>
            <a:endParaRPr lang="en-US" dirty="0">
              <a:solidFill>
                <a:schemeClr val="tx1"/>
              </a:solidFill>
            </a:endParaRPr>
          </a:p>
        </p:txBody>
      </p:sp>
      <p:sp>
        <p:nvSpPr>
          <p:cNvPr id="4" name="AutoShape 4"/>
          <p:cNvSpPr>
            <a:spLocks noChangeArrowheads="1"/>
          </p:cNvSpPr>
          <p:nvPr/>
        </p:nvSpPr>
        <p:spPr bwMode="auto">
          <a:xfrm>
            <a:off x="944561" y="3056565"/>
            <a:ext cx="5772832" cy="2380335"/>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anchor="ctr"/>
          <a:lstStyle/>
          <a:p>
            <a:pPr lvl="1">
              <a:lnSpc>
                <a:spcPct val="135000"/>
              </a:lnSpc>
            </a:pPr>
            <a:r>
              <a:rPr lang="en-US" dirty="0" smtClean="0">
                <a:solidFill>
                  <a:schemeClr val="tx1"/>
                </a:solidFill>
                <a:latin typeface="+mj-lt"/>
                <a:cs typeface="Arial" pitchFamily="34" charset="0"/>
              </a:rPr>
              <a:t>@FunctionalInterface</a:t>
            </a:r>
          </a:p>
          <a:p>
            <a:pPr lvl="1">
              <a:lnSpc>
                <a:spcPct val="135000"/>
              </a:lnSpc>
            </a:pPr>
            <a:r>
              <a:rPr lang="en-US" dirty="0" smtClean="0">
                <a:solidFill>
                  <a:schemeClr val="tx1"/>
                </a:solidFill>
                <a:latin typeface="+mj-lt"/>
                <a:cs typeface="Arial" pitchFamily="34" charset="0"/>
              </a:rPr>
              <a:t>interface xyz {</a:t>
            </a:r>
            <a:endParaRPr lang="en-US" dirty="0">
              <a:solidFill>
                <a:schemeClr val="tx1"/>
              </a:solidFill>
              <a:latin typeface="+mj-lt"/>
              <a:cs typeface="Arial" pitchFamily="34" charset="0"/>
            </a:endParaRPr>
          </a:p>
          <a:p>
            <a:pPr lvl="1">
              <a:lnSpc>
                <a:spcPct val="135000"/>
              </a:lnSpc>
            </a:pPr>
            <a:r>
              <a:rPr lang="en-US" dirty="0" smtClean="0">
                <a:solidFill>
                  <a:schemeClr val="tx1"/>
                </a:solidFill>
                <a:latin typeface="+mj-lt"/>
                <a:cs typeface="Arial" pitchFamily="34" charset="0"/>
              </a:rPr>
              <a:t>            //single abstract method</a:t>
            </a:r>
            <a:endParaRPr lang="en-US" dirty="0">
              <a:solidFill>
                <a:schemeClr val="tx1"/>
              </a:solidFill>
              <a:latin typeface="+mj-lt"/>
              <a:cs typeface="Arial" pitchFamily="34" charset="0"/>
            </a:endParaRPr>
          </a:p>
          <a:p>
            <a:pPr lvl="1">
              <a:lnSpc>
                <a:spcPct val="135000"/>
              </a:lnSpc>
            </a:pPr>
            <a:r>
              <a:rPr lang="en-US" dirty="0" smtClean="0">
                <a:solidFill>
                  <a:schemeClr val="tx1"/>
                </a:solidFill>
                <a:latin typeface="+mj-lt"/>
                <a:cs typeface="Arial" pitchFamily="34" charset="0"/>
              </a:rPr>
              <a:t>}</a:t>
            </a:r>
            <a:endParaRPr lang="en-US" dirty="0">
              <a:solidFill>
                <a:schemeClr val="tx1"/>
              </a:solidFill>
              <a:latin typeface="+mj-lt"/>
              <a:cs typeface="Arial" pitchFamily="34" charset="0"/>
            </a:endParaRPr>
          </a:p>
        </p:txBody>
      </p:sp>
      <p:sp>
        <p:nvSpPr>
          <p:cNvPr id="2" name="Title 1"/>
          <p:cNvSpPr>
            <a:spLocks noGrp="1"/>
          </p:cNvSpPr>
          <p:nvPr>
            <p:ph type="title"/>
          </p:nvPr>
        </p:nvSpPr>
        <p:spPr/>
        <p:txBody>
          <a:bodyPr/>
          <a:lstStyle/>
          <a:p>
            <a:r>
              <a:rPr lang="en-US" sz="1200" dirty="0"/>
              <a:t>21.1: Introduction to Functional Interface</a:t>
            </a:r>
            <a:r>
              <a:rPr lang="en-US" dirty="0"/>
              <a:t/>
            </a:r>
            <a:br>
              <a:rPr lang="en-US" dirty="0"/>
            </a:br>
            <a:r>
              <a:rPr lang="en-US" dirty="0"/>
              <a:t>Functional Interface</a:t>
            </a:r>
          </a:p>
        </p:txBody>
      </p:sp>
    </p:spTree>
    <p:extLst>
      <p:ext uri="{BB962C8B-B14F-4D97-AF65-F5344CB8AC3E}">
        <p14:creationId xmlns="" xmlns:p14="http://schemas.microsoft.com/office/powerpoint/2010/main" val="74484700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z="1200" dirty="0"/>
              <a:t>21.1: Introduction to Functional Interface</a:t>
            </a:r>
            <a:r>
              <a:rPr lang="en-US" dirty="0" smtClean="0"/>
              <a:t/>
            </a:r>
            <a:br>
              <a:rPr lang="en-US" dirty="0" smtClean="0"/>
            </a:br>
            <a:r>
              <a:rPr lang="en-US" dirty="0" smtClean="0"/>
              <a:t>Functional Interface : Example </a:t>
            </a:r>
            <a:endParaRPr lang="en-US" sz="2400" dirty="0"/>
          </a:p>
        </p:txBody>
      </p:sp>
      <p:sp>
        <p:nvSpPr>
          <p:cNvPr id="6" name="Content Placeholder 5"/>
          <p:cNvSpPr>
            <a:spLocks noGrp="1"/>
          </p:cNvSpPr>
          <p:nvPr>
            <p:ph idx="1"/>
          </p:nvPr>
        </p:nvSpPr>
        <p:spPr/>
        <p:txBody>
          <a:bodyPr/>
          <a:lstStyle/>
          <a:p>
            <a:endParaRPr lang="en-US" dirty="0" smtClean="0">
              <a:solidFill>
                <a:schemeClr val="tx1"/>
              </a:solidFill>
            </a:endParaRPr>
          </a:p>
          <a:p>
            <a:endParaRPr lang="en-US" dirty="0">
              <a:solidFill>
                <a:schemeClr val="tx1"/>
              </a:solidFill>
            </a:endParaRPr>
          </a:p>
          <a:p>
            <a:endParaRPr lang="en-US" dirty="0" smtClean="0">
              <a:solidFill>
                <a:schemeClr val="tx1"/>
              </a:solidFill>
            </a:endParaRPr>
          </a:p>
          <a:p>
            <a:pPr marL="0" indent="0">
              <a:buNone/>
            </a:pPr>
            <a:endParaRPr lang="en-US" dirty="0" smtClean="0">
              <a:solidFill>
                <a:schemeClr val="tx1"/>
              </a:solidFill>
            </a:endParaRPr>
          </a:p>
          <a:p>
            <a:endParaRPr lang="en-US" dirty="0" smtClean="0">
              <a:solidFill>
                <a:schemeClr val="tx1"/>
              </a:solidFill>
            </a:endParaRPr>
          </a:p>
          <a:p>
            <a:endParaRPr lang="en-US" dirty="0">
              <a:solidFill>
                <a:schemeClr val="tx1"/>
              </a:solidFill>
            </a:endParaRPr>
          </a:p>
          <a:p>
            <a:endParaRPr lang="en-US" dirty="0">
              <a:solidFill>
                <a:schemeClr val="tx1"/>
              </a:solidFill>
            </a:endParaRPr>
          </a:p>
        </p:txBody>
      </p:sp>
      <p:sp>
        <p:nvSpPr>
          <p:cNvPr id="11" name="AutoShape 4"/>
          <p:cNvSpPr>
            <a:spLocks noChangeArrowheads="1"/>
          </p:cNvSpPr>
          <p:nvPr/>
        </p:nvSpPr>
        <p:spPr bwMode="auto">
          <a:xfrm>
            <a:off x="758371" y="1669585"/>
            <a:ext cx="7485743" cy="1741714"/>
          </a:xfrm>
          <a:prstGeom prst="roundRect">
            <a:avLst>
              <a:gd name="adj" fmla="val 10804"/>
            </a:avLst>
          </a:prstGeom>
          <a:noFill/>
          <a:ln w="19050">
            <a:solidFill>
              <a:schemeClr val="tx1"/>
            </a:solidFill>
            <a:round/>
            <a:headEnd/>
            <a:tailEnd/>
          </a:ln>
          <a:effectLst/>
        </p:spPr>
        <p:txBody>
          <a:bodyPr anchor="ctr"/>
          <a:lstStyle/>
          <a:p>
            <a:pPr lvl="1"/>
            <a:r>
              <a:rPr lang="en-US" dirty="0">
                <a:latin typeface="+mj-lt"/>
              </a:rPr>
              <a:t>@FunctionalInterface</a:t>
            </a:r>
          </a:p>
          <a:p>
            <a:pPr lvl="1"/>
            <a:r>
              <a:rPr lang="en-US" dirty="0">
                <a:latin typeface="+mj-lt"/>
              </a:rPr>
              <a:t>public interface </a:t>
            </a:r>
            <a:r>
              <a:rPr lang="en-US" dirty="0" err="1">
                <a:latin typeface="+mj-lt"/>
              </a:rPr>
              <a:t>MaxFinder</a:t>
            </a:r>
            <a:r>
              <a:rPr lang="en-US" dirty="0">
                <a:latin typeface="+mj-lt"/>
              </a:rPr>
              <a:t> </a:t>
            </a:r>
            <a:r>
              <a:rPr lang="en-US" dirty="0" smtClean="0">
                <a:latin typeface="+mj-lt"/>
              </a:rPr>
              <a:t>{</a:t>
            </a:r>
          </a:p>
          <a:p>
            <a:pPr lvl="1"/>
            <a:r>
              <a:rPr lang="en-US" dirty="0">
                <a:latin typeface="+mj-lt"/>
              </a:rPr>
              <a:t>	</a:t>
            </a:r>
            <a:r>
              <a:rPr lang="en-US" dirty="0" smtClean="0">
                <a:latin typeface="+mj-lt"/>
              </a:rPr>
              <a:t>//single abstract method to find max between two numbers</a:t>
            </a:r>
            <a:endParaRPr lang="en-US" dirty="0">
              <a:latin typeface="+mj-lt"/>
            </a:endParaRPr>
          </a:p>
          <a:p>
            <a:pPr lvl="1"/>
            <a:r>
              <a:rPr lang="en-US" dirty="0">
                <a:latin typeface="+mj-lt"/>
              </a:rPr>
              <a:t>	public </a:t>
            </a:r>
            <a:r>
              <a:rPr lang="en-US" dirty="0" err="1">
                <a:latin typeface="+mj-lt"/>
              </a:rPr>
              <a:t>int</a:t>
            </a:r>
            <a:r>
              <a:rPr lang="en-US" dirty="0">
                <a:latin typeface="+mj-lt"/>
              </a:rPr>
              <a:t> maximum(</a:t>
            </a:r>
            <a:r>
              <a:rPr lang="en-US" dirty="0" err="1">
                <a:latin typeface="+mj-lt"/>
              </a:rPr>
              <a:t>int</a:t>
            </a:r>
            <a:r>
              <a:rPr lang="en-US" dirty="0">
                <a:latin typeface="+mj-lt"/>
              </a:rPr>
              <a:t> num1,int num2);</a:t>
            </a:r>
          </a:p>
          <a:p>
            <a:pPr lvl="1"/>
            <a:r>
              <a:rPr lang="en-US" dirty="0" smtClean="0">
                <a:latin typeface="+mj-lt"/>
              </a:rPr>
              <a:t>}</a:t>
            </a:r>
            <a:endParaRPr lang="en-US" dirty="0">
              <a:latin typeface="+mj-lt"/>
            </a:endParaRPr>
          </a:p>
        </p:txBody>
      </p:sp>
      <p:sp>
        <p:nvSpPr>
          <p:cNvPr id="13" name="AutoShape 4"/>
          <p:cNvSpPr>
            <a:spLocks noChangeArrowheads="1"/>
          </p:cNvSpPr>
          <p:nvPr/>
        </p:nvSpPr>
        <p:spPr bwMode="auto">
          <a:xfrm>
            <a:off x="758371" y="3599542"/>
            <a:ext cx="7485743" cy="1262743"/>
          </a:xfrm>
          <a:prstGeom prst="roundRect">
            <a:avLst>
              <a:gd name="adj" fmla="val 10804"/>
            </a:avLst>
          </a:prstGeom>
          <a:noFill/>
          <a:ln w="19050">
            <a:solidFill>
              <a:schemeClr val="tx1"/>
            </a:solidFill>
            <a:round/>
            <a:headEnd/>
            <a:tailEnd/>
          </a:ln>
          <a:effectLst/>
        </p:spPr>
        <p:txBody>
          <a:bodyPr anchor="ctr"/>
          <a:lstStyle/>
          <a:p>
            <a:pPr lvl="1"/>
            <a:r>
              <a:rPr lang="en-US" sz="2000" b="1" dirty="0" smtClean="0">
                <a:latin typeface="+mj-lt"/>
              </a:rPr>
              <a:t>How to implement this interface?</a:t>
            </a:r>
            <a:endParaRPr lang="en-US" sz="2000" b="1" dirty="0">
              <a:latin typeface="+mj-lt"/>
            </a:endParaRPr>
          </a:p>
        </p:txBody>
      </p:sp>
      <p:pic>
        <p:nvPicPr>
          <p:cNvPr id="14" name="Picture 6" descr="light bulb2"/>
          <p:cNvPicPr>
            <a:picLocks noChangeAspect="1" noChangeArrowheads="1"/>
          </p:cNvPicPr>
          <p:nvPr/>
        </p:nvPicPr>
        <p:blipFill>
          <a:blip r:embed="rId3"/>
          <a:srcRect/>
          <a:stretch>
            <a:fillRect/>
          </a:stretch>
        </p:blipFill>
        <p:spPr bwMode="auto">
          <a:xfrm>
            <a:off x="7430063" y="4194626"/>
            <a:ext cx="914400" cy="914400"/>
          </a:xfrm>
          <a:prstGeom prst="rect">
            <a:avLst/>
          </a:prstGeom>
          <a:noFill/>
        </p:spPr>
      </p:pic>
    </p:spTree>
    <p:extLst>
      <p:ext uri="{BB962C8B-B14F-4D97-AF65-F5344CB8AC3E}">
        <p14:creationId xmlns="" xmlns:p14="http://schemas.microsoft.com/office/powerpoint/2010/main" val="195943892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z="1200" dirty="0"/>
              <a:t>21.1: Introduction to Functional Interface</a:t>
            </a:r>
            <a:r>
              <a:rPr lang="en-US" dirty="0" smtClean="0"/>
              <a:t/>
            </a:r>
            <a:br>
              <a:rPr lang="en-US" dirty="0" smtClean="0"/>
            </a:br>
            <a:r>
              <a:rPr lang="en-US" dirty="0" smtClean="0"/>
              <a:t>Functional Interface : Implementation </a:t>
            </a:r>
            <a:endParaRPr lang="en-US" sz="2400" dirty="0"/>
          </a:p>
        </p:txBody>
      </p:sp>
      <p:sp>
        <p:nvSpPr>
          <p:cNvPr id="6" name="Content Placeholder 5"/>
          <p:cNvSpPr>
            <a:spLocks noGrp="1"/>
          </p:cNvSpPr>
          <p:nvPr>
            <p:ph idx="1"/>
          </p:nvPr>
        </p:nvSpPr>
        <p:spPr/>
        <p:txBody>
          <a:bodyPr/>
          <a:lstStyle/>
          <a:p>
            <a:r>
              <a:rPr lang="en-US" dirty="0" smtClean="0">
                <a:solidFill>
                  <a:schemeClr val="tx1"/>
                </a:solidFill>
              </a:rPr>
              <a:t>Class Implementation: </a:t>
            </a:r>
          </a:p>
          <a:p>
            <a:endParaRPr lang="en-US" dirty="0">
              <a:solidFill>
                <a:schemeClr val="tx1"/>
              </a:solidFill>
            </a:endParaRPr>
          </a:p>
          <a:p>
            <a:endParaRPr lang="en-US" dirty="0" smtClean="0">
              <a:solidFill>
                <a:schemeClr val="tx1"/>
              </a:solidFill>
            </a:endParaRPr>
          </a:p>
          <a:p>
            <a:endParaRPr lang="en-US" dirty="0">
              <a:solidFill>
                <a:schemeClr val="tx1"/>
              </a:solidFill>
            </a:endParaRPr>
          </a:p>
          <a:p>
            <a:endParaRPr lang="en-US" dirty="0" smtClean="0">
              <a:solidFill>
                <a:schemeClr val="tx1"/>
              </a:solidFill>
            </a:endParaRPr>
          </a:p>
          <a:p>
            <a:endParaRPr lang="en-US" dirty="0">
              <a:solidFill>
                <a:schemeClr val="tx1"/>
              </a:solidFill>
            </a:endParaRPr>
          </a:p>
          <a:p>
            <a:endParaRPr lang="en-US" dirty="0" smtClean="0">
              <a:solidFill>
                <a:schemeClr val="tx1"/>
              </a:solidFill>
            </a:endParaRPr>
          </a:p>
          <a:p>
            <a:endParaRPr lang="en-US" dirty="0">
              <a:solidFill>
                <a:schemeClr val="tx1"/>
              </a:solidFill>
            </a:endParaRPr>
          </a:p>
          <a:p>
            <a:endParaRPr lang="en-US" dirty="0" smtClean="0">
              <a:solidFill>
                <a:schemeClr val="tx1"/>
              </a:solidFill>
            </a:endParaRPr>
          </a:p>
          <a:p>
            <a:endParaRPr lang="en-US" dirty="0">
              <a:solidFill>
                <a:schemeClr val="tx1"/>
              </a:solidFill>
            </a:endParaRPr>
          </a:p>
          <a:p>
            <a:endParaRPr lang="en-US" dirty="0" smtClean="0">
              <a:solidFill>
                <a:schemeClr val="tx1"/>
              </a:solidFill>
            </a:endParaRPr>
          </a:p>
          <a:p>
            <a:endParaRPr lang="en-US" dirty="0">
              <a:solidFill>
                <a:schemeClr val="tx1"/>
              </a:solidFill>
            </a:endParaRPr>
          </a:p>
          <a:p>
            <a:endParaRPr lang="en-US" dirty="0" smtClean="0">
              <a:solidFill>
                <a:schemeClr val="tx1"/>
              </a:solidFill>
            </a:endParaRPr>
          </a:p>
          <a:p>
            <a:endParaRPr lang="en-US" dirty="0">
              <a:solidFill>
                <a:schemeClr val="tx1"/>
              </a:solidFill>
            </a:endParaRPr>
          </a:p>
        </p:txBody>
      </p:sp>
      <p:sp>
        <p:nvSpPr>
          <p:cNvPr id="5" name="AutoShape 4"/>
          <p:cNvSpPr>
            <a:spLocks noChangeArrowheads="1"/>
          </p:cNvSpPr>
          <p:nvPr/>
        </p:nvSpPr>
        <p:spPr bwMode="auto">
          <a:xfrm>
            <a:off x="758371" y="1997563"/>
            <a:ext cx="7485743" cy="1431438"/>
          </a:xfrm>
          <a:prstGeom prst="roundRect">
            <a:avLst>
              <a:gd name="adj" fmla="val 10804"/>
            </a:avLst>
          </a:prstGeom>
          <a:noFill/>
          <a:ln w="19050">
            <a:solidFill>
              <a:schemeClr val="tx1"/>
            </a:solidFill>
            <a:round/>
            <a:headEnd/>
            <a:tailEnd/>
          </a:ln>
          <a:effectLst/>
        </p:spPr>
        <p:txBody>
          <a:bodyPr anchor="ctr"/>
          <a:lstStyle/>
          <a:p>
            <a:pPr lvl="1"/>
            <a:r>
              <a:rPr lang="en-US" sz="1400" dirty="0">
                <a:latin typeface="+mj-lt"/>
              </a:rPr>
              <a:t>public class </a:t>
            </a:r>
            <a:r>
              <a:rPr lang="en-US" sz="1400" dirty="0" err="1">
                <a:latin typeface="+mj-lt"/>
              </a:rPr>
              <a:t>MaxFinderImpl</a:t>
            </a:r>
            <a:r>
              <a:rPr lang="en-US" sz="1400" dirty="0">
                <a:latin typeface="+mj-lt"/>
              </a:rPr>
              <a:t> implements </a:t>
            </a:r>
            <a:r>
              <a:rPr lang="en-US" sz="1400" dirty="0" err="1">
                <a:latin typeface="+mj-lt"/>
              </a:rPr>
              <a:t>MaxFinder</a:t>
            </a:r>
            <a:r>
              <a:rPr lang="en-US" sz="1400" dirty="0">
                <a:latin typeface="+mj-lt"/>
              </a:rPr>
              <a:t> {</a:t>
            </a:r>
          </a:p>
          <a:p>
            <a:pPr lvl="1"/>
            <a:r>
              <a:rPr lang="en-US" sz="1400" dirty="0">
                <a:latin typeface="+mj-lt"/>
              </a:rPr>
              <a:t>	@Override</a:t>
            </a:r>
          </a:p>
          <a:p>
            <a:pPr lvl="1"/>
            <a:r>
              <a:rPr lang="en-US" sz="1400" dirty="0">
                <a:latin typeface="+mj-lt"/>
              </a:rPr>
              <a:t>	public </a:t>
            </a:r>
            <a:r>
              <a:rPr lang="en-US" sz="1400" dirty="0" err="1">
                <a:latin typeface="+mj-lt"/>
              </a:rPr>
              <a:t>int</a:t>
            </a:r>
            <a:r>
              <a:rPr lang="en-US" sz="1400" dirty="0">
                <a:latin typeface="+mj-lt"/>
              </a:rPr>
              <a:t> maximum(</a:t>
            </a:r>
            <a:r>
              <a:rPr lang="en-US" sz="1400" dirty="0" err="1">
                <a:latin typeface="+mj-lt"/>
              </a:rPr>
              <a:t>int</a:t>
            </a:r>
            <a:r>
              <a:rPr lang="en-US" sz="1400" dirty="0">
                <a:latin typeface="+mj-lt"/>
              </a:rPr>
              <a:t> num1, </a:t>
            </a:r>
            <a:r>
              <a:rPr lang="en-US" sz="1400" dirty="0" err="1">
                <a:latin typeface="+mj-lt"/>
              </a:rPr>
              <a:t>int</a:t>
            </a:r>
            <a:r>
              <a:rPr lang="en-US" sz="1400" dirty="0">
                <a:latin typeface="+mj-lt"/>
              </a:rPr>
              <a:t> num2) {</a:t>
            </a:r>
          </a:p>
          <a:p>
            <a:pPr lvl="1"/>
            <a:r>
              <a:rPr lang="en-US" sz="1400" dirty="0">
                <a:latin typeface="+mj-lt"/>
              </a:rPr>
              <a:t>		return num1&gt;num2?num1:num2;</a:t>
            </a:r>
          </a:p>
          <a:p>
            <a:pPr lvl="1"/>
            <a:r>
              <a:rPr lang="en-US" sz="1400" dirty="0">
                <a:latin typeface="+mj-lt"/>
              </a:rPr>
              <a:t>	}</a:t>
            </a:r>
          </a:p>
          <a:p>
            <a:pPr lvl="1"/>
            <a:r>
              <a:rPr lang="en-US" sz="1400" dirty="0" smtClean="0">
                <a:latin typeface="+mj-lt"/>
              </a:rPr>
              <a:t>}</a:t>
            </a:r>
            <a:endParaRPr lang="en-US" sz="1400" dirty="0">
              <a:latin typeface="+mj-lt"/>
            </a:endParaRPr>
          </a:p>
        </p:txBody>
      </p:sp>
      <p:sp>
        <p:nvSpPr>
          <p:cNvPr id="11" name="AutoShape 4"/>
          <p:cNvSpPr>
            <a:spLocks noChangeArrowheads="1"/>
          </p:cNvSpPr>
          <p:nvPr/>
        </p:nvSpPr>
        <p:spPr bwMode="auto">
          <a:xfrm>
            <a:off x="758371" y="3577446"/>
            <a:ext cx="7485743" cy="1045028"/>
          </a:xfrm>
          <a:prstGeom prst="roundRect">
            <a:avLst>
              <a:gd name="adj" fmla="val 10804"/>
            </a:avLst>
          </a:prstGeom>
          <a:noFill/>
          <a:ln w="19050">
            <a:solidFill>
              <a:schemeClr val="tx1"/>
            </a:solidFill>
            <a:round/>
            <a:headEnd/>
            <a:tailEnd/>
          </a:ln>
          <a:effectLst/>
        </p:spPr>
        <p:txBody>
          <a:bodyPr anchor="ctr"/>
          <a:lstStyle/>
          <a:p>
            <a:pPr lvl="1"/>
            <a:r>
              <a:rPr lang="en-US" dirty="0" err="1" smtClean="0">
                <a:latin typeface="+mj-lt"/>
              </a:rPr>
              <a:t>MaxFinder</a:t>
            </a:r>
            <a:r>
              <a:rPr lang="en-US" dirty="0" smtClean="0">
                <a:latin typeface="+mj-lt"/>
              </a:rPr>
              <a:t> </a:t>
            </a:r>
            <a:r>
              <a:rPr lang="en-US" dirty="0">
                <a:latin typeface="+mj-lt"/>
              </a:rPr>
              <a:t>finder = new </a:t>
            </a:r>
            <a:r>
              <a:rPr lang="en-US" dirty="0" err="1">
                <a:latin typeface="+mj-lt"/>
              </a:rPr>
              <a:t>MaxFinderImpl</a:t>
            </a:r>
            <a:r>
              <a:rPr lang="en-US" dirty="0">
                <a:latin typeface="+mj-lt"/>
              </a:rPr>
              <a:t>();</a:t>
            </a:r>
          </a:p>
          <a:p>
            <a:pPr lvl="1"/>
            <a:r>
              <a:rPr lang="en-US" dirty="0" err="1" smtClean="0">
                <a:latin typeface="+mj-lt"/>
              </a:rPr>
              <a:t>int</a:t>
            </a:r>
            <a:r>
              <a:rPr lang="en-US" dirty="0" smtClean="0">
                <a:latin typeface="+mj-lt"/>
              </a:rPr>
              <a:t> </a:t>
            </a:r>
            <a:r>
              <a:rPr lang="en-US" dirty="0">
                <a:latin typeface="+mj-lt"/>
              </a:rPr>
              <a:t>result = </a:t>
            </a:r>
            <a:r>
              <a:rPr lang="en-US" dirty="0" err="1">
                <a:latin typeface="+mj-lt"/>
              </a:rPr>
              <a:t>finder.maximum</a:t>
            </a:r>
            <a:r>
              <a:rPr lang="en-US" dirty="0">
                <a:latin typeface="+mj-lt"/>
              </a:rPr>
              <a:t>(10, 20</a:t>
            </a:r>
            <a:r>
              <a:rPr lang="en-US" dirty="0" smtClean="0">
                <a:latin typeface="+mj-lt"/>
              </a:rPr>
              <a:t>);</a:t>
            </a:r>
            <a:endParaRPr lang="en-US" dirty="0">
              <a:latin typeface="+mj-lt"/>
            </a:endParaRPr>
          </a:p>
        </p:txBody>
      </p:sp>
      <p:sp>
        <p:nvSpPr>
          <p:cNvPr id="12" name="AutoShape 4"/>
          <p:cNvSpPr>
            <a:spLocks noChangeArrowheads="1"/>
          </p:cNvSpPr>
          <p:nvPr/>
        </p:nvSpPr>
        <p:spPr bwMode="auto">
          <a:xfrm>
            <a:off x="758371" y="4862284"/>
            <a:ext cx="7485743" cy="1262743"/>
          </a:xfrm>
          <a:prstGeom prst="roundRect">
            <a:avLst>
              <a:gd name="adj" fmla="val 10804"/>
            </a:avLst>
          </a:prstGeom>
          <a:noFill/>
          <a:ln w="19050">
            <a:solidFill>
              <a:schemeClr val="tx1"/>
            </a:solidFill>
            <a:round/>
            <a:headEnd/>
            <a:tailEnd/>
          </a:ln>
          <a:effectLst/>
        </p:spPr>
        <p:txBody>
          <a:bodyPr anchor="ctr"/>
          <a:lstStyle/>
          <a:p>
            <a:pPr algn="ctr"/>
            <a:r>
              <a:rPr lang="en-US" sz="1600" b="1" dirty="0" smtClean="0">
                <a:latin typeface="+mj-lt"/>
              </a:rPr>
              <a:t>Want to know more concise way for implementation?</a:t>
            </a:r>
            <a:endParaRPr lang="en-US" sz="1600" b="1" dirty="0">
              <a:latin typeface="+mj-lt"/>
            </a:endParaRPr>
          </a:p>
        </p:txBody>
      </p:sp>
      <p:pic>
        <p:nvPicPr>
          <p:cNvPr id="14" name="Picture 6" descr="light bulb2"/>
          <p:cNvPicPr>
            <a:picLocks noChangeAspect="1" noChangeArrowheads="1"/>
          </p:cNvPicPr>
          <p:nvPr/>
        </p:nvPicPr>
        <p:blipFill>
          <a:blip r:embed="rId3"/>
          <a:srcRect/>
          <a:stretch>
            <a:fillRect/>
          </a:stretch>
        </p:blipFill>
        <p:spPr bwMode="auto">
          <a:xfrm>
            <a:off x="428172" y="5413828"/>
            <a:ext cx="914400" cy="914400"/>
          </a:xfrm>
          <a:prstGeom prst="rect">
            <a:avLst/>
          </a:prstGeom>
          <a:noFill/>
        </p:spPr>
      </p:pic>
    </p:spTree>
    <p:extLst>
      <p:ext uri="{BB962C8B-B14F-4D97-AF65-F5344CB8AC3E}">
        <p14:creationId xmlns="" xmlns:p14="http://schemas.microsoft.com/office/powerpoint/2010/main" val="143486076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z="1200" dirty="0"/>
              <a:t>21.1: Introduction to Functional Interface</a:t>
            </a:r>
            <a:r>
              <a:rPr lang="en-US" dirty="0" smtClean="0"/>
              <a:t/>
            </a:r>
            <a:br>
              <a:rPr lang="en-US" dirty="0" smtClean="0"/>
            </a:br>
            <a:r>
              <a:rPr lang="en-US" dirty="0" smtClean="0"/>
              <a:t>Functional Interface : Implementation</a:t>
            </a:r>
            <a:endParaRPr lang="en-US" sz="2400" dirty="0"/>
          </a:p>
        </p:txBody>
      </p:sp>
      <p:sp>
        <p:nvSpPr>
          <p:cNvPr id="6" name="Content Placeholder 5"/>
          <p:cNvSpPr>
            <a:spLocks noGrp="1"/>
          </p:cNvSpPr>
          <p:nvPr>
            <p:ph idx="1"/>
          </p:nvPr>
        </p:nvSpPr>
        <p:spPr/>
        <p:txBody>
          <a:bodyPr/>
          <a:lstStyle/>
          <a:p>
            <a:r>
              <a:rPr lang="en-US" dirty="0" smtClean="0">
                <a:solidFill>
                  <a:schemeClr val="tx1"/>
                </a:solidFill>
              </a:rPr>
              <a:t>Lambda Expression: </a:t>
            </a:r>
          </a:p>
          <a:p>
            <a:endParaRPr lang="en-US" dirty="0">
              <a:solidFill>
                <a:schemeClr val="tx1"/>
              </a:solidFill>
            </a:endParaRPr>
          </a:p>
          <a:p>
            <a:endParaRPr lang="en-US" dirty="0" smtClean="0">
              <a:solidFill>
                <a:schemeClr val="tx1"/>
              </a:solidFill>
            </a:endParaRPr>
          </a:p>
          <a:p>
            <a:endParaRPr lang="en-US" dirty="0">
              <a:solidFill>
                <a:schemeClr val="tx1"/>
              </a:solidFill>
            </a:endParaRPr>
          </a:p>
          <a:p>
            <a:endParaRPr lang="en-US" dirty="0" smtClean="0">
              <a:solidFill>
                <a:schemeClr val="tx1"/>
              </a:solidFill>
            </a:endParaRPr>
          </a:p>
          <a:p>
            <a:endParaRPr lang="en-US" dirty="0">
              <a:solidFill>
                <a:schemeClr val="tx1"/>
              </a:solidFill>
            </a:endParaRPr>
          </a:p>
          <a:p>
            <a:endParaRPr lang="en-US" dirty="0" smtClean="0">
              <a:solidFill>
                <a:schemeClr val="tx1"/>
              </a:solidFill>
            </a:endParaRPr>
          </a:p>
          <a:p>
            <a:endParaRPr lang="en-US" dirty="0">
              <a:solidFill>
                <a:schemeClr val="tx1"/>
              </a:solidFill>
            </a:endParaRPr>
          </a:p>
          <a:p>
            <a:endParaRPr lang="en-US" dirty="0" smtClean="0">
              <a:solidFill>
                <a:schemeClr val="tx1"/>
              </a:solidFill>
            </a:endParaRPr>
          </a:p>
          <a:p>
            <a:endParaRPr lang="en-US" dirty="0">
              <a:solidFill>
                <a:schemeClr val="tx1"/>
              </a:solidFill>
            </a:endParaRPr>
          </a:p>
          <a:p>
            <a:endParaRPr lang="en-US" dirty="0" smtClean="0">
              <a:solidFill>
                <a:schemeClr val="tx1"/>
              </a:solidFill>
            </a:endParaRPr>
          </a:p>
          <a:p>
            <a:endParaRPr lang="en-US" dirty="0">
              <a:solidFill>
                <a:schemeClr val="tx1"/>
              </a:solidFill>
            </a:endParaRPr>
          </a:p>
          <a:p>
            <a:endParaRPr lang="en-US" dirty="0" smtClean="0">
              <a:solidFill>
                <a:schemeClr val="tx1"/>
              </a:solidFill>
            </a:endParaRPr>
          </a:p>
          <a:p>
            <a:endParaRPr lang="en-US" dirty="0">
              <a:solidFill>
                <a:schemeClr val="tx1"/>
              </a:solidFill>
            </a:endParaRPr>
          </a:p>
        </p:txBody>
      </p:sp>
      <p:sp>
        <p:nvSpPr>
          <p:cNvPr id="5" name="AutoShape 4"/>
          <p:cNvSpPr>
            <a:spLocks noChangeArrowheads="1"/>
          </p:cNvSpPr>
          <p:nvPr/>
        </p:nvSpPr>
        <p:spPr bwMode="auto">
          <a:xfrm>
            <a:off x="758371" y="2047164"/>
            <a:ext cx="7485743" cy="1465293"/>
          </a:xfrm>
          <a:prstGeom prst="roundRect">
            <a:avLst>
              <a:gd name="adj" fmla="val 10804"/>
            </a:avLst>
          </a:prstGeom>
          <a:noFill/>
          <a:ln w="19050">
            <a:solidFill>
              <a:schemeClr val="tx1"/>
            </a:solidFill>
            <a:round/>
            <a:headEnd/>
            <a:tailEnd/>
          </a:ln>
          <a:effectLst/>
        </p:spPr>
        <p:txBody>
          <a:bodyPr anchor="ctr"/>
          <a:lstStyle/>
          <a:p>
            <a:pPr lvl="1"/>
            <a:r>
              <a:rPr lang="en-US" sz="1400" dirty="0">
                <a:latin typeface="+mj-lt"/>
              </a:rPr>
              <a:t>public class </a:t>
            </a:r>
            <a:r>
              <a:rPr lang="en-US" sz="1400" dirty="0" err="1">
                <a:latin typeface="+mj-lt"/>
              </a:rPr>
              <a:t>MaxFinderImpl</a:t>
            </a:r>
            <a:r>
              <a:rPr lang="en-US" sz="1400" dirty="0">
                <a:latin typeface="+mj-lt"/>
              </a:rPr>
              <a:t> implements </a:t>
            </a:r>
            <a:r>
              <a:rPr lang="en-US" sz="1400" dirty="0" err="1">
                <a:latin typeface="+mj-lt"/>
              </a:rPr>
              <a:t>MaxFinder</a:t>
            </a:r>
            <a:r>
              <a:rPr lang="en-US" sz="1400" dirty="0">
                <a:latin typeface="+mj-lt"/>
              </a:rPr>
              <a:t> {</a:t>
            </a:r>
          </a:p>
          <a:p>
            <a:pPr lvl="1"/>
            <a:r>
              <a:rPr lang="en-US" sz="1400" dirty="0">
                <a:latin typeface="+mj-lt"/>
              </a:rPr>
              <a:t>	@Override</a:t>
            </a:r>
          </a:p>
          <a:p>
            <a:pPr lvl="1"/>
            <a:r>
              <a:rPr lang="en-US" sz="1400" dirty="0">
                <a:latin typeface="+mj-lt"/>
              </a:rPr>
              <a:t>	public </a:t>
            </a:r>
            <a:r>
              <a:rPr lang="en-US" sz="1400" dirty="0" err="1">
                <a:latin typeface="+mj-lt"/>
              </a:rPr>
              <a:t>int</a:t>
            </a:r>
            <a:r>
              <a:rPr lang="en-US" sz="1400" dirty="0">
                <a:latin typeface="+mj-lt"/>
              </a:rPr>
              <a:t> maximum(</a:t>
            </a:r>
            <a:r>
              <a:rPr lang="en-US" sz="1400" dirty="0" err="1">
                <a:latin typeface="+mj-lt"/>
              </a:rPr>
              <a:t>int</a:t>
            </a:r>
            <a:r>
              <a:rPr lang="en-US" sz="1400" dirty="0">
                <a:latin typeface="+mj-lt"/>
              </a:rPr>
              <a:t> num1, </a:t>
            </a:r>
            <a:r>
              <a:rPr lang="en-US" sz="1400" dirty="0" err="1">
                <a:latin typeface="+mj-lt"/>
              </a:rPr>
              <a:t>int</a:t>
            </a:r>
            <a:r>
              <a:rPr lang="en-US" sz="1400" dirty="0">
                <a:latin typeface="+mj-lt"/>
              </a:rPr>
              <a:t> num2) {</a:t>
            </a:r>
          </a:p>
          <a:p>
            <a:pPr lvl="1"/>
            <a:r>
              <a:rPr lang="en-US" sz="1400" dirty="0">
                <a:latin typeface="+mj-lt"/>
              </a:rPr>
              <a:t>		return num1&gt;num2?num1:num2;</a:t>
            </a:r>
          </a:p>
          <a:p>
            <a:pPr lvl="1"/>
            <a:r>
              <a:rPr lang="en-US" sz="1400" dirty="0">
                <a:latin typeface="+mj-lt"/>
              </a:rPr>
              <a:t>	}</a:t>
            </a:r>
          </a:p>
          <a:p>
            <a:pPr lvl="1"/>
            <a:r>
              <a:rPr lang="en-US" sz="1400" dirty="0" smtClean="0">
                <a:latin typeface="+mj-lt"/>
              </a:rPr>
              <a:t>}</a:t>
            </a:r>
            <a:endParaRPr lang="en-US" sz="1400" dirty="0">
              <a:latin typeface="+mj-lt"/>
            </a:endParaRPr>
          </a:p>
        </p:txBody>
      </p:sp>
      <p:sp>
        <p:nvSpPr>
          <p:cNvPr id="11" name="AutoShape 4"/>
          <p:cNvSpPr>
            <a:spLocks noChangeArrowheads="1"/>
          </p:cNvSpPr>
          <p:nvPr/>
        </p:nvSpPr>
        <p:spPr bwMode="auto">
          <a:xfrm>
            <a:off x="758371" y="3686630"/>
            <a:ext cx="7485743" cy="1045028"/>
          </a:xfrm>
          <a:prstGeom prst="roundRect">
            <a:avLst>
              <a:gd name="adj" fmla="val 10804"/>
            </a:avLst>
          </a:prstGeom>
          <a:noFill/>
          <a:ln w="19050">
            <a:solidFill>
              <a:schemeClr val="tx1"/>
            </a:solidFill>
            <a:round/>
            <a:headEnd/>
            <a:tailEnd/>
          </a:ln>
          <a:effectLst/>
        </p:spPr>
        <p:txBody>
          <a:bodyPr anchor="ctr"/>
          <a:lstStyle/>
          <a:p>
            <a:pPr lvl="1"/>
            <a:r>
              <a:rPr lang="en-US" dirty="0" err="1">
                <a:latin typeface="+mj-lt"/>
              </a:rPr>
              <a:t>MaxFinder</a:t>
            </a:r>
            <a:r>
              <a:rPr lang="en-US" dirty="0">
                <a:latin typeface="+mj-lt"/>
              </a:rPr>
              <a:t> finder = (num1,num2) -&gt; num1&gt;num2?num1:num2</a:t>
            </a:r>
            <a:r>
              <a:rPr lang="en-US" dirty="0" smtClean="0">
                <a:latin typeface="+mj-lt"/>
              </a:rPr>
              <a:t>;</a:t>
            </a:r>
          </a:p>
          <a:p>
            <a:pPr lvl="1"/>
            <a:r>
              <a:rPr lang="en-US" dirty="0" err="1" smtClean="0">
                <a:latin typeface="+mj-lt"/>
              </a:rPr>
              <a:t>int</a:t>
            </a:r>
            <a:r>
              <a:rPr lang="en-US" dirty="0" smtClean="0">
                <a:latin typeface="+mj-lt"/>
              </a:rPr>
              <a:t> </a:t>
            </a:r>
            <a:r>
              <a:rPr lang="en-US" dirty="0">
                <a:latin typeface="+mj-lt"/>
              </a:rPr>
              <a:t>result = </a:t>
            </a:r>
            <a:r>
              <a:rPr lang="en-US" dirty="0" err="1">
                <a:latin typeface="+mj-lt"/>
              </a:rPr>
              <a:t>finder.maximum</a:t>
            </a:r>
            <a:r>
              <a:rPr lang="en-US" dirty="0">
                <a:latin typeface="+mj-lt"/>
              </a:rPr>
              <a:t>(10, 20);</a:t>
            </a:r>
          </a:p>
        </p:txBody>
      </p:sp>
      <p:sp>
        <p:nvSpPr>
          <p:cNvPr id="12" name="AutoShape 4"/>
          <p:cNvSpPr>
            <a:spLocks noChangeArrowheads="1"/>
          </p:cNvSpPr>
          <p:nvPr/>
        </p:nvSpPr>
        <p:spPr bwMode="auto">
          <a:xfrm>
            <a:off x="758371" y="4862284"/>
            <a:ext cx="7485743" cy="1262743"/>
          </a:xfrm>
          <a:prstGeom prst="roundRect">
            <a:avLst>
              <a:gd name="adj" fmla="val 10804"/>
            </a:avLst>
          </a:prstGeom>
          <a:noFill/>
          <a:ln w="19050">
            <a:solidFill>
              <a:schemeClr val="tx1"/>
            </a:solidFill>
            <a:round/>
            <a:headEnd/>
            <a:tailEnd/>
          </a:ln>
          <a:effectLst/>
        </p:spPr>
        <p:txBody>
          <a:bodyPr anchor="ctr"/>
          <a:lstStyle/>
          <a:p>
            <a:pPr algn="ctr"/>
            <a:r>
              <a:rPr lang="en-US" b="1" dirty="0" smtClean="0">
                <a:latin typeface="+mj-lt"/>
              </a:rPr>
              <a:t>Return type of “</a:t>
            </a:r>
            <a:r>
              <a:rPr lang="el-GR" b="1" dirty="0" smtClean="0">
                <a:latin typeface="+mj-lt"/>
              </a:rPr>
              <a:t>λ</a:t>
            </a:r>
            <a:r>
              <a:rPr lang="en-US" b="1" dirty="0" smtClean="0">
                <a:latin typeface="+mj-lt"/>
              </a:rPr>
              <a:t>E” is Functional Interface!</a:t>
            </a:r>
            <a:endParaRPr lang="en-US" b="1" dirty="0">
              <a:latin typeface="+mj-lt"/>
            </a:endParaRPr>
          </a:p>
        </p:txBody>
      </p:sp>
      <p:sp>
        <p:nvSpPr>
          <p:cNvPr id="2" name="&quot;No&quot; Symbol 1"/>
          <p:cNvSpPr/>
          <p:nvPr/>
        </p:nvSpPr>
        <p:spPr>
          <a:xfrm>
            <a:off x="6502401" y="2227942"/>
            <a:ext cx="986970" cy="979715"/>
          </a:xfrm>
          <a:prstGeom prst="noSmoking">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 xmlns:p14="http://schemas.microsoft.com/office/powerpoint/2010/main" val="305831646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p:txBody>
          <a:bodyPr/>
          <a:lstStyle/>
          <a:p>
            <a:r>
              <a:rPr lang="en-US" dirty="0" smtClean="0">
                <a:solidFill>
                  <a:schemeClr val="tx1"/>
                </a:solidFill>
              </a:rPr>
              <a:t>Lambda expression represents an instance of functional interface</a:t>
            </a:r>
          </a:p>
          <a:p>
            <a:r>
              <a:rPr lang="en-US" dirty="0">
                <a:solidFill>
                  <a:schemeClr val="tx1"/>
                </a:solidFill>
              </a:rPr>
              <a:t>A lambda expression is an anonymous block of code that encapsulates an expression or a </a:t>
            </a:r>
            <a:r>
              <a:rPr lang="en-US" dirty="0" smtClean="0">
                <a:solidFill>
                  <a:schemeClr val="tx1"/>
                </a:solidFill>
              </a:rPr>
              <a:t>block of </a:t>
            </a:r>
            <a:r>
              <a:rPr lang="en-US" dirty="0">
                <a:solidFill>
                  <a:schemeClr val="tx1"/>
                </a:solidFill>
              </a:rPr>
              <a:t>statements </a:t>
            </a:r>
            <a:r>
              <a:rPr lang="en-US" dirty="0" smtClean="0">
                <a:solidFill>
                  <a:schemeClr val="tx1"/>
                </a:solidFill>
              </a:rPr>
              <a:t>and returns </a:t>
            </a:r>
            <a:r>
              <a:rPr lang="en-US" dirty="0">
                <a:solidFill>
                  <a:schemeClr val="tx1"/>
                </a:solidFill>
              </a:rPr>
              <a:t>a </a:t>
            </a:r>
            <a:r>
              <a:rPr lang="en-US" dirty="0" smtClean="0">
                <a:solidFill>
                  <a:schemeClr val="tx1"/>
                </a:solidFill>
              </a:rPr>
              <a:t>result</a:t>
            </a:r>
            <a:endParaRPr lang="en-US" dirty="0">
              <a:solidFill>
                <a:schemeClr val="tx1"/>
              </a:solidFill>
            </a:endParaRPr>
          </a:p>
          <a:p>
            <a:r>
              <a:rPr lang="en-US" dirty="0" smtClean="0">
                <a:solidFill>
                  <a:schemeClr val="tx1"/>
                </a:solidFill>
              </a:rPr>
              <a:t>Syntax of Lambda expression:</a:t>
            </a:r>
          </a:p>
          <a:p>
            <a:endParaRPr lang="en-US" dirty="0">
              <a:solidFill>
                <a:schemeClr val="tx1"/>
              </a:solidFill>
            </a:endParaRPr>
          </a:p>
          <a:p>
            <a:endParaRPr lang="en-US" dirty="0" smtClean="0">
              <a:solidFill>
                <a:schemeClr val="tx1"/>
              </a:solidFill>
            </a:endParaRPr>
          </a:p>
          <a:p>
            <a:endParaRPr lang="en-US" dirty="0">
              <a:solidFill>
                <a:schemeClr val="tx1"/>
              </a:solidFill>
            </a:endParaRPr>
          </a:p>
          <a:p>
            <a:r>
              <a:rPr lang="en-US" dirty="0" smtClean="0">
                <a:solidFill>
                  <a:schemeClr val="tx1"/>
                </a:solidFill>
              </a:rPr>
              <a:t>The arrow operator -&gt; is used to separate list of parameters and body of lambda expression</a:t>
            </a:r>
          </a:p>
          <a:p>
            <a:endParaRPr lang="en-US" dirty="0" smtClean="0">
              <a:solidFill>
                <a:schemeClr val="tx1"/>
              </a:solidFill>
            </a:endParaRPr>
          </a:p>
          <a:p>
            <a:endParaRPr lang="en-US" dirty="0">
              <a:solidFill>
                <a:schemeClr val="tx1"/>
              </a:solidFill>
            </a:endParaRPr>
          </a:p>
          <a:p>
            <a:endParaRPr lang="en-US" dirty="0" smtClean="0">
              <a:solidFill>
                <a:schemeClr val="tx1"/>
              </a:solidFill>
            </a:endParaRPr>
          </a:p>
          <a:p>
            <a:endParaRPr lang="en-US" dirty="0">
              <a:solidFill>
                <a:schemeClr val="tx1"/>
              </a:solidFill>
            </a:endParaRPr>
          </a:p>
          <a:p>
            <a:endParaRPr lang="en-US" dirty="0" smtClean="0">
              <a:solidFill>
                <a:schemeClr val="tx1"/>
              </a:solidFill>
            </a:endParaRPr>
          </a:p>
          <a:p>
            <a:endParaRPr lang="en-US" dirty="0">
              <a:solidFill>
                <a:schemeClr val="tx1"/>
              </a:solidFill>
            </a:endParaRPr>
          </a:p>
          <a:p>
            <a:endParaRPr lang="en-US" dirty="0" smtClean="0">
              <a:solidFill>
                <a:schemeClr val="tx1"/>
              </a:solidFill>
            </a:endParaRPr>
          </a:p>
          <a:p>
            <a:endParaRPr lang="en-US" dirty="0">
              <a:solidFill>
                <a:schemeClr val="tx1"/>
              </a:solidFill>
            </a:endParaRPr>
          </a:p>
        </p:txBody>
      </p:sp>
      <p:sp>
        <p:nvSpPr>
          <p:cNvPr id="4" name="AutoShape 4"/>
          <p:cNvSpPr>
            <a:spLocks noChangeArrowheads="1"/>
          </p:cNvSpPr>
          <p:nvPr/>
        </p:nvSpPr>
        <p:spPr bwMode="auto">
          <a:xfrm>
            <a:off x="1687511" y="3478717"/>
            <a:ext cx="5163232" cy="703939"/>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anchor="ctr"/>
          <a:lstStyle/>
          <a:p>
            <a:pPr algn="ctr">
              <a:lnSpc>
                <a:spcPct val="135000"/>
              </a:lnSpc>
            </a:pPr>
            <a:r>
              <a:rPr lang="en-US" dirty="0" smtClean="0">
                <a:solidFill>
                  <a:schemeClr val="tx1"/>
                </a:solidFill>
                <a:latin typeface="+mj-lt"/>
                <a:cs typeface="Arial" pitchFamily="34" charset="0"/>
              </a:rPr>
              <a:t>(argument list) -&gt; { implementation }</a:t>
            </a:r>
            <a:endParaRPr lang="en-US" dirty="0">
              <a:solidFill>
                <a:schemeClr val="tx1"/>
              </a:solidFill>
              <a:latin typeface="+mj-lt"/>
              <a:cs typeface="Arial" pitchFamily="34" charset="0"/>
            </a:endParaRPr>
          </a:p>
        </p:txBody>
      </p:sp>
      <p:sp>
        <p:nvSpPr>
          <p:cNvPr id="2" name="Title 1"/>
          <p:cNvSpPr>
            <a:spLocks noGrp="1"/>
          </p:cNvSpPr>
          <p:nvPr>
            <p:ph type="title"/>
          </p:nvPr>
        </p:nvSpPr>
        <p:spPr/>
        <p:txBody>
          <a:bodyPr/>
          <a:lstStyle/>
          <a:p>
            <a:r>
              <a:rPr lang="en-US" sz="1200" dirty="0"/>
              <a:t>21.2: Writing Lambda Expressions</a:t>
            </a:r>
            <a:r>
              <a:rPr lang="en-US" dirty="0"/>
              <a:t/>
            </a:r>
            <a:br>
              <a:rPr lang="en-US" dirty="0"/>
            </a:br>
            <a:r>
              <a:rPr lang="en-US" dirty="0"/>
              <a:t>Lambda Expression</a:t>
            </a:r>
          </a:p>
        </p:txBody>
      </p:sp>
    </p:spTree>
    <p:extLst>
      <p:ext uri="{BB962C8B-B14F-4D97-AF65-F5344CB8AC3E}">
        <p14:creationId xmlns="" xmlns:p14="http://schemas.microsoft.com/office/powerpoint/2010/main" val="80874925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z="1200" dirty="0"/>
              <a:t>21.2: Writing Lambda Expressions</a:t>
            </a:r>
            <a:r>
              <a:rPr lang="en-US" dirty="0" smtClean="0"/>
              <a:t/>
            </a:r>
            <a:br>
              <a:rPr lang="en-US" dirty="0" smtClean="0"/>
            </a:br>
            <a:r>
              <a:rPr lang="en-US" dirty="0" smtClean="0"/>
              <a:t>Lambda Expression</a:t>
            </a:r>
            <a:endParaRPr lang="en-US" sz="2400" dirty="0"/>
          </a:p>
        </p:txBody>
      </p:sp>
      <p:sp>
        <p:nvSpPr>
          <p:cNvPr id="6" name="Content Placeholder 5"/>
          <p:cNvSpPr>
            <a:spLocks noGrp="1"/>
          </p:cNvSpPr>
          <p:nvPr>
            <p:ph idx="1"/>
          </p:nvPr>
        </p:nvSpPr>
        <p:spPr/>
        <p:txBody>
          <a:bodyPr/>
          <a:lstStyle/>
          <a:p>
            <a:r>
              <a:rPr lang="en-US" dirty="0" smtClean="0">
                <a:solidFill>
                  <a:schemeClr val="tx1"/>
                </a:solidFill>
              </a:rPr>
              <a:t>Sample Lambda Expressions</a:t>
            </a:r>
          </a:p>
          <a:p>
            <a:endParaRPr lang="en-US" dirty="0">
              <a:solidFill>
                <a:schemeClr val="tx1"/>
              </a:solidFill>
            </a:endParaRPr>
          </a:p>
          <a:p>
            <a:endParaRPr lang="en-US" dirty="0" smtClean="0">
              <a:solidFill>
                <a:schemeClr val="tx1"/>
              </a:solidFill>
            </a:endParaRPr>
          </a:p>
          <a:p>
            <a:endParaRPr lang="en-US" dirty="0">
              <a:solidFill>
                <a:schemeClr val="tx1"/>
              </a:solidFill>
            </a:endParaRPr>
          </a:p>
          <a:p>
            <a:endParaRPr lang="en-US" dirty="0" smtClean="0">
              <a:solidFill>
                <a:schemeClr val="tx1"/>
              </a:solidFill>
            </a:endParaRPr>
          </a:p>
          <a:p>
            <a:endParaRPr lang="en-US" dirty="0">
              <a:solidFill>
                <a:schemeClr val="tx1"/>
              </a:solidFill>
            </a:endParaRPr>
          </a:p>
          <a:p>
            <a:endParaRPr lang="en-US" dirty="0" smtClean="0">
              <a:solidFill>
                <a:schemeClr val="tx1"/>
              </a:solidFill>
            </a:endParaRPr>
          </a:p>
          <a:p>
            <a:endParaRPr lang="en-US" dirty="0">
              <a:solidFill>
                <a:schemeClr val="tx1"/>
              </a:solidFill>
            </a:endParaRPr>
          </a:p>
        </p:txBody>
      </p:sp>
      <p:graphicFrame>
        <p:nvGraphicFramePr>
          <p:cNvPr id="2" name="Table 1"/>
          <p:cNvGraphicFramePr>
            <a:graphicFrameLocks noGrp="1"/>
          </p:cNvGraphicFramePr>
          <p:nvPr>
            <p:extLst>
              <p:ext uri="{D42A27DB-BD31-4B8C-83A1-F6EECF244321}">
                <p14:modId xmlns="" xmlns:p14="http://schemas.microsoft.com/office/powerpoint/2010/main" val="4176944050"/>
              </p:ext>
            </p:extLst>
          </p:nvPr>
        </p:nvGraphicFramePr>
        <p:xfrm>
          <a:off x="537028" y="2271486"/>
          <a:ext cx="7561943" cy="3510280"/>
        </p:xfrm>
        <a:graphic>
          <a:graphicData uri="http://schemas.openxmlformats.org/drawingml/2006/table">
            <a:tbl>
              <a:tblPr firstRow="1" bandRow="1">
                <a:tableStyleId>{5C22544A-7EE6-4342-B048-85BDC9FD1C3A}</a:tableStyleId>
              </a:tblPr>
              <a:tblGrid>
                <a:gridCol w="3120572"/>
                <a:gridCol w="4441371"/>
              </a:tblGrid>
              <a:tr h="370840">
                <a:tc>
                  <a:txBody>
                    <a:bodyPr/>
                    <a:lstStyle/>
                    <a:p>
                      <a:r>
                        <a:rPr lang="en-US" dirty="0" smtClean="0">
                          <a:latin typeface="+mj-lt"/>
                        </a:rPr>
                        <a:t>Functional</a:t>
                      </a:r>
                      <a:r>
                        <a:rPr lang="en-US" baseline="0" dirty="0" smtClean="0">
                          <a:latin typeface="+mj-lt"/>
                        </a:rPr>
                        <a:t> Method</a:t>
                      </a:r>
                      <a:endParaRPr lang="en-US" dirty="0">
                        <a:latin typeface="+mj-lt"/>
                      </a:endParaRPr>
                    </a:p>
                  </a:txBody>
                  <a:tcPr/>
                </a:tc>
                <a:tc>
                  <a:txBody>
                    <a:bodyPr/>
                    <a:lstStyle/>
                    <a:p>
                      <a:r>
                        <a:rPr lang="en-US" dirty="0" smtClean="0">
                          <a:latin typeface="+mj-lt"/>
                        </a:rPr>
                        <a:t>Lambda Expression</a:t>
                      </a:r>
                      <a:endParaRPr lang="en-US" dirty="0">
                        <a:latin typeface="+mj-lt"/>
                      </a:endParaRPr>
                    </a:p>
                  </a:txBody>
                  <a:tcPr/>
                </a:tc>
              </a:tr>
              <a:tr h="370840">
                <a:tc>
                  <a:txBody>
                    <a:bodyPr/>
                    <a:lstStyle/>
                    <a:p>
                      <a:r>
                        <a:rPr lang="en-US" dirty="0" err="1" smtClean="0">
                          <a:latin typeface="+mj-lt"/>
                        </a:rPr>
                        <a:t>Int</a:t>
                      </a:r>
                      <a:r>
                        <a:rPr lang="en-US" dirty="0" smtClean="0">
                          <a:latin typeface="+mj-lt"/>
                        </a:rPr>
                        <a:t> fun(</a:t>
                      </a:r>
                      <a:r>
                        <a:rPr lang="en-US" dirty="0" err="1" smtClean="0">
                          <a:latin typeface="+mj-lt"/>
                        </a:rPr>
                        <a:t>int</a:t>
                      </a:r>
                      <a:r>
                        <a:rPr lang="en-US" dirty="0" smtClean="0">
                          <a:latin typeface="+mj-lt"/>
                        </a:rPr>
                        <a:t> </a:t>
                      </a:r>
                      <a:r>
                        <a:rPr lang="en-US" dirty="0" err="1" smtClean="0">
                          <a:latin typeface="+mj-lt"/>
                        </a:rPr>
                        <a:t>arg</a:t>
                      </a:r>
                      <a:r>
                        <a:rPr lang="en-US" dirty="0" smtClean="0">
                          <a:latin typeface="+mj-lt"/>
                        </a:rPr>
                        <a:t>);</a:t>
                      </a:r>
                      <a:endParaRPr lang="en-US" dirty="0">
                        <a:latin typeface="+mj-lt"/>
                      </a:endParaRPr>
                    </a:p>
                  </a:txBody>
                  <a:tcPr/>
                </a:tc>
                <a:tc>
                  <a:txBody>
                    <a:bodyPr/>
                    <a:lstStyle/>
                    <a:p>
                      <a:r>
                        <a:rPr lang="en-US" dirty="0" smtClean="0">
                          <a:latin typeface="+mj-lt"/>
                        </a:rPr>
                        <a:t>(</a:t>
                      </a:r>
                      <a:r>
                        <a:rPr lang="en-US" dirty="0" err="1" smtClean="0">
                          <a:latin typeface="+mj-lt"/>
                        </a:rPr>
                        <a:t>int</a:t>
                      </a:r>
                      <a:r>
                        <a:rPr lang="en-US" dirty="0" smtClean="0">
                          <a:latin typeface="+mj-lt"/>
                        </a:rPr>
                        <a:t> </a:t>
                      </a:r>
                      <a:r>
                        <a:rPr lang="en-US" dirty="0" err="1" smtClean="0">
                          <a:latin typeface="+mj-lt"/>
                        </a:rPr>
                        <a:t>num</a:t>
                      </a:r>
                      <a:r>
                        <a:rPr lang="en-US" dirty="0" smtClean="0">
                          <a:latin typeface="+mj-lt"/>
                        </a:rPr>
                        <a:t>) -&gt;</a:t>
                      </a:r>
                      <a:r>
                        <a:rPr lang="en-US" baseline="0" dirty="0" smtClean="0">
                          <a:latin typeface="+mj-lt"/>
                        </a:rPr>
                        <a:t>  </a:t>
                      </a:r>
                      <a:r>
                        <a:rPr lang="en-US" baseline="0" dirty="0" err="1" smtClean="0">
                          <a:latin typeface="+mj-lt"/>
                        </a:rPr>
                        <a:t>num</a:t>
                      </a:r>
                      <a:r>
                        <a:rPr lang="en-US" baseline="0" dirty="0" smtClean="0">
                          <a:latin typeface="+mj-lt"/>
                        </a:rPr>
                        <a:t> + 10</a:t>
                      </a:r>
                      <a:endParaRPr lang="en-US" dirty="0">
                        <a:latin typeface="+mj-lt"/>
                      </a:endParaRPr>
                    </a:p>
                  </a:txBody>
                  <a:tcPr/>
                </a:tc>
              </a:tr>
              <a:tr h="370840">
                <a:tc>
                  <a:txBody>
                    <a:bodyPr/>
                    <a:lstStyle/>
                    <a:p>
                      <a:r>
                        <a:rPr lang="en-US" dirty="0" err="1" smtClean="0">
                          <a:latin typeface="+mj-lt"/>
                        </a:rPr>
                        <a:t>int</a:t>
                      </a:r>
                      <a:r>
                        <a:rPr lang="en-US" baseline="0" dirty="0" smtClean="0">
                          <a:latin typeface="+mj-lt"/>
                        </a:rPr>
                        <a:t> fun(</a:t>
                      </a:r>
                      <a:r>
                        <a:rPr lang="en-US" baseline="0" dirty="0" err="1" smtClean="0">
                          <a:latin typeface="+mj-lt"/>
                        </a:rPr>
                        <a:t>int</a:t>
                      </a:r>
                      <a:r>
                        <a:rPr lang="en-US" baseline="0" dirty="0" smtClean="0">
                          <a:latin typeface="+mj-lt"/>
                        </a:rPr>
                        <a:t> arg0,int arg1);</a:t>
                      </a:r>
                      <a:endParaRPr lang="en-US" dirty="0">
                        <a:latin typeface="+mj-lt"/>
                      </a:endParaRPr>
                    </a:p>
                  </a:txBody>
                  <a:tcPr/>
                </a:tc>
                <a:tc>
                  <a:txBody>
                    <a:bodyPr/>
                    <a:lstStyle/>
                    <a:p>
                      <a:r>
                        <a:rPr lang="en-US" dirty="0" smtClean="0">
                          <a:latin typeface="+mj-lt"/>
                        </a:rPr>
                        <a:t>(</a:t>
                      </a:r>
                      <a:r>
                        <a:rPr lang="en-US" dirty="0" err="1" smtClean="0">
                          <a:latin typeface="+mj-lt"/>
                        </a:rPr>
                        <a:t>int</a:t>
                      </a:r>
                      <a:r>
                        <a:rPr lang="en-US" dirty="0" smtClean="0">
                          <a:latin typeface="+mj-lt"/>
                        </a:rPr>
                        <a:t> num1,int num2) -&gt; num1+num2</a:t>
                      </a:r>
                      <a:endParaRPr lang="en-US" dirty="0">
                        <a:latin typeface="+mj-lt"/>
                      </a:endParaRPr>
                    </a:p>
                  </a:txBody>
                  <a:tcPr/>
                </a:tc>
              </a:tr>
              <a:tr h="370840">
                <a:tc>
                  <a:txBody>
                    <a:bodyPr/>
                    <a:lstStyle/>
                    <a:p>
                      <a:r>
                        <a:rPr lang="en-US" dirty="0" err="1" smtClean="0">
                          <a:latin typeface="+mj-lt"/>
                        </a:rPr>
                        <a:t>int</a:t>
                      </a:r>
                      <a:r>
                        <a:rPr lang="en-US" dirty="0" smtClean="0">
                          <a:latin typeface="+mj-lt"/>
                        </a:rPr>
                        <a:t> fun(</a:t>
                      </a:r>
                      <a:r>
                        <a:rPr lang="en-US" dirty="0" err="1" smtClean="0">
                          <a:latin typeface="+mj-lt"/>
                        </a:rPr>
                        <a:t>int</a:t>
                      </a:r>
                      <a:r>
                        <a:rPr lang="en-US" dirty="0" smtClean="0">
                          <a:latin typeface="+mj-lt"/>
                        </a:rPr>
                        <a:t> arg0,int arg1);</a:t>
                      </a:r>
                      <a:endParaRPr lang="en-US" dirty="0">
                        <a:latin typeface="+mj-lt"/>
                      </a:endParaRPr>
                    </a:p>
                  </a:txBody>
                  <a:tcPr/>
                </a:tc>
                <a:tc>
                  <a:txBody>
                    <a:bodyPr/>
                    <a:lstStyle/>
                    <a:p>
                      <a:r>
                        <a:rPr lang="en-US" dirty="0" smtClean="0">
                          <a:latin typeface="+mj-lt"/>
                        </a:rPr>
                        <a:t>(</a:t>
                      </a:r>
                      <a:r>
                        <a:rPr lang="en-US" dirty="0" err="1" smtClean="0">
                          <a:latin typeface="+mj-lt"/>
                        </a:rPr>
                        <a:t>int</a:t>
                      </a:r>
                      <a:r>
                        <a:rPr lang="en-US" dirty="0" smtClean="0">
                          <a:latin typeface="+mj-lt"/>
                        </a:rPr>
                        <a:t> num1,int num2)</a:t>
                      </a:r>
                      <a:r>
                        <a:rPr lang="en-US" baseline="0" dirty="0" smtClean="0">
                          <a:latin typeface="+mj-lt"/>
                        </a:rPr>
                        <a:t> -&gt; { </a:t>
                      </a:r>
                    </a:p>
                    <a:p>
                      <a:r>
                        <a:rPr lang="en-US" baseline="0" dirty="0" smtClean="0">
                          <a:latin typeface="+mj-lt"/>
                        </a:rPr>
                        <a:t>         </a:t>
                      </a:r>
                      <a:r>
                        <a:rPr lang="en-US" baseline="0" dirty="0" err="1" smtClean="0">
                          <a:latin typeface="+mj-lt"/>
                        </a:rPr>
                        <a:t>int</a:t>
                      </a:r>
                      <a:r>
                        <a:rPr lang="en-US" baseline="0" dirty="0" smtClean="0">
                          <a:latin typeface="+mj-lt"/>
                        </a:rPr>
                        <a:t> min = num1&gt;num2?num2:num1;</a:t>
                      </a:r>
                    </a:p>
                    <a:p>
                      <a:r>
                        <a:rPr lang="en-US" baseline="0" dirty="0" smtClean="0">
                          <a:latin typeface="+mj-lt"/>
                        </a:rPr>
                        <a:t>         return min;  }</a:t>
                      </a:r>
                      <a:endParaRPr lang="en-US" dirty="0">
                        <a:latin typeface="+mj-lt"/>
                      </a:endParaRPr>
                    </a:p>
                  </a:txBody>
                  <a:tcPr/>
                </a:tc>
              </a:tr>
              <a:tr h="370840">
                <a:tc>
                  <a:txBody>
                    <a:bodyPr/>
                    <a:lstStyle/>
                    <a:p>
                      <a:r>
                        <a:rPr lang="en-US" dirty="0" smtClean="0">
                          <a:latin typeface="+mj-lt"/>
                        </a:rPr>
                        <a:t>String</a:t>
                      </a:r>
                      <a:r>
                        <a:rPr lang="en-US" baseline="0" dirty="0" smtClean="0">
                          <a:latin typeface="+mj-lt"/>
                        </a:rPr>
                        <a:t> fun();</a:t>
                      </a:r>
                      <a:endParaRPr lang="en-US" dirty="0">
                        <a:latin typeface="+mj-lt"/>
                      </a:endParaRPr>
                    </a:p>
                  </a:txBody>
                  <a:tcPr/>
                </a:tc>
                <a:tc>
                  <a:txBody>
                    <a:bodyPr/>
                    <a:lstStyle/>
                    <a:p>
                      <a:r>
                        <a:rPr lang="en-US" dirty="0" smtClean="0">
                          <a:latin typeface="+mj-lt"/>
                        </a:rPr>
                        <a:t>() -&gt; “Hello World!”</a:t>
                      </a:r>
                      <a:endParaRPr lang="en-US" dirty="0">
                        <a:latin typeface="+mj-lt"/>
                      </a:endParaRPr>
                    </a:p>
                  </a:txBody>
                  <a:tcPr/>
                </a:tc>
              </a:tr>
              <a:tr h="370840">
                <a:tc>
                  <a:txBody>
                    <a:bodyPr/>
                    <a:lstStyle/>
                    <a:p>
                      <a:r>
                        <a:rPr lang="en-US" dirty="0" smtClean="0">
                          <a:latin typeface="+mj-lt"/>
                        </a:rPr>
                        <a:t>void fun();</a:t>
                      </a:r>
                      <a:endParaRPr lang="en-US" dirty="0">
                        <a:latin typeface="+mj-lt"/>
                      </a:endParaRPr>
                    </a:p>
                  </a:txBody>
                  <a:tcPr/>
                </a:tc>
                <a:tc>
                  <a:txBody>
                    <a:bodyPr/>
                    <a:lstStyle/>
                    <a:p>
                      <a:r>
                        <a:rPr lang="en-US" dirty="0" smtClean="0">
                          <a:latin typeface="+mj-lt"/>
                        </a:rPr>
                        <a:t>() -&gt; { } </a:t>
                      </a:r>
                      <a:endParaRPr lang="en-US" dirty="0">
                        <a:latin typeface="+mj-lt"/>
                      </a:endParaRPr>
                    </a:p>
                  </a:txBody>
                  <a:tcPr/>
                </a:tc>
              </a:tr>
              <a:tr h="370840">
                <a:tc>
                  <a:txBody>
                    <a:bodyPr/>
                    <a:lstStyle/>
                    <a:p>
                      <a:r>
                        <a:rPr lang="en-US" dirty="0" err="1" smtClean="0">
                          <a:latin typeface="+mj-lt"/>
                        </a:rPr>
                        <a:t>int</a:t>
                      </a:r>
                      <a:r>
                        <a:rPr lang="en-US" dirty="0" smtClean="0">
                          <a:latin typeface="+mj-lt"/>
                        </a:rPr>
                        <a:t> fun(String </a:t>
                      </a:r>
                      <a:r>
                        <a:rPr lang="en-US" dirty="0" err="1" smtClean="0">
                          <a:latin typeface="+mj-lt"/>
                        </a:rPr>
                        <a:t>arg</a:t>
                      </a:r>
                      <a:r>
                        <a:rPr lang="en-US" dirty="0" smtClean="0">
                          <a:latin typeface="+mj-lt"/>
                        </a:rPr>
                        <a:t>);</a:t>
                      </a:r>
                      <a:endParaRPr lang="en-US" dirty="0">
                        <a:latin typeface="+mj-lt"/>
                      </a:endParaRPr>
                    </a:p>
                  </a:txBody>
                  <a:tcPr/>
                </a:tc>
                <a:tc>
                  <a:txBody>
                    <a:bodyPr/>
                    <a:lstStyle/>
                    <a:p>
                      <a:r>
                        <a:rPr lang="en-US" dirty="0" smtClean="0">
                          <a:latin typeface="+mj-lt"/>
                        </a:rPr>
                        <a:t>(String </a:t>
                      </a:r>
                      <a:r>
                        <a:rPr lang="en-US" dirty="0" err="1" smtClean="0">
                          <a:latin typeface="+mj-lt"/>
                        </a:rPr>
                        <a:t>str</a:t>
                      </a:r>
                      <a:r>
                        <a:rPr lang="en-US" dirty="0" smtClean="0">
                          <a:latin typeface="+mj-lt"/>
                        </a:rPr>
                        <a:t>) -&gt;</a:t>
                      </a:r>
                      <a:r>
                        <a:rPr lang="en-US" baseline="0" dirty="0" smtClean="0">
                          <a:latin typeface="+mj-lt"/>
                        </a:rPr>
                        <a:t> </a:t>
                      </a:r>
                      <a:r>
                        <a:rPr lang="en-US" baseline="0" dirty="0" err="1" smtClean="0">
                          <a:latin typeface="+mj-lt"/>
                        </a:rPr>
                        <a:t>str.length</a:t>
                      </a:r>
                      <a:r>
                        <a:rPr lang="en-US" baseline="0" dirty="0" smtClean="0">
                          <a:latin typeface="+mj-lt"/>
                        </a:rPr>
                        <a:t>()</a:t>
                      </a:r>
                      <a:endParaRPr lang="en-US" dirty="0">
                        <a:latin typeface="+mj-lt"/>
                      </a:endParaRPr>
                    </a:p>
                  </a:txBody>
                  <a:tcPr/>
                </a:tc>
              </a:tr>
              <a:tr h="370840">
                <a:tc>
                  <a:txBody>
                    <a:bodyPr/>
                    <a:lstStyle/>
                    <a:p>
                      <a:r>
                        <a:rPr lang="en-US" dirty="0" err="1" smtClean="0">
                          <a:latin typeface="+mj-lt"/>
                        </a:rPr>
                        <a:t>int</a:t>
                      </a:r>
                      <a:r>
                        <a:rPr lang="en-US" baseline="0" dirty="0" smtClean="0">
                          <a:latin typeface="+mj-lt"/>
                        </a:rPr>
                        <a:t> fun(String </a:t>
                      </a:r>
                      <a:r>
                        <a:rPr lang="en-US" baseline="0" dirty="0" err="1" smtClean="0">
                          <a:latin typeface="+mj-lt"/>
                        </a:rPr>
                        <a:t>arg</a:t>
                      </a:r>
                      <a:r>
                        <a:rPr lang="en-US" baseline="0" dirty="0" smtClean="0">
                          <a:latin typeface="+mj-lt"/>
                        </a:rPr>
                        <a:t>);</a:t>
                      </a:r>
                      <a:endParaRPr lang="en-US" dirty="0">
                        <a:latin typeface="+mj-lt"/>
                      </a:endParaRPr>
                    </a:p>
                  </a:txBody>
                  <a:tcPr/>
                </a:tc>
                <a:tc>
                  <a:txBody>
                    <a:bodyPr/>
                    <a:lstStyle/>
                    <a:p>
                      <a:r>
                        <a:rPr lang="en-US" dirty="0" err="1" smtClean="0">
                          <a:latin typeface="+mj-lt"/>
                        </a:rPr>
                        <a:t>str</a:t>
                      </a:r>
                      <a:r>
                        <a:rPr lang="en-US" baseline="0" dirty="0" smtClean="0">
                          <a:latin typeface="+mj-lt"/>
                        </a:rPr>
                        <a:t> -&gt; </a:t>
                      </a:r>
                      <a:r>
                        <a:rPr lang="en-US" baseline="0" dirty="0" err="1" smtClean="0">
                          <a:latin typeface="+mj-lt"/>
                        </a:rPr>
                        <a:t>str.length</a:t>
                      </a:r>
                      <a:r>
                        <a:rPr lang="en-US" baseline="0" dirty="0" smtClean="0">
                          <a:latin typeface="+mj-lt"/>
                        </a:rPr>
                        <a:t>()</a:t>
                      </a:r>
                      <a:endParaRPr lang="en-US" dirty="0">
                        <a:latin typeface="+mj-lt"/>
                      </a:endParaRPr>
                    </a:p>
                  </a:txBody>
                  <a:tcPr/>
                </a:tc>
              </a:tr>
            </a:tbl>
          </a:graphicData>
        </a:graphic>
      </p:graphicFrame>
    </p:spTree>
    <p:extLst>
      <p:ext uri="{BB962C8B-B14F-4D97-AF65-F5344CB8AC3E}">
        <p14:creationId xmlns="" xmlns:p14="http://schemas.microsoft.com/office/powerpoint/2010/main" val="353584137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569" name="Rectangle 81"/>
          <p:cNvSpPr>
            <a:spLocks noGrp="1"/>
          </p:cNvSpPr>
          <p:nvPr>
            <p:ph idx="1"/>
          </p:nvPr>
        </p:nvSpPr>
        <p:spPr/>
        <p:txBody>
          <a:bodyPr/>
          <a:lstStyle/>
          <a:p>
            <a:r>
              <a:rPr lang="en-US" dirty="0">
                <a:solidFill>
                  <a:schemeClr val="tx1"/>
                </a:solidFill>
              </a:rPr>
              <a:t>Execute the :</a:t>
            </a:r>
          </a:p>
          <a:p>
            <a:pPr lvl="1"/>
            <a:r>
              <a:rPr lang="en-US" dirty="0" err="1" smtClean="0">
                <a:solidFill>
                  <a:schemeClr val="tx1"/>
                </a:solidFill>
              </a:rPr>
              <a:t>CalculatorDemo</a:t>
            </a:r>
            <a:endParaRPr lang="en-US" dirty="0">
              <a:solidFill>
                <a:schemeClr val="tx1"/>
              </a:solidFill>
            </a:endParaRPr>
          </a:p>
        </p:txBody>
      </p:sp>
      <p:sp>
        <p:nvSpPr>
          <p:cNvPr id="2" name="Title 1"/>
          <p:cNvSpPr>
            <a:spLocks noGrp="1"/>
          </p:cNvSpPr>
          <p:nvPr>
            <p:ph type="title"/>
          </p:nvPr>
        </p:nvSpPr>
        <p:spPr/>
        <p:txBody>
          <a:bodyPr/>
          <a:lstStyle/>
          <a:p>
            <a:r>
              <a:rPr lang="en-US" sz="1200" dirty="0"/>
              <a:t>21.2: Lambda Expressions and Functional Interface </a:t>
            </a:r>
            <a:r>
              <a:rPr lang="en-US" dirty="0"/>
              <a:t/>
            </a:r>
            <a:br>
              <a:rPr lang="en-US" dirty="0"/>
            </a:br>
            <a:r>
              <a:rPr lang="en-US" dirty="0"/>
              <a:t>Demo</a:t>
            </a:r>
          </a:p>
        </p:txBody>
      </p:sp>
    </p:spTree>
    <p:extLst>
      <p:ext uri="{BB962C8B-B14F-4D97-AF65-F5344CB8AC3E}">
        <p14:creationId xmlns="" xmlns:p14="http://schemas.microsoft.com/office/powerpoint/2010/main" val="379993320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z="1200" dirty="0" smtClean="0"/>
              <a:t>21.3: </a:t>
            </a:r>
            <a:r>
              <a:rPr lang="en-US" sz="1200" dirty="0" err="1" smtClean="0"/>
              <a:t>Builtin</a:t>
            </a:r>
            <a:r>
              <a:rPr lang="en-US" sz="1200" dirty="0" smtClean="0"/>
              <a:t> </a:t>
            </a:r>
            <a:r>
              <a:rPr lang="en-US" sz="1200" dirty="0"/>
              <a:t>Functional Interfaces</a:t>
            </a:r>
            <a:r>
              <a:rPr lang="en-US" dirty="0" smtClean="0"/>
              <a:t/>
            </a:r>
            <a:br>
              <a:rPr lang="en-US" dirty="0" smtClean="0"/>
            </a:br>
            <a:r>
              <a:rPr lang="en-US" dirty="0" smtClean="0"/>
              <a:t>Built-in Functional Interfaces</a:t>
            </a:r>
            <a:endParaRPr lang="en-US" sz="2400" dirty="0"/>
          </a:p>
        </p:txBody>
      </p:sp>
      <p:sp>
        <p:nvSpPr>
          <p:cNvPr id="6" name="Content Placeholder 5"/>
          <p:cNvSpPr>
            <a:spLocks noGrp="1"/>
          </p:cNvSpPr>
          <p:nvPr>
            <p:ph idx="1"/>
          </p:nvPr>
        </p:nvSpPr>
        <p:spPr/>
        <p:txBody>
          <a:bodyPr/>
          <a:lstStyle/>
          <a:p>
            <a:r>
              <a:rPr lang="en-US" dirty="0" smtClean="0">
                <a:solidFill>
                  <a:schemeClr val="tx1"/>
                </a:solidFill>
              </a:rPr>
              <a:t>Java SE 8 provides a rich set of 43 functional interfaces</a:t>
            </a:r>
          </a:p>
          <a:p>
            <a:r>
              <a:rPr lang="en-US" dirty="0" smtClean="0">
                <a:solidFill>
                  <a:schemeClr val="tx1"/>
                </a:solidFill>
              </a:rPr>
              <a:t>All these interfaces are included under package </a:t>
            </a:r>
            <a:r>
              <a:rPr lang="en-US" dirty="0" err="1" smtClean="0">
                <a:solidFill>
                  <a:schemeClr val="tx1"/>
                </a:solidFill>
              </a:rPr>
              <a:t>java.util.function</a:t>
            </a:r>
            <a:endParaRPr lang="en-US" dirty="0" smtClean="0">
              <a:solidFill>
                <a:schemeClr val="tx1"/>
              </a:solidFill>
            </a:endParaRPr>
          </a:p>
          <a:p>
            <a:r>
              <a:rPr lang="en-US" dirty="0" smtClean="0">
                <a:solidFill>
                  <a:schemeClr val="tx1"/>
                </a:solidFill>
              </a:rPr>
              <a:t>This set of interfaces can be utilized to implement lambda expressions </a:t>
            </a:r>
          </a:p>
          <a:p>
            <a:r>
              <a:rPr lang="en-US" dirty="0" smtClean="0">
                <a:solidFill>
                  <a:schemeClr val="tx1"/>
                </a:solidFill>
              </a:rPr>
              <a:t>All functional interfaces are categorized into four types:</a:t>
            </a:r>
          </a:p>
          <a:p>
            <a:pPr lvl="1"/>
            <a:r>
              <a:rPr lang="en-US" dirty="0" smtClean="0">
                <a:solidFill>
                  <a:schemeClr val="tx1"/>
                </a:solidFill>
              </a:rPr>
              <a:t>Supplier</a:t>
            </a:r>
          </a:p>
          <a:p>
            <a:pPr lvl="1"/>
            <a:r>
              <a:rPr lang="en-US" dirty="0" smtClean="0">
                <a:solidFill>
                  <a:schemeClr val="tx1"/>
                </a:solidFill>
              </a:rPr>
              <a:t>Consumer</a:t>
            </a:r>
          </a:p>
          <a:p>
            <a:pPr lvl="1"/>
            <a:r>
              <a:rPr lang="en-US" dirty="0" smtClean="0">
                <a:solidFill>
                  <a:schemeClr val="tx1"/>
                </a:solidFill>
              </a:rPr>
              <a:t>Predicate</a:t>
            </a:r>
          </a:p>
          <a:p>
            <a:pPr lvl="1"/>
            <a:r>
              <a:rPr lang="en-US" dirty="0" smtClean="0">
                <a:solidFill>
                  <a:schemeClr val="tx1"/>
                </a:solidFill>
              </a:rPr>
              <a:t>Function</a:t>
            </a:r>
            <a:endParaRPr lang="en-US" dirty="0">
              <a:solidFill>
                <a:schemeClr val="tx1"/>
              </a:solidFill>
            </a:endParaRPr>
          </a:p>
          <a:p>
            <a:endParaRPr lang="en-US" dirty="0">
              <a:solidFill>
                <a:schemeClr val="tx1"/>
              </a:solidFill>
            </a:endParaRPr>
          </a:p>
          <a:p>
            <a:endParaRPr lang="en-US" dirty="0" smtClean="0">
              <a:solidFill>
                <a:schemeClr val="tx1"/>
              </a:solidFill>
            </a:endParaRPr>
          </a:p>
          <a:p>
            <a:endParaRPr lang="en-US" dirty="0">
              <a:solidFill>
                <a:schemeClr val="tx1"/>
              </a:solidFill>
            </a:endParaRPr>
          </a:p>
          <a:p>
            <a:endParaRPr lang="en-US" dirty="0" smtClean="0">
              <a:solidFill>
                <a:schemeClr val="tx1"/>
              </a:solidFill>
            </a:endParaRPr>
          </a:p>
          <a:p>
            <a:endParaRPr lang="en-US" dirty="0">
              <a:solidFill>
                <a:schemeClr val="tx1"/>
              </a:solidFill>
            </a:endParaRPr>
          </a:p>
          <a:p>
            <a:endParaRPr lang="en-US" dirty="0" smtClean="0">
              <a:solidFill>
                <a:schemeClr val="tx1"/>
              </a:solidFill>
            </a:endParaRPr>
          </a:p>
          <a:p>
            <a:endParaRPr lang="en-US" dirty="0">
              <a:solidFill>
                <a:schemeClr val="tx1"/>
              </a:solidFill>
            </a:endParaRPr>
          </a:p>
        </p:txBody>
      </p:sp>
    </p:spTree>
    <p:extLst>
      <p:ext uri="{BB962C8B-B14F-4D97-AF65-F5344CB8AC3E}">
        <p14:creationId xmlns="" xmlns:p14="http://schemas.microsoft.com/office/powerpoint/2010/main" val="353398076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z="1200" dirty="0"/>
              <a:t>21.3: </a:t>
            </a:r>
            <a:r>
              <a:rPr lang="en-US" sz="1200" dirty="0" err="1"/>
              <a:t>Builtin</a:t>
            </a:r>
            <a:r>
              <a:rPr lang="en-US" sz="1200" dirty="0"/>
              <a:t> Functional Interfaces</a:t>
            </a:r>
            <a:r>
              <a:rPr lang="en-US" dirty="0" smtClean="0"/>
              <a:t/>
            </a:r>
            <a:br>
              <a:rPr lang="en-US" dirty="0" smtClean="0"/>
            </a:br>
            <a:r>
              <a:rPr lang="en-US" dirty="0" smtClean="0"/>
              <a:t>Supplier</a:t>
            </a:r>
            <a:endParaRPr lang="en-US" sz="2400" dirty="0"/>
          </a:p>
        </p:txBody>
      </p:sp>
      <p:sp>
        <p:nvSpPr>
          <p:cNvPr id="6" name="Content Placeholder 5"/>
          <p:cNvSpPr>
            <a:spLocks noGrp="1"/>
          </p:cNvSpPr>
          <p:nvPr>
            <p:ph idx="1"/>
          </p:nvPr>
        </p:nvSpPr>
        <p:spPr/>
        <p:txBody>
          <a:bodyPr/>
          <a:lstStyle/>
          <a:p>
            <a:r>
              <a:rPr lang="en-US" dirty="0">
                <a:solidFill>
                  <a:schemeClr val="tx1"/>
                </a:solidFill>
              </a:rPr>
              <a:t>A Supplier&lt;T&gt; represents a function that takes no argument and returns a result of type T.</a:t>
            </a:r>
          </a:p>
          <a:p>
            <a:r>
              <a:rPr lang="en-US" dirty="0" smtClean="0">
                <a:solidFill>
                  <a:schemeClr val="tx1"/>
                </a:solidFill>
              </a:rPr>
              <a:t>This is an interface that doesn’t takes any object but provides a new one</a:t>
            </a:r>
          </a:p>
          <a:p>
            <a:endParaRPr lang="en-US" dirty="0">
              <a:solidFill>
                <a:schemeClr val="tx1"/>
              </a:solidFill>
            </a:endParaRPr>
          </a:p>
          <a:p>
            <a:endParaRPr lang="en-US" dirty="0" smtClean="0">
              <a:solidFill>
                <a:schemeClr val="tx1"/>
              </a:solidFill>
            </a:endParaRPr>
          </a:p>
          <a:p>
            <a:endParaRPr lang="en-US" dirty="0">
              <a:solidFill>
                <a:schemeClr val="tx1"/>
              </a:solidFill>
            </a:endParaRPr>
          </a:p>
          <a:p>
            <a:endParaRPr lang="en-US" dirty="0" smtClean="0">
              <a:solidFill>
                <a:schemeClr val="tx1"/>
              </a:solidFill>
            </a:endParaRPr>
          </a:p>
          <a:p>
            <a:r>
              <a:rPr lang="en-US" dirty="0" smtClean="0">
                <a:solidFill>
                  <a:schemeClr val="tx1"/>
                </a:solidFill>
              </a:rPr>
              <a:t>List of predefined Suppliers:</a:t>
            </a:r>
          </a:p>
          <a:p>
            <a:pPr lvl="1"/>
            <a:r>
              <a:rPr lang="en-US" dirty="0" smtClean="0">
                <a:solidFill>
                  <a:schemeClr val="tx1"/>
                </a:solidFill>
              </a:rPr>
              <a:t>BooleanSupplier</a:t>
            </a:r>
          </a:p>
          <a:p>
            <a:pPr lvl="1"/>
            <a:r>
              <a:rPr lang="en-US" dirty="0" err="1" smtClean="0">
                <a:solidFill>
                  <a:schemeClr val="tx1"/>
                </a:solidFill>
              </a:rPr>
              <a:t>IntSupplier</a:t>
            </a:r>
            <a:endParaRPr lang="en-US" dirty="0" smtClean="0">
              <a:solidFill>
                <a:schemeClr val="tx1"/>
              </a:solidFill>
            </a:endParaRPr>
          </a:p>
          <a:p>
            <a:pPr lvl="1"/>
            <a:r>
              <a:rPr lang="en-US" dirty="0" err="1" smtClean="0">
                <a:solidFill>
                  <a:schemeClr val="tx1"/>
                </a:solidFill>
              </a:rPr>
              <a:t>LongSupplier</a:t>
            </a:r>
            <a:endParaRPr lang="en-US" dirty="0" smtClean="0">
              <a:solidFill>
                <a:schemeClr val="tx1"/>
              </a:solidFill>
            </a:endParaRPr>
          </a:p>
          <a:p>
            <a:pPr lvl="1"/>
            <a:r>
              <a:rPr lang="en-US" dirty="0" err="1" smtClean="0">
                <a:solidFill>
                  <a:schemeClr val="tx1"/>
                </a:solidFill>
              </a:rPr>
              <a:t>DoubleSupplier</a:t>
            </a:r>
            <a:r>
              <a:rPr lang="en-US" dirty="0" smtClean="0">
                <a:solidFill>
                  <a:schemeClr val="tx1"/>
                </a:solidFill>
              </a:rPr>
              <a:t>  etc. </a:t>
            </a:r>
            <a:endParaRPr lang="en-US" dirty="0">
              <a:solidFill>
                <a:schemeClr val="tx1"/>
              </a:solidFill>
            </a:endParaRPr>
          </a:p>
          <a:p>
            <a:endParaRPr lang="en-US" dirty="0">
              <a:solidFill>
                <a:schemeClr val="tx1"/>
              </a:solidFill>
            </a:endParaRPr>
          </a:p>
          <a:p>
            <a:endParaRPr lang="en-US" dirty="0" smtClean="0">
              <a:solidFill>
                <a:schemeClr val="tx1"/>
              </a:solidFill>
            </a:endParaRPr>
          </a:p>
          <a:p>
            <a:endParaRPr lang="en-US" dirty="0">
              <a:solidFill>
                <a:schemeClr val="tx1"/>
              </a:solidFill>
            </a:endParaRPr>
          </a:p>
          <a:p>
            <a:endParaRPr lang="en-US" dirty="0" smtClean="0">
              <a:solidFill>
                <a:schemeClr val="tx1"/>
              </a:solidFill>
            </a:endParaRPr>
          </a:p>
          <a:p>
            <a:endParaRPr lang="en-US" dirty="0">
              <a:solidFill>
                <a:schemeClr val="tx1"/>
              </a:solidFill>
            </a:endParaRPr>
          </a:p>
          <a:p>
            <a:endParaRPr lang="en-US" dirty="0" smtClean="0">
              <a:solidFill>
                <a:schemeClr val="tx1"/>
              </a:solidFill>
            </a:endParaRPr>
          </a:p>
        </p:txBody>
      </p:sp>
      <p:sp>
        <p:nvSpPr>
          <p:cNvPr id="4" name="AutoShape 4"/>
          <p:cNvSpPr>
            <a:spLocks noChangeArrowheads="1"/>
          </p:cNvSpPr>
          <p:nvPr/>
        </p:nvSpPr>
        <p:spPr bwMode="auto">
          <a:xfrm>
            <a:off x="1249271" y="2636411"/>
            <a:ext cx="3527448" cy="1640114"/>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anchor="ctr"/>
          <a:lstStyle/>
          <a:p>
            <a:pPr>
              <a:lnSpc>
                <a:spcPct val="135000"/>
              </a:lnSpc>
            </a:pPr>
            <a:r>
              <a:rPr lang="en-US" dirty="0" smtClean="0">
                <a:solidFill>
                  <a:schemeClr val="tx1"/>
                </a:solidFill>
                <a:latin typeface="+mj-lt"/>
                <a:cs typeface="Arial" pitchFamily="34" charset="0"/>
              </a:rPr>
              <a:t>@FunctionalInterface</a:t>
            </a:r>
          </a:p>
          <a:p>
            <a:pPr>
              <a:lnSpc>
                <a:spcPct val="135000"/>
              </a:lnSpc>
            </a:pPr>
            <a:r>
              <a:rPr lang="en-US" dirty="0" smtClean="0">
                <a:solidFill>
                  <a:schemeClr val="tx1"/>
                </a:solidFill>
                <a:latin typeface="+mj-lt"/>
                <a:cs typeface="Arial" pitchFamily="34" charset="0"/>
              </a:rPr>
              <a:t>public interface Supplier&lt;T&gt; {</a:t>
            </a:r>
          </a:p>
          <a:p>
            <a:pPr>
              <a:lnSpc>
                <a:spcPct val="135000"/>
              </a:lnSpc>
            </a:pPr>
            <a:r>
              <a:rPr lang="en-US" dirty="0" smtClean="0">
                <a:solidFill>
                  <a:schemeClr val="tx1"/>
                </a:solidFill>
                <a:latin typeface="+mj-lt"/>
                <a:cs typeface="Arial" pitchFamily="34" charset="0"/>
              </a:rPr>
              <a:t>          T get();</a:t>
            </a:r>
            <a:endParaRPr lang="en-US" dirty="0">
              <a:solidFill>
                <a:schemeClr val="tx1"/>
              </a:solidFill>
              <a:latin typeface="+mj-lt"/>
              <a:cs typeface="Arial" pitchFamily="34" charset="0"/>
            </a:endParaRPr>
          </a:p>
          <a:p>
            <a:pPr>
              <a:lnSpc>
                <a:spcPct val="135000"/>
              </a:lnSpc>
            </a:pPr>
            <a:r>
              <a:rPr lang="en-US" dirty="0" smtClean="0">
                <a:solidFill>
                  <a:schemeClr val="tx1"/>
                </a:solidFill>
                <a:latin typeface="+mj-lt"/>
                <a:cs typeface="Arial" pitchFamily="34" charset="0"/>
              </a:rPr>
              <a:t>}</a:t>
            </a:r>
            <a:endParaRPr lang="en-US" dirty="0">
              <a:solidFill>
                <a:schemeClr val="tx1"/>
              </a:solidFill>
              <a:latin typeface="+mj-lt"/>
              <a:cs typeface="Arial" pitchFamily="34" charset="0"/>
            </a:endParaRPr>
          </a:p>
        </p:txBody>
      </p:sp>
    </p:spTree>
    <p:extLst>
      <p:ext uri="{BB962C8B-B14F-4D97-AF65-F5344CB8AC3E}">
        <p14:creationId xmlns="" xmlns:p14="http://schemas.microsoft.com/office/powerpoint/2010/main" val="361555893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z="1200" dirty="0"/>
              <a:t>21.3: </a:t>
            </a:r>
            <a:r>
              <a:rPr lang="en-US" sz="1200" dirty="0" err="1"/>
              <a:t>Builtin</a:t>
            </a:r>
            <a:r>
              <a:rPr lang="en-US" sz="1200" dirty="0"/>
              <a:t> Functional Interfaces</a:t>
            </a:r>
            <a:r>
              <a:rPr lang="en-US" dirty="0" smtClean="0"/>
              <a:t/>
            </a:r>
            <a:br>
              <a:rPr lang="en-US" dirty="0" smtClean="0"/>
            </a:br>
            <a:r>
              <a:rPr lang="en-US" dirty="0" smtClean="0"/>
              <a:t>Consumer</a:t>
            </a:r>
            <a:endParaRPr lang="en-US" sz="2400" dirty="0"/>
          </a:p>
        </p:txBody>
      </p:sp>
      <p:sp>
        <p:nvSpPr>
          <p:cNvPr id="6" name="Content Placeholder 5"/>
          <p:cNvSpPr>
            <a:spLocks noGrp="1"/>
          </p:cNvSpPr>
          <p:nvPr>
            <p:ph idx="1"/>
          </p:nvPr>
        </p:nvSpPr>
        <p:spPr>
          <a:xfrm>
            <a:off x="298516" y="1494766"/>
            <a:ext cx="8845484" cy="4919682"/>
          </a:xfrm>
        </p:spPr>
        <p:txBody>
          <a:bodyPr/>
          <a:lstStyle/>
          <a:p>
            <a:r>
              <a:rPr lang="en-US" dirty="0">
                <a:solidFill>
                  <a:schemeClr val="tx1"/>
                </a:solidFill>
              </a:rPr>
              <a:t>A </a:t>
            </a:r>
            <a:r>
              <a:rPr lang="en-US" dirty="0" smtClean="0">
                <a:solidFill>
                  <a:schemeClr val="tx1"/>
                </a:solidFill>
              </a:rPr>
              <a:t>Consumer&lt;T&gt; </a:t>
            </a:r>
            <a:r>
              <a:rPr lang="en-US" dirty="0">
                <a:solidFill>
                  <a:schemeClr val="tx1"/>
                </a:solidFill>
              </a:rPr>
              <a:t>represents a function that takes </a:t>
            </a:r>
            <a:r>
              <a:rPr lang="en-US" dirty="0" smtClean="0">
                <a:solidFill>
                  <a:schemeClr val="tx1"/>
                </a:solidFill>
              </a:rPr>
              <a:t>an argument </a:t>
            </a:r>
            <a:r>
              <a:rPr lang="en-US" dirty="0">
                <a:solidFill>
                  <a:schemeClr val="tx1"/>
                </a:solidFill>
              </a:rPr>
              <a:t>and returns </a:t>
            </a:r>
            <a:r>
              <a:rPr lang="en-US" dirty="0" smtClean="0">
                <a:solidFill>
                  <a:schemeClr val="tx1"/>
                </a:solidFill>
              </a:rPr>
              <a:t>no result</a:t>
            </a:r>
          </a:p>
          <a:p>
            <a:r>
              <a:rPr lang="en-US" dirty="0" smtClean="0">
                <a:solidFill>
                  <a:schemeClr val="tx1"/>
                </a:solidFill>
              </a:rPr>
              <a:t>A </a:t>
            </a:r>
            <a:r>
              <a:rPr lang="en-US" dirty="0" err="1" smtClean="0">
                <a:solidFill>
                  <a:schemeClr val="tx1"/>
                </a:solidFill>
              </a:rPr>
              <a:t>BiConsumer</a:t>
            </a:r>
            <a:r>
              <a:rPr lang="en-US" dirty="0" smtClean="0">
                <a:solidFill>
                  <a:schemeClr val="tx1"/>
                </a:solidFill>
              </a:rPr>
              <a:t>&lt;T,U&gt; takes two objects which can be of different type and returns nothing</a:t>
            </a:r>
            <a:endParaRPr lang="en-US" dirty="0">
              <a:solidFill>
                <a:schemeClr val="tx1"/>
              </a:solidFill>
            </a:endParaRPr>
          </a:p>
          <a:p>
            <a:endParaRPr lang="en-US" dirty="0">
              <a:solidFill>
                <a:schemeClr val="tx1"/>
              </a:solidFill>
            </a:endParaRPr>
          </a:p>
          <a:p>
            <a:endParaRPr lang="en-US" dirty="0" smtClean="0">
              <a:solidFill>
                <a:schemeClr val="tx1"/>
              </a:solidFill>
            </a:endParaRPr>
          </a:p>
          <a:p>
            <a:endParaRPr lang="en-US" dirty="0">
              <a:solidFill>
                <a:schemeClr val="tx1"/>
              </a:solidFill>
            </a:endParaRPr>
          </a:p>
          <a:p>
            <a:endParaRPr lang="en-US" dirty="0" smtClean="0">
              <a:solidFill>
                <a:schemeClr val="tx1"/>
              </a:solidFill>
            </a:endParaRPr>
          </a:p>
          <a:p>
            <a:r>
              <a:rPr lang="en-US" dirty="0" smtClean="0">
                <a:solidFill>
                  <a:schemeClr val="tx1"/>
                </a:solidFill>
              </a:rPr>
              <a:t>List of predefined Consumer:</a:t>
            </a:r>
          </a:p>
          <a:p>
            <a:pPr lvl="1"/>
            <a:r>
              <a:rPr lang="en-US" dirty="0" err="1" smtClean="0">
                <a:solidFill>
                  <a:schemeClr val="tx1"/>
                </a:solidFill>
              </a:rPr>
              <a:t>IntConsumer</a:t>
            </a:r>
            <a:endParaRPr lang="en-US" dirty="0" smtClean="0">
              <a:solidFill>
                <a:schemeClr val="tx1"/>
              </a:solidFill>
            </a:endParaRPr>
          </a:p>
          <a:p>
            <a:pPr lvl="1"/>
            <a:r>
              <a:rPr lang="en-US" dirty="0" err="1" smtClean="0">
                <a:solidFill>
                  <a:schemeClr val="tx1"/>
                </a:solidFill>
              </a:rPr>
              <a:t>LongConsumer</a:t>
            </a:r>
            <a:endParaRPr lang="en-US" dirty="0" smtClean="0">
              <a:solidFill>
                <a:schemeClr val="tx1"/>
              </a:solidFill>
            </a:endParaRPr>
          </a:p>
          <a:p>
            <a:pPr lvl="1"/>
            <a:r>
              <a:rPr lang="en-US" dirty="0" err="1" smtClean="0">
                <a:solidFill>
                  <a:schemeClr val="tx1"/>
                </a:solidFill>
              </a:rPr>
              <a:t>ObjIntConsumer</a:t>
            </a:r>
            <a:endParaRPr lang="en-US" dirty="0" smtClean="0">
              <a:solidFill>
                <a:schemeClr val="tx1"/>
              </a:solidFill>
            </a:endParaRPr>
          </a:p>
          <a:p>
            <a:pPr lvl="1"/>
            <a:r>
              <a:rPr lang="en-US" dirty="0" err="1" smtClean="0">
                <a:solidFill>
                  <a:schemeClr val="tx1"/>
                </a:solidFill>
              </a:rPr>
              <a:t>ObjLongConsumer</a:t>
            </a:r>
            <a:r>
              <a:rPr lang="en-US" dirty="0" smtClean="0">
                <a:solidFill>
                  <a:schemeClr val="tx1"/>
                </a:solidFill>
              </a:rPr>
              <a:t> etc.</a:t>
            </a:r>
            <a:endParaRPr lang="en-US" dirty="0">
              <a:solidFill>
                <a:schemeClr val="tx1"/>
              </a:solidFill>
            </a:endParaRPr>
          </a:p>
          <a:p>
            <a:endParaRPr lang="en-US" dirty="0">
              <a:solidFill>
                <a:schemeClr val="tx1"/>
              </a:solidFill>
            </a:endParaRPr>
          </a:p>
          <a:p>
            <a:endParaRPr lang="en-US" dirty="0" smtClean="0">
              <a:solidFill>
                <a:schemeClr val="tx1"/>
              </a:solidFill>
            </a:endParaRPr>
          </a:p>
          <a:p>
            <a:endParaRPr lang="en-US" dirty="0">
              <a:solidFill>
                <a:schemeClr val="tx1"/>
              </a:solidFill>
            </a:endParaRPr>
          </a:p>
          <a:p>
            <a:endParaRPr lang="en-US" dirty="0" smtClean="0">
              <a:solidFill>
                <a:schemeClr val="tx1"/>
              </a:solidFill>
            </a:endParaRPr>
          </a:p>
          <a:p>
            <a:endParaRPr lang="en-US" dirty="0">
              <a:solidFill>
                <a:schemeClr val="tx1"/>
              </a:solidFill>
            </a:endParaRPr>
          </a:p>
          <a:p>
            <a:endParaRPr lang="en-US" dirty="0" smtClean="0">
              <a:solidFill>
                <a:schemeClr val="tx1"/>
              </a:solidFill>
            </a:endParaRPr>
          </a:p>
        </p:txBody>
      </p:sp>
      <p:sp>
        <p:nvSpPr>
          <p:cNvPr id="4" name="AutoShape 4"/>
          <p:cNvSpPr>
            <a:spLocks noChangeArrowheads="1"/>
          </p:cNvSpPr>
          <p:nvPr/>
        </p:nvSpPr>
        <p:spPr bwMode="auto">
          <a:xfrm>
            <a:off x="889221" y="2859029"/>
            <a:ext cx="3581175" cy="1480959"/>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anchor="ctr"/>
          <a:lstStyle/>
          <a:p>
            <a:pPr>
              <a:lnSpc>
                <a:spcPct val="135000"/>
              </a:lnSpc>
            </a:pPr>
            <a:r>
              <a:rPr lang="en-US" sz="1600" dirty="0" smtClean="0">
                <a:solidFill>
                  <a:schemeClr val="tx1"/>
                </a:solidFill>
                <a:latin typeface="+mj-lt"/>
                <a:cs typeface="Arial" pitchFamily="34" charset="0"/>
              </a:rPr>
              <a:t>@FunctionalInterface</a:t>
            </a:r>
          </a:p>
          <a:p>
            <a:pPr>
              <a:lnSpc>
                <a:spcPct val="135000"/>
              </a:lnSpc>
            </a:pPr>
            <a:r>
              <a:rPr lang="en-US" sz="1600" dirty="0" smtClean="0">
                <a:solidFill>
                  <a:schemeClr val="tx1"/>
                </a:solidFill>
                <a:latin typeface="+mj-lt"/>
                <a:cs typeface="Arial" pitchFamily="34" charset="0"/>
              </a:rPr>
              <a:t>public interface Consumer&lt;T&gt; {</a:t>
            </a:r>
          </a:p>
          <a:p>
            <a:pPr>
              <a:lnSpc>
                <a:spcPct val="135000"/>
              </a:lnSpc>
            </a:pPr>
            <a:r>
              <a:rPr lang="en-US" sz="1600" dirty="0" smtClean="0">
                <a:solidFill>
                  <a:schemeClr val="tx1"/>
                </a:solidFill>
                <a:latin typeface="+mj-lt"/>
                <a:cs typeface="Arial" pitchFamily="34" charset="0"/>
              </a:rPr>
              <a:t>          void accept(T t);</a:t>
            </a:r>
            <a:endParaRPr lang="en-US" sz="1600" dirty="0">
              <a:solidFill>
                <a:schemeClr val="tx1"/>
              </a:solidFill>
              <a:latin typeface="+mj-lt"/>
              <a:cs typeface="Arial" pitchFamily="34" charset="0"/>
            </a:endParaRPr>
          </a:p>
          <a:p>
            <a:pPr>
              <a:lnSpc>
                <a:spcPct val="135000"/>
              </a:lnSpc>
            </a:pPr>
            <a:r>
              <a:rPr lang="en-US" sz="1600" dirty="0" smtClean="0">
                <a:solidFill>
                  <a:schemeClr val="tx1"/>
                </a:solidFill>
                <a:latin typeface="+mj-lt"/>
                <a:cs typeface="Arial" pitchFamily="34" charset="0"/>
              </a:rPr>
              <a:t>}</a:t>
            </a:r>
            <a:endParaRPr lang="en-US" sz="1600" dirty="0">
              <a:solidFill>
                <a:schemeClr val="tx1"/>
              </a:solidFill>
              <a:latin typeface="+mj-lt"/>
              <a:cs typeface="Arial" pitchFamily="34" charset="0"/>
            </a:endParaRPr>
          </a:p>
        </p:txBody>
      </p:sp>
      <p:sp>
        <p:nvSpPr>
          <p:cNvPr id="5" name="AutoShape 4"/>
          <p:cNvSpPr>
            <a:spLocks noChangeArrowheads="1"/>
          </p:cNvSpPr>
          <p:nvPr/>
        </p:nvSpPr>
        <p:spPr bwMode="auto">
          <a:xfrm>
            <a:off x="4601028" y="2878079"/>
            <a:ext cx="4020458" cy="1461909"/>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anchor="ctr"/>
          <a:lstStyle/>
          <a:p>
            <a:pPr>
              <a:lnSpc>
                <a:spcPct val="135000"/>
              </a:lnSpc>
            </a:pPr>
            <a:r>
              <a:rPr lang="en-US" sz="1600" dirty="0" smtClean="0">
                <a:solidFill>
                  <a:schemeClr val="tx1"/>
                </a:solidFill>
                <a:latin typeface="+mj-lt"/>
                <a:cs typeface="Arial" pitchFamily="34" charset="0"/>
              </a:rPr>
              <a:t>@FunctionalInterface</a:t>
            </a:r>
          </a:p>
          <a:p>
            <a:pPr>
              <a:lnSpc>
                <a:spcPct val="135000"/>
              </a:lnSpc>
            </a:pPr>
            <a:r>
              <a:rPr lang="en-US" sz="1600" dirty="0" smtClean="0">
                <a:solidFill>
                  <a:schemeClr val="tx1"/>
                </a:solidFill>
                <a:latin typeface="+mj-lt"/>
                <a:cs typeface="Arial" pitchFamily="34" charset="0"/>
              </a:rPr>
              <a:t>public interface </a:t>
            </a:r>
            <a:r>
              <a:rPr lang="en-US" sz="1600" dirty="0" err="1" smtClean="0">
                <a:solidFill>
                  <a:schemeClr val="tx1"/>
                </a:solidFill>
                <a:latin typeface="+mj-lt"/>
                <a:cs typeface="Arial" pitchFamily="34" charset="0"/>
              </a:rPr>
              <a:t>BiConsumer</a:t>
            </a:r>
            <a:r>
              <a:rPr lang="en-US" sz="1600" dirty="0" smtClean="0">
                <a:solidFill>
                  <a:schemeClr val="tx1"/>
                </a:solidFill>
                <a:latin typeface="+mj-lt"/>
                <a:cs typeface="Arial" pitchFamily="34" charset="0"/>
              </a:rPr>
              <a:t>&lt;T,U&gt; {</a:t>
            </a:r>
          </a:p>
          <a:p>
            <a:pPr>
              <a:lnSpc>
                <a:spcPct val="135000"/>
              </a:lnSpc>
            </a:pPr>
            <a:r>
              <a:rPr lang="en-US" sz="1600" dirty="0" smtClean="0">
                <a:solidFill>
                  <a:schemeClr val="tx1"/>
                </a:solidFill>
                <a:latin typeface="+mj-lt"/>
                <a:cs typeface="Arial" pitchFamily="34" charset="0"/>
              </a:rPr>
              <a:t>          void accept(T </a:t>
            </a:r>
            <a:r>
              <a:rPr lang="en-US" sz="1600" dirty="0" err="1" smtClean="0">
                <a:solidFill>
                  <a:schemeClr val="tx1"/>
                </a:solidFill>
                <a:latin typeface="+mj-lt"/>
                <a:cs typeface="Arial" pitchFamily="34" charset="0"/>
              </a:rPr>
              <a:t>t</a:t>
            </a:r>
            <a:r>
              <a:rPr lang="en-US" sz="1600" dirty="0" smtClean="0">
                <a:solidFill>
                  <a:schemeClr val="tx1"/>
                </a:solidFill>
                <a:latin typeface="+mj-lt"/>
                <a:cs typeface="Arial" pitchFamily="34" charset="0"/>
              </a:rPr>
              <a:t>, </a:t>
            </a:r>
            <a:r>
              <a:rPr lang="en-US" sz="1600" dirty="0" err="1" smtClean="0">
                <a:solidFill>
                  <a:schemeClr val="tx1"/>
                </a:solidFill>
                <a:latin typeface="+mj-lt"/>
                <a:cs typeface="Arial" pitchFamily="34" charset="0"/>
              </a:rPr>
              <a:t>U,u</a:t>
            </a:r>
            <a:r>
              <a:rPr lang="en-US" sz="1600" dirty="0" smtClean="0">
                <a:solidFill>
                  <a:schemeClr val="tx1"/>
                </a:solidFill>
                <a:latin typeface="+mj-lt"/>
                <a:cs typeface="Arial" pitchFamily="34" charset="0"/>
              </a:rPr>
              <a:t>);</a:t>
            </a:r>
            <a:endParaRPr lang="en-US" sz="1600" dirty="0">
              <a:solidFill>
                <a:schemeClr val="tx1"/>
              </a:solidFill>
              <a:latin typeface="+mj-lt"/>
              <a:cs typeface="Arial" pitchFamily="34" charset="0"/>
            </a:endParaRPr>
          </a:p>
          <a:p>
            <a:pPr>
              <a:lnSpc>
                <a:spcPct val="135000"/>
              </a:lnSpc>
            </a:pPr>
            <a:r>
              <a:rPr lang="en-US" sz="1600" dirty="0" smtClean="0">
                <a:solidFill>
                  <a:schemeClr val="tx1"/>
                </a:solidFill>
                <a:latin typeface="+mj-lt"/>
                <a:cs typeface="Arial" pitchFamily="34" charset="0"/>
              </a:rPr>
              <a:t>}</a:t>
            </a:r>
            <a:endParaRPr lang="en-US" sz="1600" dirty="0">
              <a:solidFill>
                <a:schemeClr val="tx1"/>
              </a:solidFill>
              <a:latin typeface="+mj-lt"/>
              <a:cs typeface="Arial" pitchFamily="34" charset="0"/>
            </a:endParaRPr>
          </a:p>
        </p:txBody>
      </p:sp>
    </p:spTree>
    <p:extLst>
      <p:ext uri="{BB962C8B-B14F-4D97-AF65-F5344CB8AC3E}">
        <p14:creationId xmlns="" xmlns:p14="http://schemas.microsoft.com/office/powerpoint/2010/main" val="198094854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z="1200" dirty="0"/>
              <a:t>21.3: </a:t>
            </a:r>
            <a:r>
              <a:rPr lang="en-US" sz="1200" dirty="0" err="1"/>
              <a:t>Builtin</a:t>
            </a:r>
            <a:r>
              <a:rPr lang="en-US" sz="1200" dirty="0"/>
              <a:t> Functional Interfaces</a:t>
            </a:r>
            <a:r>
              <a:rPr lang="en-US" dirty="0" smtClean="0"/>
              <a:t/>
            </a:r>
            <a:br>
              <a:rPr lang="en-US" dirty="0" smtClean="0"/>
            </a:br>
            <a:r>
              <a:rPr lang="en-US" dirty="0" smtClean="0"/>
              <a:t>Predicate</a:t>
            </a:r>
            <a:endParaRPr lang="en-US" sz="2400" dirty="0"/>
          </a:p>
        </p:txBody>
      </p:sp>
      <p:sp>
        <p:nvSpPr>
          <p:cNvPr id="6" name="Content Placeholder 5"/>
          <p:cNvSpPr>
            <a:spLocks noGrp="1"/>
          </p:cNvSpPr>
          <p:nvPr>
            <p:ph idx="1"/>
          </p:nvPr>
        </p:nvSpPr>
        <p:spPr/>
        <p:txBody>
          <a:bodyPr/>
          <a:lstStyle/>
          <a:p>
            <a:r>
              <a:rPr lang="en-US" dirty="0">
                <a:solidFill>
                  <a:schemeClr val="tx1"/>
                </a:solidFill>
              </a:rPr>
              <a:t>A </a:t>
            </a:r>
            <a:r>
              <a:rPr lang="en-US" dirty="0" smtClean="0">
                <a:solidFill>
                  <a:schemeClr val="tx1"/>
                </a:solidFill>
              </a:rPr>
              <a:t>Predicate&lt;T&gt; </a:t>
            </a:r>
            <a:r>
              <a:rPr lang="en-US" dirty="0">
                <a:solidFill>
                  <a:schemeClr val="tx1"/>
                </a:solidFill>
              </a:rPr>
              <a:t>represents a function that takes </a:t>
            </a:r>
            <a:r>
              <a:rPr lang="en-US" dirty="0" smtClean="0">
                <a:solidFill>
                  <a:schemeClr val="tx1"/>
                </a:solidFill>
              </a:rPr>
              <a:t>an argument </a:t>
            </a:r>
            <a:r>
              <a:rPr lang="en-US" dirty="0">
                <a:solidFill>
                  <a:schemeClr val="tx1"/>
                </a:solidFill>
              </a:rPr>
              <a:t>and returns </a:t>
            </a:r>
            <a:r>
              <a:rPr lang="en-US" dirty="0" smtClean="0">
                <a:solidFill>
                  <a:schemeClr val="tx1"/>
                </a:solidFill>
              </a:rPr>
              <a:t>true or false result</a:t>
            </a:r>
          </a:p>
          <a:p>
            <a:r>
              <a:rPr lang="en-US" dirty="0" smtClean="0">
                <a:solidFill>
                  <a:schemeClr val="tx1"/>
                </a:solidFill>
              </a:rPr>
              <a:t>A </a:t>
            </a:r>
            <a:r>
              <a:rPr lang="en-US" dirty="0" err="1" smtClean="0">
                <a:solidFill>
                  <a:schemeClr val="tx1"/>
                </a:solidFill>
              </a:rPr>
              <a:t>BiPredicate</a:t>
            </a:r>
            <a:r>
              <a:rPr lang="en-US" dirty="0" smtClean="0">
                <a:solidFill>
                  <a:schemeClr val="tx1"/>
                </a:solidFill>
              </a:rPr>
              <a:t>&lt;T,U&gt; takes two objects which can be of different type and returns result as either true or false</a:t>
            </a:r>
            <a:endParaRPr lang="en-US" dirty="0">
              <a:solidFill>
                <a:schemeClr val="tx1"/>
              </a:solidFill>
            </a:endParaRPr>
          </a:p>
          <a:p>
            <a:endParaRPr lang="en-US" dirty="0">
              <a:solidFill>
                <a:schemeClr val="tx1"/>
              </a:solidFill>
            </a:endParaRPr>
          </a:p>
          <a:p>
            <a:endParaRPr lang="en-US" dirty="0" smtClean="0">
              <a:solidFill>
                <a:schemeClr val="tx1"/>
              </a:solidFill>
            </a:endParaRPr>
          </a:p>
          <a:p>
            <a:endParaRPr lang="en-US" dirty="0">
              <a:solidFill>
                <a:schemeClr val="tx1"/>
              </a:solidFill>
            </a:endParaRPr>
          </a:p>
          <a:p>
            <a:endParaRPr lang="en-US" dirty="0" smtClean="0">
              <a:solidFill>
                <a:schemeClr val="tx1"/>
              </a:solidFill>
            </a:endParaRPr>
          </a:p>
          <a:p>
            <a:endParaRPr lang="en-US" dirty="0">
              <a:solidFill>
                <a:schemeClr val="tx1"/>
              </a:solidFill>
            </a:endParaRPr>
          </a:p>
          <a:p>
            <a:r>
              <a:rPr lang="en-US" dirty="0" smtClean="0">
                <a:solidFill>
                  <a:schemeClr val="tx1"/>
                </a:solidFill>
              </a:rPr>
              <a:t>List of predefined Predicates:</a:t>
            </a:r>
          </a:p>
          <a:p>
            <a:pPr lvl="1"/>
            <a:r>
              <a:rPr lang="en-US" dirty="0" err="1" smtClean="0">
                <a:solidFill>
                  <a:schemeClr val="tx1"/>
                </a:solidFill>
              </a:rPr>
              <a:t>IntPredicate</a:t>
            </a:r>
            <a:endParaRPr lang="en-US" dirty="0" smtClean="0">
              <a:solidFill>
                <a:schemeClr val="tx1"/>
              </a:solidFill>
            </a:endParaRPr>
          </a:p>
          <a:p>
            <a:pPr lvl="1"/>
            <a:r>
              <a:rPr lang="en-US" dirty="0" err="1" smtClean="0">
                <a:solidFill>
                  <a:schemeClr val="tx1"/>
                </a:solidFill>
              </a:rPr>
              <a:t>LongPredicate</a:t>
            </a:r>
            <a:endParaRPr lang="en-US" dirty="0" smtClean="0">
              <a:solidFill>
                <a:schemeClr val="tx1"/>
              </a:solidFill>
            </a:endParaRPr>
          </a:p>
          <a:p>
            <a:pPr lvl="1"/>
            <a:r>
              <a:rPr lang="en-US" dirty="0" err="1" smtClean="0">
                <a:solidFill>
                  <a:schemeClr val="tx1"/>
                </a:solidFill>
              </a:rPr>
              <a:t>DoublePredicate</a:t>
            </a:r>
            <a:r>
              <a:rPr lang="en-US" dirty="0" smtClean="0">
                <a:solidFill>
                  <a:schemeClr val="tx1"/>
                </a:solidFill>
              </a:rPr>
              <a:t> etc.</a:t>
            </a:r>
            <a:endParaRPr lang="en-US" dirty="0">
              <a:solidFill>
                <a:schemeClr val="tx1"/>
              </a:solidFill>
            </a:endParaRPr>
          </a:p>
          <a:p>
            <a:endParaRPr lang="en-US" dirty="0">
              <a:solidFill>
                <a:schemeClr val="tx1"/>
              </a:solidFill>
            </a:endParaRPr>
          </a:p>
          <a:p>
            <a:endParaRPr lang="en-US" dirty="0" smtClean="0">
              <a:solidFill>
                <a:schemeClr val="tx1"/>
              </a:solidFill>
            </a:endParaRPr>
          </a:p>
          <a:p>
            <a:endParaRPr lang="en-US" dirty="0">
              <a:solidFill>
                <a:schemeClr val="tx1"/>
              </a:solidFill>
            </a:endParaRPr>
          </a:p>
          <a:p>
            <a:endParaRPr lang="en-US" dirty="0" smtClean="0">
              <a:solidFill>
                <a:schemeClr val="tx1"/>
              </a:solidFill>
            </a:endParaRPr>
          </a:p>
          <a:p>
            <a:endParaRPr lang="en-US" dirty="0">
              <a:solidFill>
                <a:schemeClr val="tx1"/>
              </a:solidFill>
            </a:endParaRPr>
          </a:p>
          <a:p>
            <a:endParaRPr lang="en-US" dirty="0" smtClean="0">
              <a:solidFill>
                <a:schemeClr val="tx1"/>
              </a:solidFill>
            </a:endParaRPr>
          </a:p>
        </p:txBody>
      </p:sp>
      <p:sp>
        <p:nvSpPr>
          <p:cNvPr id="4" name="AutoShape 4"/>
          <p:cNvSpPr>
            <a:spLocks noChangeArrowheads="1"/>
          </p:cNvSpPr>
          <p:nvPr/>
        </p:nvSpPr>
        <p:spPr bwMode="auto">
          <a:xfrm>
            <a:off x="889221" y="3068865"/>
            <a:ext cx="3581175" cy="1640114"/>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anchor="ctr"/>
          <a:lstStyle/>
          <a:p>
            <a:pPr>
              <a:lnSpc>
                <a:spcPct val="135000"/>
              </a:lnSpc>
            </a:pPr>
            <a:r>
              <a:rPr lang="en-US" dirty="0" smtClean="0">
                <a:solidFill>
                  <a:schemeClr val="tx1"/>
                </a:solidFill>
                <a:latin typeface="+mj-lt"/>
                <a:cs typeface="Arial" pitchFamily="34" charset="0"/>
              </a:rPr>
              <a:t>@FunctionalInterface</a:t>
            </a:r>
          </a:p>
          <a:p>
            <a:pPr>
              <a:lnSpc>
                <a:spcPct val="135000"/>
              </a:lnSpc>
            </a:pPr>
            <a:r>
              <a:rPr lang="en-US" dirty="0" smtClean="0">
                <a:solidFill>
                  <a:schemeClr val="tx1"/>
                </a:solidFill>
                <a:latin typeface="+mj-lt"/>
                <a:cs typeface="Arial" pitchFamily="34" charset="0"/>
              </a:rPr>
              <a:t>public interface Predicate&lt;T&gt; {</a:t>
            </a:r>
          </a:p>
          <a:p>
            <a:pPr>
              <a:lnSpc>
                <a:spcPct val="135000"/>
              </a:lnSpc>
            </a:pPr>
            <a:r>
              <a:rPr lang="en-US" dirty="0" smtClean="0">
                <a:solidFill>
                  <a:schemeClr val="tx1"/>
                </a:solidFill>
                <a:latin typeface="+mj-lt"/>
                <a:cs typeface="Arial" pitchFamily="34" charset="0"/>
              </a:rPr>
              <a:t>          </a:t>
            </a:r>
            <a:r>
              <a:rPr lang="en-US" dirty="0" err="1" smtClean="0">
                <a:solidFill>
                  <a:schemeClr val="tx1"/>
                </a:solidFill>
                <a:latin typeface="+mj-lt"/>
                <a:cs typeface="Arial" pitchFamily="34" charset="0"/>
              </a:rPr>
              <a:t>boolean</a:t>
            </a:r>
            <a:r>
              <a:rPr lang="en-US" dirty="0" smtClean="0">
                <a:solidFill>
                  <a:schemeClr val="tx1"/>
                </a:solidFill>
                <a:latin typeface="+mj-lt"/>
                <a:cs typeface="Arial" pitchFamily="34" charset="0"/>
              </a:rPr>
              <a:t> test(T t);</a:t>
            </a:r>
            <a:endParaRPr lang="en-US" dirty="0">
              <a:solidFill>
                <a:schemeClr val="tx1"/>
              </a:solidFill>
              <a:latin typeface="+mj-lt"/>
              <a:cs typeface="Arial" pitchFamily="34" charset="0"/>
            </a:endParaRPr>
          </a:p>
          <a:p>
            <a:pPr>
              <a:lnSpc>
                <a:spcPct val="135000"/>
              </a:lnSpc>
            </a:pPr>
            <a:r>
              <a:rPr lang="en-US" dirty="0" smtClean="0">
                <a:solidFill>
                  <a:schemeClr val="tx1"/>
                </a:solidFill>
                <a:latin typeface="+mj-lt"/>
                <a:cs typeface="Arial" pitchFamily="34" charset="0"/>
              </a:rPr>
              <a:t>}</a:t>
            </a:r>
            <a:endParaRPr lang="en-US" dirty="0">
              <a:solidFill>
                <a:schemeClr val="tx1"/>
              </a:solidFill>
              <a:latin typeface="+mj-lt"/>
              <a:cs typeface="Arial" pitchFamily="34" charset="0"/>
            </a:endParaRPr>
          </a:p>
        </p:txBody>
      </p:sp>
      <p:sp>
        <p:nvSpPr>
          <p:cNvPr id="5" name="AutoShape 4"/>
          <p:cNvSpPr>
            <a:spLocks noChangeArrowheads="1"/>
          </p:cNvSpPr>
          <p:nvPr/>
        </p:nvSpPr>
        <p:spPr bwMode="auto">
          <a:xfrm>
            <a:off x="4601028" y="3087915"/>
            <a:ext cx="4020458" cy="1640114"/>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anchor="ctr"/>
          <a:lstStyle/>
          <a:p>
            <a:pPr>
              <a:lnSpc>
                <a:spcPct val="135000"/>
              </a:lnSpc>
            </a:pPr>
            <a:r>
              <a:rPr lang="en-US" dirty="0" smtClean="0">
                <a:solidFill>
                  <a:schemeClr val="tx1"/>
                </a:solidFill>
                <a:latin typeface="+mj-lt"/>
                <a:cs typeface="Arial" pitchFamily="34" charset="0"/>
              </a:rPr>
              <a:t>@FunctionalInterface</a:t>
            </a:r>
          </a:p>
          <a:p>
            <a:pPr>
              <a:lnSpc>
                <a:spcPct val="135000"/>
              </a:lnSpc>
            </a:pPr>
            <a:r>
              <a:rPr lang="en-US" dirty="0" smtClean="0">
                <a:solidFill>
                  <a:schemeClr val="tx1"/>
                </a:solidFill>
                <a:latin typeface="+mj-lt"/>
                <a:cs typeface="Arial" pitchFamily="34" charset="0"/>
              </a:rPr>
              <a:t>public interface </a:t>
            </a:r>
            <a:r>
              <a:rPr lang="en-US" dirty="0" err="1" smtClean="0">
                <a:solidFill>
                  <a:schemeClr val="tx1"/>
                </a:solidFill>
                <a:latin typeface="+mj-lt"/>
                <a:cs typeface="Arial" pitchFamily="34" charset="0"/>
              </a:rPr>
              <a:t>BiPredicate</a:t>
            </a:r>
            <a:r>
              <a:rPr lang="en-US" dirty="0" smtClean="0">
                <a:solidFill>
                  <a:schemeClr val="tx1"/>
                </a:solidFill>
                <a:latin typeface="+mj-lt"/>
                <a:cs typeface="Arial" pitchFamily="34" charset="0"/>
              </a:rPr>
              <a:t>&lt;T,U&gt; {</a:t>
            </a:r>
          </a:p>
          <a:p>
            <a:pPr>
              <a:lnSpc>
                <a:spcPct val="135000"/>
              </a:lnSpc>
            </a:pPr>
            <a:r>
              <a:rPr lang="en-US" dirty="0" smtClean="0">
                <a:solidFill>
                  <a:schemeClr val="tx1"/>
                </a:solidFill>
                <a:latin typeface="+mj-lt"/>
                <a:cs typeface="Arial" pitchFamily="34" charset="0"/>
              </a:rPr>
              <a:t>          </a:t>
            </a:r>
            <a:r>
              <a:rPr lang="en-US" dirty="0" err="1" smtClean="0">
                <a:solidFill>
                  <a:schemeClr val="tx1"/>
                </a:solidFill>
                <a:latin typeface="+mj-lt"/>
                <a:cs typeface="Arial" pitchFamily="34" charset="0"/>
              </a:rPr>
              <a:t>boolean</a:t>
            </a:r>
            <a:r>
              <a:rPr lang="en-US" dirty="0" smtClean="0">
                <a:solidFill>
                  <a:schemeClr val="tx1"/>
                </a:solidFill>
                <a:latin typeface="+mj-lt"/>
                <a:cs typeface="Arial" pitchFamily="34" charset="0"/>
              </a:rPr>
              <a:t> test(T </a:t>
            </a:r>
            <a:r>
              <a:rPr lang="en-US" dirty="0" err="1" smtClean="0">
                <a:solidFill>
                  <a:schemeClr val="tx1"/>
                </a:solidFill>
                <a:latin typeface="+mj-lt"/>
                <a:cs typeface="Arial" pitchFamily="34" charset="0"/>
              </a:rPr>
              <a:t>t</a:t>
            </a:r>
            <a:r>
              <a:rPr lang="en-US" dirty="0" smtClean="0">
                <a:solidFill>
                  <a:schemeClr val="tx1"/>
                </a:solidFill>
                <a:latin typeface="+mj-lt"/>
                <a:cs typeface="Arial" pitchFamily="34" charset="0"/>
              </a:rPr>
              <a:t>, </a:t>
            </a:r>
            <a:r>
              <a:rPr lang="en-US" dirty="0" err="1" smtClean="0">
                <a:solidFill>
                  <a:schemeClr val="tx1"/>
                </a:solidFill>
                <a:latin typeface="+mj-lt"/>
                <a:cs typeface="Arial" pitchFamily="34" charset="0"/>
              </a:rPr>
              <a:t>U,u</a:t>
            </a:r>
            <a:r>
              <a:rPr lang="en-US" dirty="0" smtClean="0">
                <a:solidFill>
                  <a:schemeClr val="tx1"/>
                </a:solidFill>
                <a:latin typeface="+mj-lt"/>
                <a:cs typeface="Arial" pitchFamily="34" charset="0"/>
              </a:rPr>
              <a:t>);</a:t>
            </a:r>
            <a:endParaRPr lang="en-US" dirty="0">
              <a:solidFill>
                <a:schemeClr val="tx1"/>
              </a:solidFill>
              <a:latin typeface="+mj-lt"/>
              <a:cs typeface="Arial" pitchFamily="34" charset="0"/>
            </a:endParaRPr>
          </a:p>
          <a:p>
            <a:pPr>
              <a:lnSpc>
                <a:spcPct val="135000"/>
              </a:lnSpc>
            </a:pPr>
            <a:r>
              <a:rPr lang="en-US" dirty="0" smtClean="0">
                <a:solidFill>
                  <a:schemeClr val="tx1"/>
                </a:solidFill>
                <a:latin typeface="+mj-lt"/>
                <a:cs typeface="Arial" pitchFamily="34" charset="0"/>
              </a:rPr>
              <a:t>}</a:t>
            </a:r>
            <a:endParaRPr lang="en-US" dirty="0">
              <a:solidFill>
                <a:schemeClr val="tx1"/>
              </a:solidFill>
              <a:latin typeface="+mj-lt"/>
              <a:cs typeface="Arial" pitchFamily="34" charset="0"/>
            </a:endParaRPr>
          </a:p>
        </p:txBody>
      </p:sp>
    </p:spTree>
    <p:extLst>
      <p:ext uri="{BB962C8B-B14F-4D97-AF65-F5344CB8AC3E}">
        <p14:creationId xmlns="" xmlns:p14="http://schemas.microsoft.com/office/powerpoint/2010/main" val="278889145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z="1200" dirty="0"/>
              <a:t>21.3: </a:t>
            </a:r>
            <a:r>
              <a:rPr lang="en-US" sz="1200" dirty="0" err="1"/>
              <a:t>Builtin</a:t>
            </a:r>
            <a:r>
              <a:rPr lang="en-US" sz="1200" dirty="0"/>
              <a:t> Functional Interfaces</a:t>
            </a:r>
            <a:r>
              <a:rPr lang="en-US" dirty="0" smtClean="0"/>
              <a:t/>
            </a:r>
            <a:br>
              <a:rPr lang="en-US" dirty="0" smtClean="0"/>
            </a:br>
            <a:r>
              <a:rPr lang="en-US" dirty="0" smtClean="0"/>
              <a:t>Function</a:t>
            </a:r>
            <a:endParaRPr lang="en-US" sz="2400" dirty="0"/>
          </a:p>
        </p:txBody>
      </p:sp>
      <p:sp>
        <p:nvSpPr>
          <p:cNvPr id="6" name="Content Placeholder 5"/>
          <p:cNvSpPr>
            <a:spLocks noGrp="1"/>
          </p:cNvSpPr>
          <p:nvPr>
            <p:ph idx="1"/>
          </p:nvPr>
        </p:nvSpPr>
        <p:spPr>
          <a:xfrm>
            <a:off x="298516" y="1494766"/>
            <a:ext cx="8845484" cy="4865091"/>
          </a:xfrm>
        </p:spPr>
        <p:txBody>
          <a:bodyPr/>
          <a:lstStyle/>
          <a:p>
            <a:r>
              <a:rPr lang="en-US" dirty="0">
                <a:solidFill>
                  <a:schemeClr val="tx1"/>
                </a:solidFill>
              </a:rPr>
              <a:t>A </a:t>
            </a:r>
            <a:r>
              <a:rPr lang="en-US" dirty="0" smtClean="0">
                <a:solidFill>
                  <a:schemeClr val="tx1"/>
                </a:solidFill>
              </a:rPr>
              <a:t>Function&lt;T&gt; </a:t>
            </a:r>
            <a:r>
              <a:rPr lang="en-US" dirty="0">
                <a:solidFill>
                  <a:schemeClr val="tx1"/>
                </a:solidFill>
              </a:rPr>
              <a:t>represents a function that takes </a:t>
            </a:r>
            <a:r>
              <a:rPr lang="en-US" dirty="0" smtClean="0">
                <a:solidFill>
                  <a:schemeClr val="tx1"/>
                </a:solidFill>
              </a:rPr>
              <a:t>an argument </a:t>
            </a:r>
            <a:r>
              <a:rPr lang="en-US" dirty="0">
                <a:solidFill>
                  <a:schemeClr val="tx1"/>
                </a:solidFill>
              </a:rPr>
              <a:t>and returns </a:t>
            </a:r>
            <a:r>
              <a:rPr lang="en-US" dirty="0" smtClean="0">
                <a:solidFill>
                  <a:schemeClr val="tx1"/>
                </a:solidFill>
              </a:rPr>
              <a:t>another object</a:t>
            </a:r>
          </a:p>
          <a:p>
            <a:r>
              <a:rPr lang="en-US" dirty="0" smtClean="0">
                <a:solidFill>
                  <a:schemeClr val="tx1"/>
                </a:solidFill>
              </a:rPr>
              <a:t>A </a:t>
            </a:r>
            <a:r>
              <a:rPr lang="en-US" dirty="0" err="1" smtClean="0">
                <a:solidFill>
                  <a:schemeClr val="tx1"/>
                </a:solidFill>
              </a:rPr>
              <a:t>BiFunction</a:t>
            </a:r>
            <a:r>
              <a:rPr lang="en-US" dirty="0" smtClean="0">
                <a:solidFill>
                  <a:schemeClr val="tx1"/>
                </a:solidFill>
              </a:rPr>
              <a:t>&lt;T,U&gt; takes two objects which can be of different type and returns one object </a:t>
            </a:r>
            <a:endParaRPr lang="en-US" dirty="0">
              <a:solidFill>
                <a:schemeClr val="tx1"/>
              </a:solidFill>
            </a:endParaRPr>
          </a:p>
          <a:p>
            <a:endParaRPr lang="en-US" dirty="0">
              <a:solidFill>
                <a:schemeClr val="tx1"/>
              </a:solidFill>
            </a:endParaRPr>
          </a:p>
          <a:p>
            <a:endParaRPr lang="en-US" dirty="0" smtClean="0">
              <a:solidFill>
                <a:schemeClr val="tx1"/>
              </a:solidFill>
            </a:endParaRPr>
          </a:p>
          <a:p>
            <a:endParaRPr lang="en-US" dirty="0">
              <a:solidFill>
                <a:schemeClr val="tx1"/>
              </a:solidFill>
            </a:endParaRPr>
          </a:p>
          <a:p>
            <a:endParaRPr lang="en-US" dirty="0" smtClean="0">
              <a:solidFill>
                <a:schemeClr val="tx1"/>
              </a:solidFill>
            </a:endParaRPr>
          </a:p>
          <a:p>
            <a:r>
              <a:rPr lang="en-US" dirty="0" smtClean="0">
                <a:solidFill>
                  <a:schemeClr val="tx1"/>
                </a:solidFill>
              </a:rPr>
              <a:t>List of predefined Functions:</a:t>
            </a:r>
          </a:p>
          <a:p>
            <a:pPr lvl="1"/>
            <a:r>
              <a:rPr lang="en-US" dirty="0" err="1" smtClean="0">
                <a:solidFill>
                  <a:schemeClr val="tx1"/>
                </a:solidFill>
              </a:rPr>
              <a:t>DoubleFunction</a:t>
            </a:r>
            <a:r>
              <a:rPr lang="en-US" dirty="0" smtClean="0">
                <a:solidFill>
                  <a:schemeClr val="tx1"/>
                </a:solidFill>
              </a:rPr>
              <a:t>&lt;R&gt;</a:t>
            </a:r>
          </a:p>
          <a:p>
            <a:pPr lvl="1"/>
            <a:r>
              <a:rPr lang="en-US" dirty="0" err="1" smtClean="0">
                <a:solidFill>
                  <a:schemeClr val="tx1"/>
                </a:solidFill>
              </a:rPr>
              <a:t>IntFunction</a:t>
            </a:r>
            <a:r>
              <a:rPr lang="en-US" dirty="0" smtClean="0">
                <a:solidFill>
                  <a:schemeClr val="tx1"/>
                </a:solidFill>
              </a:rPr>
              <a:t>&lt;R&gt;</a:t>
            </a:r>
          </a:p>
          <a:p>
            <a:pPr lvl="1"/>
            <a:r>
              <a:rPr lang="en-US" dirty="0" err="1" smtClean="0">
                <a:solidFill>
                  <a:schemeClr val="tx1"/>
                </a:solidFill>
              </a:rPr>
              <a:t>IntToDoubleFunction</a:t>
            </a:r>
            <a:endParaRPr lang="en-US" dirty="0" smtClean="0">
              <a:solidFill>
                <a:schemeClr val="tx1"/>
              </a:solidFill>
            </a:endParaRPr>
          </a:p>
          <a:p>
            <a:pPr lvl="1"/>
            <a:r>
              <a:rPr lang="en-US" dirty="0" err="1" smtClean="0">
                <a:solidFill>
                  <a:schemeClr val="tx1"/>
                </a:solidFill>
              </a:rPr>
              <a:t>DoubleToIntFunction</a:t>
            </a:r>
            <a:endParaRPr lang="en-US" dirty="0" smtClean="0">
              <a:solidFill>
                <a:schemeClr val="tx1"/>
              </a:solidFill>
            </a:endParaRPr>
          </a:p>
          <a:p>
            <a:pPr lvl="1"/>
            <a:r>
              <a:rPr lang="en-US" dirty="0" err="1" smtClean="0">
                <a:solidFill>
                  <a:schemeClr val="tx1"/>
                </a:solidFill>
              </a:rPr>
              <a:t>DoubleToLongFunction</a:t>
            </a:r>
            <a:r>
              <a:rPr lang="en-US" dirty="0" smtClean="0">
                <a:solidFill>
                  <a:schemeClr val="tx1"/>
                </a:solidFill>
              </a:rPr>
              <a:t> etc.</a:t>
            </a:r>
            <a:endParaRPr lang="en-US" dirty="0">
              <a:solidFill>
                <a:schemeClr val="tx1"/>
              </a:solidFill>
            </a:endParaRPr>
          </a:p>
          <a:p>
            <a:endParaRPr lang="en-US" dirty="0">
              <a:solidFill>
                <a:schemeClr val="tx1"/>
              </a:solidFill>
            </a:endParaRPr>
          </a:p>
          <a:p>
            <a:endParaRPr lang="en-US" dirty="0" smtClean="0">
              <a:solidFill>
                <a:schemeClr val="tx1"/>
              </a:solidFill>
            </a:endParaRPr>
          </a:p>
          <a:p>
            <a:endParaRPr lang="en-US" dirty="0">
              <a:solidFill>
                <a:schemeClr val="tx1"/>
              </a:solidFill>
            </a:endParaRPr>
          </a:p>
          <a:p>
            <a:endParaRPr lang="en-US" dirty="0" smtClean="0">
              <a:solidFill>
                <a:schemeClr val="tx1"/>
              </a:solidFill>
            </a:endParaRPr>
          </a:p>
          <a:p>
            <a:endParaRPr lang="en-US" dirty="0">
              <a:solidFill>
                <a:schemeClr val="tx1"/>
              </a:solidFill>
            </a:endParaRPr>
          </a:p>
          <a:p>
            <a:endParaRPr lang="en-US" dirty="0" smtClean="0">
              <a:solidFill>
                <a:schemeClr val="tx1"/>
              </a:solidFill>
            </a:endParaRPr>
          </a:p>
        </p:txBody>
      </p:sp>
      <p:sp>
        <p:nvSpPr>
          <p:cNvPr id="4" name="AutoShape 4"/>
          <p:cNvSpPr>
            <a:spLocks noChangeArrowheads="1"/>
          </p:cNvSpPr>
          <p:nvPr/>
        </p:nvSpPr>
        <p:spPr bwMode="auto">
          <a:xfrm>
            <a:off x="889221" y="3056075"/>
            <a:ext cx="3581175" cy="1253774"/>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anchor="ctr"/>
          <a:lstStyle/>
          <a:p>
            <a:pPr>
              <a:lnSpc>
                <a:spcPct val="135000"/>
              </a:lnSpc>
            </a:pPr>
            <a:r>
              <a:rPr lang="en-US" sz="1400" dirty="0" smtClean="0">
                <a:solidFill>
                  <a:schemeClr val="tx1"/>
                </a:solidFill>
                <a:latin typeface="+mj-lt"/>
                <a:cs typeface="Arial" pitchFamily="34" charset="0"/>
              </a:rPr>
              <a:t>@FunctionalInterface</a:t>
            </a:r>
          </a:p>
          <a:p>
            <a:pPr>
              <a:lnSpc>
                <a:spcPct val="135000"/>
              </a:lnSpc>
            </a:pPr>
            <a:r>
              <a:rPr lang="en-US" sz="1400" dirty="0" smtClean="0">
                <a:solidFill>
                  <a:schemeClr val="tx1"/>
                </a:solidFill>
                <a:latin typeface="+mj-lt"/>
                <a:cs typeface="Arial" pitchFamily="34" charset="0"/>
              </a:rPr>
              <a:t>public interface Function&lt;T,R&gt; {</a:t>
            </a:r>
          </a:p>
          <a:p>
            <a:pPr>
              <a:lnSpc>
                <a:spcPct val="135000"/>
              </a:lnSpc>
            </a:pPr>
            <a:r>
              <a:rPr lang="en-US" sz="1400" dirty="0" smtClean="0">
                <a:solidFill>
                  <a:schemeClr val="tx1"/>
                </a:solidFill>
                <a:latin typeface="+mj-lt"/>
                <a:cs typeface="Arial" pitchFamily="34" charset="0"/>
              </a:rPr>
              <a:t>          R apply(T t);</a:t>
            </a:r>
            <a:endParaRPr lang="en-US" sz="1400" dirty="0">
              <a:solidFill>
                <a:schemeClr val="tx1"/>
              </a:solidFill>
              <a:latin typeface="+mj-lt"/>
              <a:cs typeface="Arial" pitchFamily="34" charset="0"/>
            </a:endParaRPr>
          </a:p>
          <a:p>
            <a:pPr>
              <a:lnSpc>
                <a:spcPct val="135000"/>
              </a:lnSpc>
            </a:pPr>
            <a:r>
              <a:rPr lang="en-US" sz="1400" dirty="0" smtClean="0">
                <a:solidFill>
                  <a:schemeClr val="tx1"/>
                </a:solidFill>
                <a:latin typeface="+mj-lt"/>
                <a:cs typeface="Arial" pitchFamily="34" charset="0"/>
              </a:rPr>
              <a:t>}</a:t>
            </a:r>
            <a:endParaRPr lang="en-US" sz="1400" dirty="0">
              <a:solidFill>
                <a:schemeClr val="tx1"/>
              </a:solidFill>
              <a:latin typeface="+mj-lt"/>
              <a:cs typeface="Arial" pitchFamily="34" charset="0"/>
            </a:endParaRPr>
          </a:p>
        </p:txBody>
      </p:sp>
      <p:sp>
        <p:nvSpPr>
          <p:cNvPr id="5" name="AutoShape 4"/>
          <p:cNvSpPr>
            <a:spLocks noChangeArrowheads="1"/>
          </p:cNvSpPr>
          <p:nvPr/>
        </p:nvSpPr>
        <p:spPr bwMode="auto">
          <a:xfrm>
            <a:off x="4601028" y="3094175"/>
            <a:ext cx="4020458" cy="1253774"/>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anchor="ctr"/>
          <a:lstStyle/>
          <a:p>
            <a:pPr>
              <a:lnSpc>
                <a:spcPct val="135000"/>
              </a:lnSpc>
            </a:pPr>
            <a:r>
              <a:rPr lang="en-US" sz="1400" dirty="0" smtClean="0">
                <a:solidFill>
                  <a:schemeClr val="tx1"/>
                </a:solidFill>
                <a:latin typeface="+mj-lt"/>
                <a:cs typeface="Arial" pitchFamily="34" charset="0"/>
              </a:rPr>
              <a:t>@FunctionalInterface</a:t>
            </a:r>
          </a:p>
          <a:p>
            <a:pPr>
              <a:lnSpc>
                <a:spcPct val="135000"/>
              </a:lnSpc>
            </a:pPr>
            <a:r>
              <a:rPr lang="en-US" sz="1400" dirty="0" smtClean="0">
                <a:solidFill>
                  <a:schemeClr val="tx1"/>
                </a:solidFill>
                <a:latin typeface="+mj-lt"/>
                <a:cs typeface="Arial" pitchFamily="34" charset="0"/>
              </a:rPr>
              <a:t>public interface </a:t>
            </a:r>
            <a:r>
              <a:rPr lang="en-US" sz="1400" dirty="0" err="1" smtClean="0">
                <a:solidFill>
                  <a:schemeClr val="tx1"/>
                </a:solidFill>
                <a:latin typeface="+mj-lt"/>
                <a:cs typeface="Arial" pitchFamily="34" charset="0"/>
              </a:rPr>
              <a:t>BiFunction</a:t>
            </a:r>
            <a:r>
              <a:rPr lang="en-US" sz="1400" dirty="0" smtClean="0">
                <a:solidFill>
                  <a:schemeClr val="tx1"/>
                </a:solidFill>
                <a:latin typeface="+mj-lt"/>
                <a:cs typeface="Arial" pitchFamily="34" charset="0"/>
              </a:rPr>
              <a:t>&lt;T,U,R&gt; {</a:t>
            </a:r>
          </a:p>
          <a:p>
            <a:pPr>
              <a:lnSpc>
                <a:spcPct val="135000"/>
              </a:lnSpc>
            </a:pPr>
            <a:r>
              <a:rPr lang="en-US" sz="1400" dirty="0" smtClean="0">
                <a:solidFill>
                  <a:schemeClr val="tx1"/>
                </a:solidFill>
                <a:latin typeface="+mj-lt"/>
                <a:cs typeface="Arial" pitchFamily="34" charset="0"/>
              </a:rPr>
              <a:t>          R apply(T </a:t>
            </a:r>
            <a:r>
              <a:rPr lang="en-US" sz="1400" dirty="0" err="1" smtClean="0">
                <a:solidFill>
                  <a:schemeClr val="tx1"/>
                </a:solidFill>
                <a:latin typeface="+mj-lt"/>
                <a:cs typeface="Arial" pitchFamily="34" charset="0"/>
              </a:rPr>
              <a:t>t</a:t>
            </a:r>
            <a:r>
              <a:rPr lang="en-US" sz="1400" dirty="0" smtClean="0">
                <a:solidFill>
                  <a:schemeClr val="tx1"/>
                </a:solidFill>
                <a:latin typeface="+mj-lt"/>
                <a:cs typeface="Arial" pitchFamily="34" charset="0"/>
              </a:rPr>
              <a:t>, </a:t>
            </a:r>
            <a:r>
              <a:rPr lang="en-US" sz="1400" dirty="0" err="1" smtClean="0">
                <a:solidFill>
                  <a:schemeClr val="tx1"/>
                </a:solidFill>
                <a:latin typeface="+mj-lt"/>
                <a:cs typeface="Arial" pitchFamily="34" charset="0"/>
              </a:rPr>
              <a:t>U,u</a:t>
            </a:r>
            <a:r>
              <a:rPr lang="en-US" sz="1400" dirty="0" smtClean="0">
                <a:solidFill>
                  <a:schemeClr val="tx1"/>
                </a:solidFill>
                <a:latin typeface="+mj-lt"/>
                <a:cs typeface="Arial" pitchFamily="34" charset="0"/>
              </a:rPr>
              <a:t>);</a:t>
            </a:r>
            <a:endParaRPr lang="en-US" sz="1400" dirty="0">
              <a:solidFill>
                <a:schemeClr val="tx1"/>
              </a:solidFill>
              <a:latin typeface="+mj-lt"/>
              <a:cs typeface="Arial" pitchFamily="34" charset="0"/>
            </a:endParaRPr>
          </a:p>
          <a:p>
            <a:pPr>
              <a:lnSpc>
                <a:spcPct val="135000"/>
              </a:lnSpc>
            </a:pPr>
            <a:r>
              <a:rPr lang="en-US" sz="1400" dirty="0" smtClean="0">
                <a:solidFill>
                  <a:schemeClr val="tx1"/>
                </a:solidFill>
                <a:latin typeface="+mj-lt"/>
                <a:cs typeface="Arial" pitchFamily="34" charset="0"/>
              </a:rPr>
              <a:t>}</a:t>
            </a:r>
            <a:endParaRPr lang="en-US" sz="1400" dirty="0">
              <a:solidFill>
                <a:schemeClr val="tx1"/>
              </a:solidFill>
              <a:latin typeface="+mj-lt"/>
              <a:cs typeface="Arial" pitchFamily="34" charset="0"/>
            </a:endParaRPr>
          </a:p>
        </p:txBody>
      </p:sp>
    </p:spTree>
    <p:extLst>
      <p:ext uri="{BB962C8B-B14F-4D97-AF65-F5344CB8AC3E}">
        <p14:creationId xmlns="" xmlns:p14="http://schemas.microsoft.com/office/powerpoint/2010/main" val="51276017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z="1200" dirty="0" smtClean="0"/>
              <a:t>21.4 : </a:t>
            </a:r>
            <a:r>
              <a:rPr lang="en-US" sz="1200" dirty="0" err="1" smtClean="0"/>
              <a:t>Builtin</a:t>
            </a:r>
            <a:r>
              <a:rPr lang="en-US" sz="1200" dirty="0" smtClean="0"/>
              <a:t> </a:t>
            </a:r>
            <a:r>
              <a:rPr lang="en-US" sz="1200" dirty="0"/>
              <a:t>Functional </a:t>
            </a:r>
            <a:r>
              <a:rPr lang="en-US" sz="1200" dirty="0" smtClean="0"/>
              <a:t>Interfaces and Lambda Expressions</a:t>
            </a:r>
            <a:r>
              <a:rPr lang="en-US" dirty="0" smtClean="0"/>
              <a:t/>
            </a:r>
            <a:br>
              <a:rPr lang="en-US" dirty="0" smtClean="0"/>
            </a:br>
            <a:r>
              <a:rPr lang="en-US" dirty="0" smtClean="0"/>
              <a:t>Lambda Expression for Function Interfaces</a:t>
            </a:r>
            <a:endParaRPr lang="en-US" sz="2400" dirty="0"/>
          </a:p>
        </p:txBody>
      </p:sp>
      <p:sp>
        <p:nvSpPr>
          <p:cNvPr id="6" name="Content Placeholder 5"/>
          <p:cNvSpPr>
            <a:spLocks noGrp="1"/>
          </p:cNvSpPr>
          <p:nvPr>
            <p:ph idx="1"/>
          </p:nvPr>
        </p:nvSpPr>
        <p:spPr/>
        <p:txBody>
          <a:bodyPr/>
          <a:lstStyle/>
          <a:p>
            <a:r>
              <a:rPr lang="en-US" dirty="0" smtClean="0">
                <a:solidFill>
                  <a:schemeClr val="tx1"/>
                </a:solidFill>
              </a:rPr>
              <a:t>Writing Lambda Expressions for Predefined Functional Interfaces</a:t>
            </a:r>
            <a:endParaRPr lang="en-US" dirty="0">
              <a:solidFill>
                <a:schemeClr val="tx1"/>
              </a:solidFill>
            </a:endParaRPr>
          </a:p>
          <a:p>
            <a:endParaRPr lang="en-US" dirty="0" smtClean="0">
              <a:solidFill>
                <a:schemeClr val="tx1"/>
              </a:solidFill>
            </a:endParaRPr>
          </a:p>
          <a:p>
            <a:endParaRPr lang="en-US" dirty="0">
              <a:solidFill>
                <a:schemeClr val="tx1"/>
              </a:solidFill>
            </a:endParaRPr>
          </a:p>
          <a:p>
            <a:endParaRPr lang="en-US" dirty="0" smtClean="0">
              <a:solidFill>
                <a:schemeClr val="tx1"/>
              </a:solidFill>
            </a:endParaRPr>
          </a:p>
          <a:p>
            <a:endParaRPr lang="en-US" dirty="0">
              <a:solidFill>
                <a:schemeClr val="tx1"/>
              </a:solidFill>
            </a:endParaRPr>
          </a:p>
          <a:p>
            <a:endParaRPr lang="en-US" dirty="0" smtClean="0">
              <a:solidFill>
                <a:schemeClr val="tx1"/>
              </a:solidFill>
            </a:endParaRPr>
          </a:p>
          <a:p>
            <a:endParaRPr lang="en-US" dirty="0">
              <a:solidFill>
                <a:schemeClr val="tx1"/>
              </a:solidFill>
            </a:endParaRPr>
          </a:p>
        </p:txBody>
      </p:sp>
      <p:graphicFrame>
        <p:nvGraphicFramePr>
          <p:cNvPr id="2" name="Table 1"/>
          <p:cNvGraphicFramePr>
            <a:graphicFrameLocks noGrp="1"/>
          </p:cNvGraphicFramePr>
          <p:nvPr>
            <p:extLst>
              <p:ext uri="{D42A27DB-BD31-4B8C-83A1-F6EECF244321}">
                <p14:modId xmlns="" xmlns:p14="http://schemas.microsoft.com/office/powerpoint/2010/main" val="652354898"/>
              </p:ext>
            </p:extLst>
          </p:nvPr>
        </p:nvGraphicFramePr>
        <p:xfrm>
          <a:off x="556078" y="2271486"/>
          <a:ext cx="7561944" cy="3789680"/>
        </p:xfrm>
        <a:graphic>
          <a:graphicData uri="http://schemas.openxmlformats.org/drawingml/2006/table">
            <a:tbl>
              <a:tblPr firstRow="1" bandRow="1">
                <a:tableStyleId>{5C22544A-7EE6-4342-B048-85BDC9FD1C3A}</a:tableStyleId>
              </a:tblPr>
              <a:tblGrid>
                <a:gridCol w="2496458"/>
                <a:gridCol w="2830285"/>
                <a:gridCol w="2235201"/>
              </a:tblGrid>
              <a:tr h="370840">
                <a:tc>
                  <a:txBody>
                    <a:bodyPr/>
                    <a:lstStyle/>
                    <a:p>
                      <a:r>
                        <a:rPr lang="en-US" sz="1600" dirty="0" smtClean="0">
                          <a:latin typeface="+mj-lt"/>
                        </a:rPr>
                        <a:t>Functional</a:t>
                      </a:r>
                      <a:r>
                        <a:rPr lang="en-US" sz="1600" baseline="0" dirty="0" smtClean="0">
                          <a:latin typeface="+mj-lt"/>
                        </a:rPr>
                        <a:t> Interface</a:t>
                      </a:r>
                      <a:endParaRPr lang="en-US" sz="1600" dirty="0">
                        <a:latin typeface="+mj-lt"/>
                      </a:endParaRPr>
                    </a:p>
                  </a:txBody>
                  <a:tcPr/>
                </a:tc>
                <a:tc>
                  <a:txBody>
                    <a:bodyPr/>
                    <a:lstStyle/>
                    <a:p>
                      <a:r>
                        <a:rPr lang="en-US" sz="1600" dirty="0" smtClean="0">
                          <a:latin typeface="+mj-lt"/>
                        </a:rPr>
                        <a:t>Functional</a:t>
                      </a:r>
                      <a:r>
                        <a:rPr lang="en-US" sz="1600" baseline="0" dirty="0" smtClean="0">
                          <a:latin typeface="+mj-lt"/>
                        </a:rPr>
                        <a:t> Method</a:t>
                      </a:r>
                      <a:endParaRPr lang="en-US" sz="1600" dirty="0">
                        <a:latin typeface="+mj-lt"/>
                      </a:endParaRPr>
                    </a:p>
                  </a:txBody>
                  <a:tcPr/>
                </a:tc>
                <a:tc>
                  <a:txBody>
                    <a:bodyPr/>
                    <a:lstStyle/>
                    <a:p>
                      <a:r>
                        <a:rPr lang="en-US" sz="1600" dirty="0" smtClean="0">
                          <a:latin typeface="+mj-lt"/>
                        </a:rPr>
                        <a:t>Lambda Expression</a:t>
                      </a:r>
                      <a:endParaRPr lang="en-US" sz="1600" dirty="0">
                        <a:latin typeface="+mj-lt"/>
                      </a:endParaRPr>
                    </a:p>
                  </a:txBody>
                  <a:tcPr/>
                </a:tc>
              </a:tr>
              <a:tr h="370840">
                <a:tc>
                  <a:txBody>
                    <a:bodyPr/>
                    <a:lstStyle/>
                    <a:p>
                      <a:r>
                        <a:rPr lang="en-US" sz="1600" dirty="0" smtClean="0">
                          <a:latin typeface="+mj-lt"/>
                        </a:rPr>
                        <a:t>Supplier&lt;String&gt;</a:t>
                      </a:r>
                      <a:endParaRPr lang="en-US" sz="1600" dirty="0">
                        <a:latin typeface="+mj-lt"/>
                      </a:endParaRPr>
                    </a:p>
                  </a:txBody>
                  <a:tcPr/>
                </a:tc>
                <a:tc>
                  <a:txBody>
                    <a:bodyPr/>
                    <a:lstStyle/>
                    <a:p>
                      <a:r>
                        <a:rPr lang="en-US" sz="1600" dirty="0" smtClean="0">
                          <a:latin typeface="+mj-lt"/>
                        </a:rPr>
                        <a:t>String get();</a:t>
                      </a:r>
                      <a:endParaRPr lang="en-US" sz="1600" dirty="0">
                        <a:latin typeface="+mj-lt"/>
                      </a:endParaRPr>
                    </a:p>
                  </a:txBody>
                  <a:tcPr/>
                </a:tc>
                <a:tc>
                  <a:txBody>
                    <a:bodyPr/>
                    <a:lstStyle/>
                    <a:p>
                      <a:r>
                        <a:rPr lang="en-US" sz="1600" dirty="0" smtClean="0">
                          <a:latin typeface="+mj-lt"/>
                        </a:rPr>
                        <a:t>() -&gt; “Hello</a:t>
                      </a:r>
                      <a:r>
                        <a:rPr lang="en-US" sz="1600" baseline="0" dirty="0" smtClean="0">
                          <a:latin typeface="+mj-lt"/>
                        </a:rPr>
                        <a:t> World”;</a:t>
                      </a:r>
                      <a:endParaRPr lang="en-US" sz="1600" dirty="0">
                        <a:latin typeface="+mj-lt"/>
                      </a:endParaRPr>
                    </a:p>
                  </a:txBody>
                  <a:tcPr/>
                </a:tc>
              </a:tr>
              <a:tr h="370840">
                <a:tc>
                  <a:txBody>
                    <a:bodyPr/>
                    <a:lstStyle/>
                    <a:p>
                      <a:r>
                        <a:rPr lang="en-US" sz="1600" dirty="0" smtClean="0">
                          <a:latin typeface="+mj-lt"/>
                        </a:rPr>
                        <a:t>BooleanSupplier</a:t>
                      </a:r>
                      <a:endParaRPr lang="en-US" sz="1600" dirty="0">
                        <a:latin typeface="+mj-lt"/>
                      </a:endParaRPr>
                    </a:p>
                  </a:txBody>
                  <a:tcPr/>
                </a:tc>
                <a:tc>
                  <a:txBody>
                    <a:bodyPr/>
                    <a:lstStyle/>
                    <a:p>
                      <a:r>
                        <a:rPr lang="en-US" sz="1600" dirty="0" smtClean="0">
                          <a:latin typeface="+mj-lt"/>
                        </a:rPr>
                        <a:t>Boolean</a:t>
                      </a:r>
                      <a:r>
                        <a:rPr lang="en-US" sz="1600" baseline="0" dirty="0" smtClean="0">
                          <a:latin typeface="+mj-lt"/>
                        </a:rPr>
                        <a:t> get();</a:t>
                      </a:r>
                      <a:endParaRPr lang="en-US" sz="1600" dirty="0">
                        <a:latin typeface="+mj-lt"/>
                      </a:endParaRPr>
                    </a:p>
                  </a:txBody>
                  <a:tcPr/>
                </a:tc>
                <a:tc>
                  <a:txBody>
                    <a:bodyPr/>
                    <a:lstStyle/>
                    <a:p>
                      <a:r>
                        <a:rPr lang="en-US" sz="1600" dirty="0" smtClean="0">
                          <a:latin typeface="+mj-lt"/>
                        </a:rPr>
                        <a:t>() -&gt;</a:t>
                      </a:r>
                      <a:r>
                        <a:rPr lang="en-US" sz="1600" baseline="0" dirty="0" smtClean="0">
                          <a:latin typeface="+mj-lt"/>
                        </a:rPr>
                        <a:t> { return true; }</a:t>
                      </a:r>
                      <a:endParaRPr lang="en-US" sz="1600" dirty="0">
                        <a:latin typeface="+mj-lt"/>
                      </a:endParaRPr>
                    </a:p>
                  </a:txBody>
                  <a:tcPr/>
                </a:tc>
              </a:tr>
              <a:tr h="370840">
                <a:tc>
                  <a:txBody>
                    <a:bodyPr/>
                    <a:lstStyle/>
                    <a:p>
                      <a:r>
                        <a:rPr lang="en-US" sz="1600" dirty="0" smtClean="0">
                          <a:latin typeface="+mj-lt"/>
                        </a:rPr>
                        <a:t>Consumer&lt;String&gt;</a:t>
                      </a:r>
                      <a:endParaRPr lang="en-US" sz="1600" dirty="0">
                        <a:latin typeface="+mj-lt"/>
                      </a:endParaRPr>
                    </a:p>
                  </a:txBody>
                  <a:tcPr/>
                </a:tc>
                <a:tc>
                  <a:txBody>
                    <a:bodyPr/>
                    <a:lstStyle/>
                    <a:p>
                      <a:r>
                        <a:rPr lang="en-US" sz="1600" dirty="0" smtClean="0">
                          <a:latin typeface="+mj-lt"/>
                        </a:rPr>
                        <a:t>void</a:t>
                      </a:r>
                      <a:r>
                        <a:rPr lang="en-US" sz="1600" baseline="0" dirty="0" smtClean="0">
                          <a:latin typeface="+mj-lt"/>
                        </a:rPr>
                        <a:t> accept(String </a:t>
                      </a:r>
                      <a:r>
                        <a:rPr lang="en-US" sz="1600" baseline="0" dirty="0" err="1" smtClean="0">
                          <a:latin typeface="+mj-lt"/>
                        </a:rPr>
                        <a:t>str</a:t>
                      </a:r>
                      <a:r>
                        <a:rPr lang="en-US" sz="1600" baseline="0" dirty="0" smtClean="0">
                          <a:latin typeface="+mj-lt"/>
                        </a:rPr>
                        <a:t>);</a:t>
                      </a:r>
                      <a:endParaRPr lang="en-US" sz="1600" dirty="0">
                        <a:latin typeface="+mj-lt"/>
                      </a:endParaRPr>
                    </a:p>
                  </a:txBody>
                  <a:tcPr/>
                </a:tc>
                <a:tc>
                  <a:txBody>
                    <a:bodyPr/>
                    <a:lstStyle/>
                    <a:p>
                      <a:r>
                        <a:rPr lang="en-US" sz="1600" dirty="0" smtClean="0">
                          <a:latin typeface="+mj-lt"/>
                        </a:rPr>
                        <a:t>(</a:t>
                      </a:r>
                      <a:r>
                        <a:rPr lang="en-US" sz="1600" baseline="0" dirty="0" err="1" smtClean="0">
                          <a:latin typeface="+mj-lt"/>
                        </a:rPr>
                        <a:t>msg</a:t>
                      </a:r>
                      <a:r>
                        <a:rPr lang="en-US" sz="1600" baseline="0" dirty="0" smtClean="0">
                          <a:latin typeface="+mj-lt"/>
                        </a:rPr>
                        <a:t>) -&gt; </a:t>
                      </a:r>
                      <a:r>
                        <a:rPr lang="en-US" sz="1600" baseline="0" dirty="0" err="1" smtClean="0">
                          <a:latin typeface="+mj-lt"/>
                        </a:rPr>
                        <a:t>syso</a:t>
                      </a:r>
                      <a:r>
                        <a:rPr lang="en-US" sz="1600" baseline="0" dirty="0" smtClean="0">
                          <a:latin typeface="+mj-lt"/>
                        </a:rPr>
                        <a:t>(</a:t>
                      </a:r>
                      <a:r>
                        <a:rPr lang="en-US" sz="1600" baseline="0" dirty="0" err="1" smtClean="0">
                          <a:latin typeface="+mj-lt"/>
                        </a:rPr>
                        <a:t>msg</a:t>
                      </a:r>
                      <a:r>
                        <a:rPr lang="en-US" sz="1600" baseline="0" dirty="0" smtClean="0">
                          <a:latin typeface="+mj-lt"/>
                        </a:rPr>
                        <a:t>);</a:t>
                      </a:r>
                      <a:endParaRPr lang="en-US" sz="1600" dirty="0">
                        <a:latin typeface="+mj-lt"/>
                      </a:endParaRPr>
                    </a:p>
                  </a:txBody>
                  <a:tcPr/>
                </a:tc>
              </a:tr>
              <a:tr h="370840">
                <a:tc>
                  <a:txBody>
                    <a:bodyPr/>
                    <a:lstStyle/>
                    <a:p>
                      <a:r>
                        <a:rPr lang="en-US" sz="1600" dirty="0" err="1" smtClean="0">
                          <a:latin typeface="+mj-lt"/>
                        </a:rPr>
                        <a:t>IntConsumer</a:t>
                      </a:r>
                      <a:endParaRPr lang="en-US" sz="1600" dirty="0">
                        <a:latin typeface="+mj-lt"/>
                      </a:endParaRPr>
                    </a:p>
                  </a:txBody>
                  <a:tcPr/>
                </a:tc>
                <a:tc>
                  <a:txBody>
                    <a:bodyPr/>
                    <a:lstStyle/>
                    <a:p>
                      <a:r>
                        <a:rPr lang="en-US" sz="1600" dirty="0" smtClean="0">
                          <a:latin typeface="+mj-lt"/>
                        </a:rPr>
                        <a:t>void accept(Integer</a:t>
                      </a:r>
                      <a:r>
                        <a:rPr lang="en-US" sz="1600" baseline="0" dirty="0" smtClean="0">
                          <a:latin typeface="+mj-lt"/>
                        </a:rPr>
                        <a:t> </a:t>
                      </a:r>
                      <a:r>
                        <a:rPr lang="en-US" sz="1600" baseline="0" dirty="0" err="1" smtClean="0">
                          <a:latin typeface="+mj-lt"/>
                        </a:rPr>
                        <a:t>num</a:t>
                      </a:r>
                      <a:r>
                        <a:rPr lang="en-US" sz="1600" baseline="0" dirty="0" smtClean="0">
                          <a:latin typeface="+mj-lt"/>
                        </a:rPr>
                        <a:t>);</a:t>
                      </a:r>
                      <a:endParaRPr lang="en-US" sz="1600" dirty="0">
                        <a:latin typeface="+mj-lt"/>
                      </a:endParaRPr>
                    </a:p>
                  </a:txBody>
                  <a:tcPr/>
                </a:tc>
                <a:tc>
                  <a:txBody>
                    <a:bodyPr/>
                    <a:lstStyle/>
                    <a:p>
                      <a:r>
                        <a:rPr lang="en-US" sz="1600" dirty="0" smtClean="0">
                          <a:latin typeface="+mj-lt"/>
                        </a:rPr>
                        <a:t>(</a:t>
                      </a:r>
                      <a:r>
                        <a:rPr lang="en-US" sz="1600" dirty="0" err="1" smtClean="0">
                          <a:latin typeface="+mj-lt"/>
                        </a:rPr>
                        <a:t>num</a:t>
                      </a:r>
                      <a:r>
                        <a:rPr lang="en-US" sz="1600" dirty="0" smtClean="0">
                          <a:latin typeface="+mj-lt"/>
                        </a:rPr>
                        <a:t>)</a:t>
                      </a:r>
                      <a:r>
                        <a:rPr lang="en-US" sz="1600" baseline="0" dirty="0" smtClean="0">
                          <a:latin typeface="+mj-lt"/>
                        </a:rPr>
                        <a:t> -&gt; </a:t>
                      </a:r>
                      <a:r>
                        <a:rPr lang="en-US" sz="1600" baseline="0" dirty="0" err="1" smtClean="0">
                          <a:latin typeface="+mj-lt"/>
                        </a:rPr>
                        <a:t>syso</a:t>
                      </a:r>
                      <a:r>
                        <a:rPr lang="en-US" sz="1600" baseline="0" dirty="0" smtClean="0">
                          <a:latin typeface="+mj-lt"/>
                        </a:rPr>
                        <a:t>(</a:t>
                      </a:r>
                      <a:r>
                        <a:rPr lang="en-US" sz="1600" baseline="0" dirty="0" err="1" smtClean="0">
                          <a:latin typeface="+mj-lt"/>
                        </a:rPr>
                        <a:t>num</a:t>
                      </a:r>
                      <a:r>
                        <a:rPr lang="en-US" sz="1600" baseline="0" dirty="0" smtClean="0">
                          <a:latin typeface="+mj-lt"/>
                        </a:rPr>
                        <a:t>);</a:t>
                      </a:r>
                      <a:endParaRPr lang="en-US" sz="1600" dirty="0">
                        <a:latin typeface="+mj-lt"/>
                      </a:endParaRPr>
                    </a:p>
                  </a:txBody>
                  <a:tcPr/>
                </a:tc>
              </a:tr>
              <a:tr h="370840">
                <a:tc>
                  <a:txBody>
                    <a:bodyPr/>
                    <a:lstStyle/>
                    <a:p>
                      <a:r>
                        <a:rPr lang="en-US" sz="1600" dirty="0" smtClean="0">
                          <a:latin typeface="+mj-lt"/>
                        </a:rPr>
                        <a:t>Predicate&lt;Integer&gt;</a:t>
                      </a:r>
                      <a:endParaRPr lang="en-US" sz="1600" dirty="0">
                        <a:latin typeface="+mj-lt"/>
                      </a:endParaRPr>
                    </a:p>
                  </a:txBody>
                  <a:tcPr/>
                </a:tc>
                <a:tc>
                  <a:txBody>
                    <a:bodyPr/>
                    <a:lstStyle/>
                    <a:p>
                      <a:r>
                        <a:rPr lang="en-US" sz="1600" dirty="0" err="1" smtClean="0">
                          <a:latin typeface="+mj-lt"/>
                        </a:rPr>
                        <a:t>boolean</a:t>
                      </a:r>
                      <a:r>
                        <a:rPr lang="en-US" sz="1600" baseline="0" dirty="0" smtClean="0">
                          <a:latin typeface="+mj-lt"/>
                        </a:rPr>
                        <a:t> test(Integer </a:t>
                      </a:r>
                      <a:r>
                        <a:rPr lang="en-US" sz="1600" baseline="0" dirty="0" err="1" smtClean="0">
                          <a:latin typeface="+mj-lt"/>
                        </a:rPr>
                        <a:t>num</a:t>
                      </a:r>
                      <a:r>
                        <a:rPr lang="en-US" sz="1600" baseline="0" dirty="0" smtClean="0">
                          <a:latin typeface="+mj-lt"/>
                        </a:rPr>
                        <a:t>);</a:t>
                      </a:r>
                      <a:endParaRPr lang="en-US" sz="1600" dirty="0">
                        <a:latin typeface="+mj-lt"/>
                      </a:endParaRPr>
                    </a:p>
                  </a:txBody>
                  <a:tcPr/>
                </a:tc>
                <a:tc>
                  <a:txBody>
                    <a:bodyPr/>
                    <a:lstStyle/>
                    <a:p>
                      <a:r>
                        <a:rPr lang="en-US" sz="1600" dirty="0" smtClean="0">
                          <a:latin typeface="+mj-lt"/>
                        </a:rPr>
                        <a:t>(</a:t>
                      </a:r>
                      <a:r>
                        <a:rPr lang="en-US" sz="1600" dirty="0" err="1" smtClean="0">
                          <a:latin typeface="+mj-lt"/>
                        </a:rPr>
                        <a:t>num</a:t>
                      </a:r>
                      <a:r>
                        <a:rPr lang="en-US" sz="1600" dirty="0" smtClean="0">
                          <a:latin typeface="+mj-lt"/>
                        </a:rPr>
                        <a:t>)</a:t>
                      </a:r>
                      <a:r>
                        <a:rPr lang="en-US" sz="1600" baseline="0" dirty="0" smtClean="0">
                          <a:latin typeface="+mj-lt"/>
                        </a:rPr>
                        <a:t> -&gt; </a:t>
                      </a:r>
                      <a:r>
                        <a:rPr lang="en-US" sz="1600" baseline="0" dirty="0" err="1" smtClean="0">
                          <a:latin typeface="+mj-lt"/>
                        </a:rPr>
                        <a:t>num</a:t>
                      </a:r>
                      <a:r>
                        <a:rPr lang="en-US" sz="1600" baseline="0" dirty="0" smtClean="0">
                          <a:latin typeface="+mj-lt"/>
                        </a:rPr>
                        <a:t>&gt;0;</a:t>
                      </a:r>
                      <a:endParaRPr lang="en-US" sz="1600" dirty="0">
                        <a:latin typeface="+mj-lt"/>
                      </a:endParaRPr>
                    </a:p>
                  </a:txBody>
                  <a:tcPr/>
                </a:tc>
              </a:tr>
              <a:tr h="370840">
                <a:tc>
                  <a:txBody>
                    <a:bodyPr/>
                    <a:lstStyle/>
                    <a:p>
                      <a:r>
                        <a:rPr lang="en-US" sz="1600" dirty="0" smtClean="0">
                          <a:latin typeface="+mj-lt"/>
                        </a:rPr>
                        <a:t>Function&lt;</a:t>
                      </a:r>
                      <a:r>
                        <a:rPr lang="en-US" sz="1600" dirty="0" err="1" smtClean="0">
                          <a:latin typeface="+mj-lt"/>
                        </a:rPr>
                        <a:t>String,Integer</a:t>
                      </a:r>
                      <a:r>
                        <a:rPr lang="en-US" sz="1600" dirty="0" smtClean="0">
                          <a:latin typeface="+mj-lt"/>
                        </a:rPr>
                        <a:t>&gt;</a:t>
                      </a:r>
                      <a:endParaRPr lang="en-US" sz="1600" dirty="0">
                        <a:latin typeface="+mj-lt"/>
                      </a:endParaRPr>
                    </a:p>
                  </a:txBody>
                  <a:tcPr/>
                </a:tc>
                <a:tc>
                  <a:txBody>
                    <a:bodyPr/>
                    <a:lstStyle/>
                    <a:p>
                      <a:r>
                        <a:rPr lang="en-US" sz="1600" dirty="0" smtClean="0">
                          <a:latin typeface="+mj-lt"/>
                        </a:rPr>
                        <a:t>Integer apply(String </a:t>
                      </a:r>
                      <a:r>
                        <a:rPr lang="en-US" sz="1600" dirty="0" err="1" smtClean="0">
                          <a:latin typeface="+mj-lt"/>
                        </a:rPr>
                        <a:t>str</a:t>
                      </a:r>
                      <a:r>
                        <a:rPr lang="en-US" sz="1600" dirty="0" smtClean="0">
                          <a:latin typeface="+mj-lt"/>
                        </a:rPr>
                        <a:t>);</a:t>
                      </a:r>
                      <a:endParaRPr lang="en-US" sz="1600" dirty="0">
                        <a:latin typeface="+mj-lt"/>
                      </a:endParaRPr>
                    </a:p>
                  </a:txBody>
                  <a:tcPr/>
                </a:tc>
                <a:tc>
                  <a:txBody>
                    <a:bodyPr/>
                    <a:lstStyle/>
                    <a:p>
                      <a:r>
                        <a:rPr lang="en-US" sz="1600" dirty="0" smtClean="0">
                          <a:latin typeface="+mj-lt"/>
                        </a:rPr>
                        <a:t>(</a:t>
                      </a:r>
                      <a:r>
                        <a:rPr lang="en-US" sz="1600" dirty="0" err="1" smtClean="0">
                          <a:latin typeface="+mj-lt"/>
                        </a:rPr>
                        <a:t>str</a:t>
                      </a:r>
                      <a:r>
                        <a:rPr lang="en-US" sz="1600" dirty="0" smtClean="0">
                          <a:latin typeface="+mj-lt"/>
                        </a:rPr>
                        <a:t>)</a:t>
                      </a:r>
                      <a:r>
                        <a:rPr lang="en-US" sz="1600" baseline="0" dirty="0" smtClean="0">
                          <a:latin typeface="+mj-lt"/>
                        </a:rPr>
                        <a:t> -&gt; </a:t>
                      </a:r>
                      <a:r>
                        <a:rPr lang="en-US" sz="1600" baseline="0" dirty="0" err="1" smtClean="0">
                          <a:latin typeface="+mj-lt"/>
                        </a:rPr>
                        <a:t>str.length</a:t>
                      </a:r>
                      <a:r>
                        <a:rPr lang="en-US" sz="1600" baseline="0" dirty="0" smtClean="0">
                          <a:latin typeface="+mj-lt"/>
                        </a:rPr>
                        <a:t>;</a:t>
                      </a:r>
                      <a:endParaRPr lang="en-US" sz="1600" dirty="0">
                        <a:latin typeface="+mj-lt"/>
                      </a:endParaRPr>
                    </a:p>
                  </a:txBody>
                  <a:tcPr/>
                </a:tc>
              </a:tr>
              <a:tr h="370840">
                <a:tc>
                  <a:txBody>
                    <a:bodyPr/>
                    <a:lstStyle/>
                    <a:p>
                      <a:r>
                        <a:rPr lang="en-US" sz="1600" dirty="0" err="1" smtClean="0">
                          <a:latin typeface="+mj-lt"/>
                        </a:rPr>
                        <a:t>UnaryOperator</a:t>
                      </a:r>
                      <a:r>
                        <a:rPr lang="en-US" sz="1600" dirty="0" smtClean="0">
                          <a:latin typeface="+mj-lt"/>
                        </a:rPr>
                        <a:t>&lt;Integer&gt;</a:t>
                      </a:r>
                      <a:endParaRPr lang="en-US" sz="1600" dirty="0">
                        <a:latin typeface="+mj-lt"/>
                      </a:endParaRPr>
                    </a:p>
                  </a:txBody>
                  <a:tcPr/>
                </a:tc>
                <a:tc>
                  <a:txBody>
                    <a:bodyPr/>
                    <a:lstStyle/>
                    <a:p>
                      <a:r>
                        <a:rPr lang="en-US" sz="1600" dirty="0" smtClean="0">
                          <a:latin typeface="+mj-lt"/>
                        </a:rPr>
                        <a:t>Integer</a:t>
                      </a:r>
                      <a:r>
                        <a:rPr lang="en-US" sz="1600" baseline="0" dirty="0" smtClean="0">
                          <a:latin typeface="+mj-lt"/>
                        </a:rPr>
                        <a:t> apply(Integer </a:t>
                      </a:r>
                      <a:r>
                        <a:rPr lang="en-US" sz="1600" baseline="0" dirty="0" err="1" smtClean="0">
                          <a:latin typeface="+mj-lt"/>
                        </a:rPr>
                        <a:t>num</a:t>
                      </a:r>
                      <a:r>
                        <a:rPr lang="en-US" sz="1600" baseline="0" dirty="0" smtClean="0">
                          <a:latin typeface="+mj-lt"/>
                        </a:rPr>
                        <a:t>);</a:t>
                      </a:r>
                      <a:endParaRPr lang="en-US" sz="1600" dirty="0">
                        <a:latin typeface="+mj-lt"/>
                      </a:endParaRPr>
                    </a:p>
                  </a:txBody>
                  <a:tcPr/>
                </a:tc>
                <a:tc>
                  <a:txBody>
                    <a:bodyPr/>
                    <a:lstStyle/>
                    <a:p>
                      <a:r>
                        <a:rPr lang="en-US" sz="1600" dirty="0" smtClean="0">
                          <a:latin typeface="+mj-lt"/>
                        </a:rPr>
                        <a:t>(</a:t>
                      </a:r>
                      <a:r>
                        <a:rPr lang="en-US" sz="1600" dirty="0" err="1" smtClean="0">
                          <a:latin typeface="+mj-lt"/>
                        </a:rPr>
                        <a:t>num</a:t>
                      </a:r>
                      <a:r>
                        <a:rPr lang="en-US" sz="1600" dirty="0" smtClean="0">
                          <a:latin typeface="+mj-lt"/>
                        </a:rPr>
                        <a:t>) -&gt; </a:t>
                      </a:r>
                      <a:r>
                        <a:rPr lang="en-US" sz="1600" dirty="0" err="1" smtClean="0">
                          <a:latin typeface="+mj-lt"/>
                        </a:rPr>
                        <a:t>num</a:t>
                      </a:r>
                      <a:r>
                        <a:rPr lang="en-US" sz="1600" dirty="0" smtClean="0">
                          <a:latin typeface="+mj-lt"/>
                        </a:rPr>
                        <a:t> +10;</a:t>
                      </a:r>
                      <a:endParaRPr lang="en-US" sz="1600" dirty="0">
                        <a:latin typeface="+mj-lt"/>
                      </a:endParaRPr>
                    </a:p>
                  </a:txBody>
                  <a:tcPr/>
                </a:tc>
              </a:tr>
              <a:tr h="370840">
                <a:tc>
                  <a:txBody>
                    <a:bodyPr/>
                    <a:lstStyle/>
                    <a:p>
                      <a:r>
                        <a:rPr lang="en-US" sz="1600" dirty="0" err="1" smtClean="0">
                          <a:latin typeface="+mj-lt"/>
                        </a:rPr>
                        <a:t>BiFunction</a:t>
                      </a:r>
                      <a:r>
                        <a:rPr lang="en-US" sz="1600" dirty="0" smtClean="0">
                          <a:latin typeface="+mj-lt"/>
                        </a:rPr>
                        <a:t>&lt;</a:t>
                      </a:r>
                      <a:r>
                        <a:rPr lang="en-US" sz="1600" dirty="0" err="1" smtClean="0">
                          <a:latin typeface="+mj-lt"/>
                        </a:rPr>
                        <a:t>String,String,Boolean</a:t>
                      </a:r>
                      <a:r>
                        <a:rPr lang="en-US" sz="1600" dirty="0" smtClean="0">
                          <a:latin typeface="+mj-lt"/>
                        </a:rPr>
                        <a:t>&gt;</a:t>
                      </a:r>
                      <a:endParaRPr lang="en-US" sz="1600" dirty="0">
                        <a:latin typeface="+mj-lt"/>
                      </a:endParaRPr>
                    </a:p>
                  </a:txBody>
                  <a:tcPr/>
                </a:tc>
                <a:tc>
                  <a:txBody>
                    <a:bodyPr/>
                    <a:lstStyle/>
                    <a:p>
                      <a:r>
                        <a:rPr lang="en-US" sz="1600" dirty="0" smtClean="0">
                          <a:latin typeface="+mj-lt"/>
                        </a:rPr>
                        <a:t>Boolean apply(String </a:t>
                      </a:r>
                      <a:r>
                        <a:rPr lang="en-US" sz="1600" dirty="0" err="1" smtClean="0">
                          <a:latin typeface="+mj-lt"/>
                        </a:rPr>
                        <a:t>user,String</a:t>
                      </a:r>
                      <a:r>
                        <a:rPr lang="en-US" sz="1600" baseline="0" dirty="0" smtClean="0">
                          <a:latin typeface="+mj-lt"/>
                        </a:rPr>
                        <a:t> pass);</a:t>
                      </a:r>
                      <a:endParaRPr lang="en-US" sz="1600" dirty="0">
                        <a:latin typeface="+mj-lt"/>
                      </a:endParaRPr>
                    </a:p>
                  </a:txBody>
                  <a:tcPr/>
                </a:tc>
                <a:tc>
                  <a:txBody>
                    <a:bodyPr/>
                    <a:lstStyle/>
                    <a:p>
                      <a:r>
                        <a:rPr lang="en-US" sz="1600" dirty="0" smtClean="0">
                          <a:latin typeface="+mj-lt"/>
                        </a:rPr>
                        <a:t>(</a:t>
                      </a:r>
                      <a:r>
                        <a:rPr lang="en-US" sz="1600" dirty="0" err="1" smtClean="0">
                          <a:latin typeface="+mj-lt"/>
                        </a:rPr>
                        <a:t>user,pass</a:t>
                      </a:r>
                      <a:r>
                        <a:rPr lang="en-US" sz="1600" dirty="0" smtClean="0">
                          <a:latin typeface="+mj-lt"/>
                        </a:rPr>
                        <a:t>)</a:t>
                      </a:r>
                      <a:r>
                        <a:rPr lang="en-US" sz="1600" baseline="0" dirty="0" smtClean="0">
                          <a:latin typeface="+mj-lt"/>
                        </a:rPr>
                        <a:t> -&gt; { //functionality to validate user }</a:t>
                      </a:r>
                      <a:endParaRPr lang="en-US" sz="1600" dirty="0">
                        <a:latin typeface="+mj-lt"/>
                      </a:endParaRPr>
                    </a:p>
                  </a:txBody>
                  <a:tcPr/>
                </a:tc>
              </a:tr>
            </a:tbl>
          </a:graphicData>
        </a:graphic>
      </p:graphicFrame>
    </p:spTree>
    <p:extLst>
      <p:ext uri="{BB962C8B-B14F-4D97-AF65-F5344CB8AC3E}">
        <p14:creationId xmlns="" xmlns:p14="http://schemas.microsoft.com/office/powerpoint/2010/main" val="192466959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sz="1200" dirty="0"/>
              <a:t>21.4 : </a:t>
            </a:r>
            <a:r>
              <a:rPr lang="en-US" sz="1200" dirty="0" err="1"/>
              <a:t>Builtin</a:t>
            </a:r>
            <a:r>
              <a:rPr lang="en-US" sz="1200" dirty="0"/>
              <a:t> Functional Interfaces and Lambda Expressions</a:t>
            </a:r>
            <a:r>
              <a:rPr lang="en-US" dirty="0" smtClean="0"/>
              <a:t/>
            </a:r>
            <a:br>
              <a:rPr lang="en-US" dirty="0" smtClean="0"/>
            </a:br>
            <a:r>
              <a:rPr lang="en-US" dirty="0" smtClean="0"/>
              <a:t>Using Built-in Functional Interfaces</a:t>
            </a:r>
            <a:endParaRPr lang="en-US" sz="2400" dirty="0"/>
          </a:p>
        </p:txBody>
      </p:sp>
      <p:sp>
        <p:nvSpPr>
          <p:cNvPr id="6" name="Content Placeholder 5"/>
          <p:cNvSpPr>
            <a:spLocks noGrp="1"/>
          </p:cNvSpPr>
          <p:nvPr>
            <p:ph idx="1"/>
          </p:nvPr>
        </p:nvSpPr>
        <p:spPr/>
        <p:txBody>
          <a:bodyPr/>
          <a:lstStyle/>
          <a:p>
            <a:endParaRPr lang="en-US" dirty="0">
              <a:solidFill>
                <a:schemeClr val="tx1"/>
              </a:solidFill>
            </a:endParaRPr>
          </a:p>
          <a:p>
            <a:endParaRPr lang="en-US" dirty="0" smtClean="0">
              <a:solidFill>
                <a:schemeClr val="tx1"/>
              </a:solidFill>
            </a:endParaRPr>
          </a:p>
          <a:p>
            <a:endParaRPr lang="en-US" dirty="0">
              <a:solidFill>
                <a:schemeClr val="tx1"/>
              </a:solidFill>
            </a:endParaRPr>
          </a:p>
          <a:p>
            <a:endParaRPr lang="en-US" dirty="0" smtClean="0">
              <a:solidFill>
                <a:schemeClr val="tx1"/>
              </a:solidFill>
            </a:endParaRPr>
          </a:p>
          <a:p>
            <a:endParaRPr lang="en-US" dirty="0">
              <a:solidFill>
                <a:schemeClr val="tx1"/>
              </a:solidFill>
            </a:endParaRPr>
          </a:p>
          <a:p>
            <a:endParaRPr lang="en-US" dirty="0" smtClean="0">
              <a:solidFill>
                <a:schemeClr val="tx1"/>
              </a:solidFill>
            </a:endParaRPr>
          </a:p>
        </p:txBody>
      </p:sp>
      <p:sp>
        <p:nvSpPr>
          <p:cNvPr id="4" name="AutoShape 4"/>
          <p:cNvSpPr>
            <a:spLocks noChangeArrowheads="1"/>
          </p:cNvSpPr>
          <p:nvPr/>
        </p:nvSpPr>
        <p:spPr bwMode="auto">
          <a:xfrm>
            <a:off x="569906" y="1651379"/>
            <a:ext cx="7891923" cy="4328506"/>
          </a:xfrm>
          <a:prstGeom prst="roundRect">
            <a:avLst>
              <a:gd name="adj" fmla="val 10129"/>
            </a:avLst>
          </a:prstGeom>
          <a:ln>
            <a:headEnd/>
            <a:tailEnd/>
          </a:ln>
        </p:spPr>
        <p:style>
          <a:lnRef idx="2">
            <a:schemeClr val="dk1"/>
          </a:lnRef>
          <a:fillRef idx="1">
            <a:schemeClr val="lt1"/>
          </a:fillRef>
          <a:effectRef idx="0">
            <a:schemeClr val="dk1"/>
          </a:effectRef>
          <a:fontRef idx="minor">
            <a:schemeClr val="dk1"/>
          </a:fontRef>
        </p:style>
        <p:txBody>
          <a:bodyPr anchor="ctr"/>
          <a:lstStyle/>
          <a:p>
            <a:pPr>
              <a:lnSpc>
                <a:spcPct val="135000"/>
              </a:lnSpc>
            </a:pPr>
            <a:r>
              <a:rPr lang="en-US" sz="1600" dirty="0">
                <a:solidFill>
                  <a:schemeClr val="tx1"/>
                </a:solidFill>
                <a:latin typeface="+mj-lt"/>
                <a:cs typeface="Arial" pitchFamily="34" charset="0"/>
              </a:rPr>
              <a:t>Consumer&lt;String&gt; consumer = (String </a:t>
            </a:r>
            <a:r>
              <a:rPr lang="en-US" sz="1600" dirty="0" err="1">
                <a:solidFill>
                  <a:schemeClr val="tx1"/>
                </a:solidFill>
                <a:latin typeface="+mj-lt"/>
                <a:cs typeface="Arial" pitchFamily="34" charset="0"/>
              </a:rPr>
              <a:t>str</a:t>
            </a:r>
            <a:r>
              <a:rPr lang="en-US" sz="1600" dirty="0">
                <a:solidFill>
                  <a:schemeClr val="tx1"/>
                </a:solidFill>
                <a:latin typeface="+mj-lt"/>
                <a:cs typeface="Arial" pitchFamily="34" charset="0"/>
              </a:rPr>
              <a:t>)-&gt; </a:t>
            </a:r>
            <a:r>
              <a:rPr lang="en-US" sz="1600" dirty="0" err="1">
                <a:solidFill>
                  <a:schemeClr val="tx1"/>
                </a:solidFill>
                <a:latin typeface="+mj-lt"/>
                <a:cs typeface="Arial" pitchFamily="34" charset="0"/>
              </a:rPr>
              <a:t>System.out.println</a:t>
            </a:r>
            <a:r>
              <a:rPr lang="en-US" sz="1600" dirty="0">
                <a:solidFill>
                  <a:schemeClr val="tx1"/>
                </a:solidFill>
                <a:latin typeface="+mj-lt"/>
                <a:cs typeface="Arial" pitchFamily="34" charset="0"/>
              </a:rPr>
              <a:t>(</a:t>
            </a:r>
            <a:r>
              <a:rPr lang="en-US" sz="1600" dirty="0" err="1">
                <a:solidFill>
                  <a:schemeClr val="tx1"/>
                </a:solidFill>
                <a:latin typeface="+mj-lt"/>
                <a:cs typeface="Arial" pitchFamily="34" charset="0"/>
              </a:rPr>
              <a:t>str</a:t>
            </a:r>
            <a:r>
              <a:rPr lang="en-US" sz="1600" dirty="0">
                <a:solidFill>
                  <a:schemeClr val="tx1"/>
                </a:solidFill>
                <a:latin typeface="+mj-lt"/>
                <a:cs typeface="Arial" pitchFamily="34" charset="0"/>
              </a:rPr>
              <a:t>);</a:t>
            </a:r>
          </a:p>
          <a:p>
            <a:pPr>
              <a:lnSpc>
                <a:spcPct val="135000"/>
              </a:lnSpc>
            </a:pPr>
            <a:r>
              <a:rPr lang="en-US" sz="1600" dirty="0" err="1" smtClean="0">
                <a:solidFill>
                  <a:schemeClr val="tx1"/>
                </a:solidFill>
                <a:latin typeface="+mj-lt"/>
                <a:cs typeface="Arial" pitchFamily="34" charset="0"/>
              </a:rPr>
              <a:t>consumer.accept</a:t>
            </a:r>
            <a:r>
              <a:rPr lang="en-US" sz="1600" dirty="0">
                <a:solidFill>
                  <a:schemeClr val="tx1"/>
                </a:solidFill>
                <a:latin typeface="+mj-lt"/>
                <a:cs typeface="Arial" pitchFamily="34" charset="0"/>
              </a:rPr>
              <a:t>("Hello LE!");</a:t>
            </a:r>
          </a:p>
          <a:p>
            <a:pPr>
              <a:lnSpc>
                <a:spcPct val="135000"/>
              </a:lnSpc>
            </a:pPr>
            <a:r>
              <a:rPr lang="en-US" sz="1600" dirty="0" smtClean="0">
                <a:solidFill>
                  <a:schemeClr val="tx1"/>
                </a:solidFill>
                <a:latin typeface="+mj-lt"/>
                <a:cs typeface="Arial" pitchFamily="34" charset="0"/>
              </a:rPr>
              <a:t>Supplier&lt;String</a:t>
            </a:r>
            <a:r>
              <a:rPr lang="en-US" sz="1600" dirty="0">
                <a:solidFill>
                  <a:schemeClr val="tx1"/>
                </a:solidFill>
                <a:latin typeface="+mj-lt"/>
                <a:cs typeface="Arial" pitchFamily="34" charset="0"/>
              </a:rPr>
              <a:t>&gt; supplier = () -&gt; "Hello from Supplier!";</a:t>
            </a:r>
          </a:p>
          <a:p>
            <a:pPr>
              <a:lnSpc>
                <a:spcPct val="135000"/>
              </a:lnSpc>
            </a:pPr>
            <a:r>
              <a:rPr lang="en-US" sz="1600" dirty="0" err="1" smtClean="0">
                <a:solidFill>
                  <a:schemeClr val="tx1"/>
                </a:solidFill>
                <a:latin typeface="+mj-lt"/>
                <a:cs typeface="Arial" pitchFamily="34" charset="0"/>
              </a:rPr>
              <a:t>consumer.accept</a:t>
            </a:r>
            <a:r>
              <a:rPr lang="en-US" sz="1600" dirty="0" smtClean="0">
                <a:solidFill>
                  <a:schemeClr val="tx1"/>
                </a:solidFill>
                <a:latin typeface="+mj-lt"/>
                <a:cs typeface="Arial" pitchFamily="34" charset="0"/>
              </a:rPr>
              <a:t>(</a:t>
            </a:r>
            <a:r>
              <a:rPr lang="en-US" sz="1600" dirty="0" err="1" smtClean="0">
                <a:solidFill>
                  <a:schemeClr val="tx1"/>
                </a:solidFill>
                <a:latin typeface="+mj-lt"/>
                <a:cs typeface="Arial" pitchFamily="34" charset="0"/>
              </a:rPr>
              <a:t>supplier.get</a:t>
            </a:r>
            <a:r>
              <a:rPr lang="en-US" sz="1600" dirty="0">
                <a:solidFill>
                  <a:schemeClr val="tx1"/>
                </a:solidFill>
                <a:latin typeface="+mj-lt"/>
                <a:cs typeface="Arial" pitchFamily="34" charset="0"/>
              </a:rPr>
              <a:t>());</a:t>
            </a:r>
          </a:p>
          <a:p>
            <a:pPr>
              <a:lnSpc>
                <a:spcPct val="135000"/>
              </a:lnSpc>
            </a:pPr>
            <a:r>
              <a:rPr lang="en-US" sz="1600" dirty="0" smtClean="0">
                <a:solidFill>
                  <a:schemeClr val="tx1"/>
                </a:solidFill>
                <a:latin typeface="+mj-lt"/>
                <a:cs typeface="Arial" pitchFamily="34" charset="0"/>
              </a:rPr>
              <a:t>//</a:t>
            </a:r>
            <a:r>
              <a:rPr lang="en-US" sz="1600" dirty="0">
                <a:solidFill>
                  <a:schemeClr val="tx1"/>
                </a:solidFill>
                <a:latin typeface="+mj-lt"/>
                <a:cs typeface="Arial" pitchFamily="34" charset="0"/>
              </a:rPr>
              <a:t>even number test</a:t>
            </a:r>
          </a:p>
          <a:p>
            <a:pPr>
              <a:lnSpc>
                <a:spcPct val="135000"/>
              </a:lnSpc>
            </a:pPr>
            <a:r>
              <a:rPr lang="en-US" sz="1600" dirty="0" smtClean="0">
                <a:solidFill>
                  <a:schemeClr val="tx1"/>
                </a:solidFill>
                <a:latin typeface="+mj-lt"/>
                <a:cs typeface="Arial" pitchFamily="34" charset="0"/>
              </a:rPr>
              <a:t>Predicate&lt;Integer</a:t>
            </a:r>
            <a:r>
              <a:rPr lang="en-US" sz="1600" dirty="0">
                <a:solidFill>
                  <a:schemeClr val="tx1"/>
                </a:solidFill>
                <a:latin typeface="+mj-lt"/>
                <a:cs typeface="Arial" pitchFamily="34" charset="0"/>
              </a:rPr>
              <a:t>&gt; predicate = </a:t>
            </a:r>
            <a:r>
              <a:rPr lang="en-US" sz="1600" dirty="0" err="1">
                <a:solidFill>
                  <a:schemeClr val="tx1"/>
                </a:solidFill>
                <a:latin typeface="+mj-lt"/>
                <a:cs typeface="Arial" pitchFamily="34" charset="0"/>
              </a:rPr>
              <a:t>num</a:t>
            </a:r>
            <a:r>
              <a:rPr lang="en-US" sz="1600" dirty="0">
                <a:solidFill>
                  <a:schemeClr val="tx1"/>
                </a:solidFill>
                <a:latin typeface="+mj-lt"/>
                <a:cs typeface="Arial" pitchFamily="34" charset="0"/>
              </a:rPr>
              <a:t> -&gt; num%2==0;</a:t>
            </a:r>
          </a:p>
          <a:p>
            <a:pPr>
              <a:lnSpc>
                <a:spcPct val="135000"/>
              </a:lnSpc>
            </a:pPr>
            <a:r>
              <a:rPr lang="en-US" sz="1600" dirty="0" err="1" smtClean="0">
                <a:solidFill>
                  <a:schemeClr val="tx1"/>
                </a:solidFill>
                <a:latin typeface="+mj-lt"/>
                <a:cs typeface="Arial" pitchFamily="34" charset="0"/>
              </a:rPr>
              <a:t>System.out.println</a:t>
            </a:r>
            <a:r>
              <a:rPr lang="en-US" sz="1600" dirty="0" smtClean="0">
                <a:solidFill>
                  <a:schemeClr val="tx1"/>
                </a:solidFill>
                <a:latin typeface="+mj-lt"/>
                <a:cs typeface="Arial" pitchFamily="34" charset="0"/>
              </a:rPr>
              <a:t>(</a:t>
            </a:r>
            <a:r>
              <a:rPr lang="en-US" sz="1600" dirty="0" err="1" smtClean="0">
                <a:solidFill>
                  <a:schemeClr val="tx1"/>
                </a:solidFill>
                <a:latin typeface="+mj-lt"/>
                <a:cs typeface="Arial" pitchFamily="34" charset="0"/>
              </a:rPr>
              <a:t>predicate.test</a:t>
            </a:r>
            <a:r>
              <a:rPr lang="en-US" sz="1600" dirty="0" smtClean="0">
                <a:solidFill>
                  <a:schemeClr val="tx1"/>
                </a:solidFill>
                <a:latin typeface="+mj-lt"/>
                <a:cs typeface="Arial" pitchFamily="34" charset="0"/>
              </a:rPr>
              <a:t>(24</a:t>
            </a:r>
            <a:r>
              <a:rPr lang="en-US" sz="1600" dirty="0">
                <a:solidFill>
                  <a:schemeClr val="tx1"/>
                </a:solidFill>
                <a:latin typeface="+mj-lt"/>
                <a:cs typeface="Arial" pitchFamily="34" charset="0"/>
              </a:rPr>
              <a:t>));</a:t>
            </a:r>
          </a:p>
          <a:p>
            <a:pPr>
              <a:lnSpc>
                <a:spcPct val="135000"/>
              </a:lnSpc>
            </a:pPr>
            <a:r>
              <a:rPr lang="en-US" sz="1600" dirty="0" err="1" smtClean="0">
                <a:solidFill>
                  <a:schemeClr val="tx1"/>
                </a:solidFill>
                <a:latin typeface="+mj-lt"/>
                <a:cs typeface="Arial" pitchFamily="34" charset="0"/>
              </a:rPr>
              <a:t>System.out.println</a:t>
            </a:r>
            <a:r>
              <a:rPr lang="en-US" sz="1600" dirty="0" smtClean="0">
                <a:solidFill>
                  <a:schemeClr val="tx1"/>
                </a:solidFill>
                <a:latin typeface="+mj-lt"/>
                <a:cs typeface="Arial" pitchFamily="34" charset="0"/>
              </a:rPr>
              <a:t>(</a:t>
            </a:r>
            <a:r>
              <a:rPr lang="en-US" sz="1600" dirty="0" err="1" smtClean="0">
                <a:solidFill>
                  <a:schemeClr val="tx1"/>
                </a:solidFill>
                <a:latin typeface="+mj-lt"/>
                <a:cs typeface="Arial" pitchFamily="34" charset="0"/>
              </a:rPr>
              <a:t>predicate.test</a:t>
            </a:r>
            <a:r>
              <a:rPr lang="en-US" sz="1600" dirty="0" smtClean="0">
                <a:solidFill>
                  <a:schemeClr val="tx1"/>
                </a:solidFill>
                <a:latin typeface="+mj-lt"/>
                <a:cs typeface="Arial" pitchFamily="34" charset="0"/>
              </a:rPr>
              <a:t>(21));</a:t>
            </a:r>
            <a:endParaRPr lang="en-US" sz="1600" dirty="0">
              <a:solidFill>
                <a:schemeClr val="tx1"/>
              </a:solidFill>
              <a:latin typeface="+mj-lt"/>
              <a:cs typeface="Arial" pitchFamily="34" charset="0"/>
            </a:endParaRPr>
          </a:p>
          <a:p>
            <a:pPr>
              <a:lnSpc>
                <a:spcPct val="135000"/>
              </a:lnSpc>
            </a:pPr>
            <a:r>
              <a:rPr lang="en-US" sz="1600" dirty="0" smtClean="0">
                <a:solidFill>
                  <a:schemeClr val="tx1"/>
                </a:solidFill>
                <a:latin typeface="+mj-lt"/>
                <a:cs typeface="Arial" pitchFamily="34" charset="0"/>
              </a:rPr>
              <a:t>//max test</a:t>
            </a:r>
            <a:endParaRPr lang="en-US" sz="1600" dirty="0">
              <a:solidFill>
                <a:schemeClr val="tx1"/>
              </a:solidFill>
              <a:latin typeface="+mj-lt"/>
              <a:cs typeface="Arial" pitchFamily="34" charset="0"/>
            </a:endParaRPr>
          </a:p>
          <a:p>
            <a:pPr>
              <a:lnSpc>
                <a:spcPct val="135000"/>
              </a:lnSpc>
            </a:pPr>
            <a:r>
              <a:rPr lang="en-US" sz="1600" dirty="0" err="1" smtClean="0">
                <a:solidFill>
                  <a:schemeClr val="tx1"/>
                </a:solidFill>
                <a:latin typeface="+mj-lt"/>
                <a:cs typeface="Arial" pitchFamily="34" charset="0"/>
              </a:rPr>
              <a:t>BiFunction</a:t>
            </a:r>
            <a:r>
              <a:rPr lang="en-US" sz="1600" dirty="0" smtClean="0">
                <a:solidFill>
                  <a:schemeClr val="tx1"/>
                </a:solidFill>
                <a:latin typeface="+mj-lt"/>
                <a:cs typeface="Arial" pitchFamily="34" charset="0"/>
              </a:rPr>
              <a:t>&lt;Integer</a:t>
            </a:r>
            <a:r>
              <a:rPr lang="en-US" sz="1600" dirty="0">
                <a:solidFill>
                  <a:schemeClr val="tx1"/>
                </a:solidFill>
                <a:latin typeface="+mj-lt"/>
                <a:cs typeface="Arial" pitchFamily="34" charset="0"/>
              </a:rPr>
              <a:t>, Integer, Integer&gt; </a:t>
            </a:r>
            <a:r>
              <a:rPr lang="en-US" sz="1600" dirty="0" err="1" smtClean="0">
                <a:solidFill>
                  <a:schemeClr val="tx1"/>
                </a:solidFill>
                <a:latin typeface="+mj-lt"/>
                <a:cs typeface="Arial" pitchFamily="34" charset="0"/>
              </a:rPr>
              <a:t>maxFunction</a:t>
            </a:r>
            <a:r>
              <a:rPr lang="en-US" sz="1600" dirty="0" smtClean="0">
                <a:solidFill>
                  <a:schemeClr val="tx1"/>
                </a:solidFill>
                <a:latin typeface="+mj-lt"/>
                <a:cs typeface="Arial" pitchFamily="34" charset="0"/>
              </a:rPr>
              <a:t> </a:t>
            </a:r>
            <a:r>
              <a:rPr lang="en-US" sz="1600" dirty="0">
                <a:solidFill>
                  <a:schemeClr val="tx1"/>
                </a:solidFill>
                <a:latin typeface="+mj-lt"/>
                <a:cs typeface="Arial" pitchFamily="34" charset="0"/>
              </a:rPr>
              <a:t>= (</a:t>
            </a:r>
            <a:r>
              <a:rPr lang="en-US" sz="1600" dirty="0" err="1">
                <a:solidFill>
                  <a:schemeClr val="tx1"/>
                </a:solidFill>
                <a:latin typeface="+mj-lt"/>
                <a:cs typeface="Arial" pitchFamily="34" charset="0"/>
              </a:rPr>
              <a:t>x,y</a:t>
            </a:r>
            <a:r>
              <a:rPr lang="en-US" sz="1600" dirty="0">
                <a:solidFill>
                  <a:schemeClr val="tx1"/>
                </a:solidFill>
                <a:latin typeface="+mj-lt"/>
                <a:cs typeface="Arial" pitchFamily="34" charset="0"/>
              </a:rPr>
              <a:t>)-&gt;x&gt;</a:t>
            </a:r>
            <a:r>
              <a:rPr lang="en-US" sz="1600" dirty="0" err="1">
                <a:solidFill>
                  <a:schemeClr val="tx1"/>
                </a:solidFill>
                <a:latin typeface="+mj-lt"/>
                <a:cs typeface="Arial" pitchFamily="34" charset="0"/>
              </a:rPr>
              <a:t>y?x:y</a:t>
            </a:r>
            <a:r>
              <a:rPr lang="en-US" sz="1600" dirty="0">
                <a:solidFill>
                  <a:schemeClr val="tx1"/>
                </a:solidFill>
                <a:latin typeface="+mj-lt"/>
                <a:cs typeface="Arial" pitchFamily="34" charset="0"/>
              </a:rPr>
              <a:t>;</a:t>
            </a:r>
          </a:p>
          <a:p>
            <a:pPr>
              <a:lnSpc>
                <a:spcPct val="135000"/>
              </a:lnSpc>
            </a:pPr>
            <a:r>
              <a:rPr lang="en-US" sz="1600" dirty="0" err="1" smtClean="0">
                <a:solidFill>
                  <a:schemeClr val="tx1"/>
                </a:solidFill>
                <a:latin typeface="+mj-lt"/>
                <a:cs typeface="Arial" pitchFamily="34" charset="0"/>
              </a:rPr>
              <a:t>System.out.println</a:t>
            </a:r>
            <a:r>
              <a:rPr lang="en-US" sz="1600" dirty="0" smtClean="0">
                <a:solidFill>
                  <a:schemeClr val="tx1"/>
                </a:solidFill>
                <a:latin typeface="+mj-lt"/>
                <a:cs typeface="Arial" pitchFamily="34" charset="0"/>
              </a:rPr>
              <a:t>(</a:t>
            </a:r>
            <a:r>
              <a:rPr lang="en-US" sz="1600" dirty="0" err="1" smtClean="0">
                <a:solidFill>
                  <a:schemeClr val="tx1"/>
                </a:solidFill>
                <a:latin typeface="+mj-lt"/>
                <a:cs typeface="Arial" pitchFamily="34" charset="0"/>
              </a:rPr>
              <a:t>maxFunction.apply</a:t>
            </a:r>
            <a:r>
              <a:rPr lang="en-US" sz="1600" dirty="0" smtClean="0">
                <a:solidFill>
                  <a:schemeClr val="tx1"/>
                </a:solidFill>
                <a:latin typeface="+mj-lt"/>
                <a:cs typeface="Arial" pitchFamily="34" charset="0"/>
              </a:rPr>
              <a:t>(25</a:t>
            </a:r>
            <a:r>
              <a:rPr lang="en-US" sz="1600" dirty="0">
                <a:solidFill>
                  <a:schemeClr val="tx1"/>
                </a:solidFill>
                <a:latin typeface="+mj-lt"/>
                <a:cs typeface="Arial" pitchFamily="34" charset="0"/>
              </a:rPr>
              <a:t>, 14));</a:t>
            </a:r>
          </a:p>
        </p:txBody>
      </p:sp>
    </p:spTree>
    <p:extLst>
      <p:ext uri="{BB962C8B-B14F-4D97-AF65-F5344CB8AC3E}">
        <p14:creationId xmlns="" xmlns:p14="http://schemas.microsoft.com/office/powerpoint/2010/main" val="351002233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569" name="Rectangle 81"/>
          <p:cNvSpPr>
            <a:spLocks noGrp="1"/>
          </p:cNvSpPr>
          <p:nvPr>
            <p:ph idx="1"/>
          </p:nvPr>
        </p:nvSpPr>
        <p:spPr/>
        <p:txBody>
          <a:bodyPr/>
          <a:lstStyle/>
          <a:p>
            <a:r>
              <a:rPr lang="en-US" dirty="0">
                <a:solidFill>
                  <a:schemeClr val="tx1"/>
                </a:solidFill>
              </a:rPr>
              <a:t>Execute the :</a:t>
            </a:r>
          </a:p>
          <a:p>
            <a:pPr lvl="1"/>
            <a:r>
              <a:rPr lang="en-US" dirty="0" err="1" smtClean="0">
                <a:solidFill>
                  <a:schemeClr val="tx1"/>
                </a:solidFill>
              </a:rPr>
              <a:t>FunctionalInterfaces</a:t>
            </a:r>
            <a:endParaRPr lang="en-US" dirty="0">
              <a:solidFill>
                <a:schemeClr val="tx1"/>
              </a:solidFill>
            </a:endParaRPr>
          </a:p>
        </p:txBody>
      </p:sp>
      <p:sp>
        <p:nvSpPr>
          <p:cNvPr id="2" name="Title 1"/>
          <p:cNvSpPr>
            <a:spLocks noGrp="1"/>
          </p:cNvSpPr>
          <p:nvPr>
            <p:ph type="title"/>
          </p:nvPr>
        </p:nvSpPr>
        <p:spPr/>
        <p:txBody>
          <a:bodyPr/>
          <a:lstStyle/>
          <a:p>
            <a:r>
              <a:rPr lang="en-US" sz="1200" dirty="0"/>
              <a:t>21.3: Functional Interface </a:t>
            </a:r>
            <a:r>
              <a:rPr lang="en-US" dirty="0"/>
              <a:t/>
            </a:r>
            <a:br>
              <a:rPr lang="en-US" dirty="0"/>
            </a:br>
            <a:r>
              <a:rPr lang="en-US" dirty="0"/>
              <a:t>Demo</a:t>
            </a:r>
          </a:p>
        </p:txBody>
      </p:sp>
    </p:spTree>
    <p:extLst>
      <p:ext uri="{BB962C8B-B14F-4D97-AF65-F5344CB8AC3E}">
        <p14:creationId xmlns="" xmlns:p14="http://schemas.microsoft.com/office/powerpoint/2010/main" val="146481148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z="1200" dirty="0" smtClean="0"/>
              <a:t>21.5: Method Reference</a:t>
            </a:r>
            <a:r>
              <a:rPr lang="en-US" dirty="0" smtClean="0"/>
              <a:t/>
            </a:r>
            <a:br>
              <a:rPr lang="en-US" dirty="0" smtClean="0"/>
            </a:br>
            <a:r>
              <a:rPr lang="en-US" dirty="0" smtClean="0"/>
              <a:t>Method References</a:t>
            </a:r>
            <a:endParaRPr lang="en-US" sz="2400" dirty="0"/>
          </a:p>
        </p:txBody>
      </p:sp>
      <p:sp>
        <p:nvSpPr>
          <p:cNvPr id="6" name="Content Placeholder 5"/>
          <p:cNvSpPr>
            <a:spLocks noGrp="1"/>
          </p:cNvSpPr>
          <p:nvPr>
            <p:ph idx="1"/>
          </p:nvPr>
        </p:nvSpPr>
        <p:spPr/>
        <p:txBody>
          <a:bodyPr/>
          <a:lstStyle/>
          <a:p>
            <a:r>
              <a:rPr lang="en-US" dirty="0" smtClean="0">
                <a:solidFill>
                  <a:schemeClr val="tx1"/>
                </a:solidFill>
              </a:rPr>
              <a:t>Method reference is a shorthand way to write lambda expressions</a:t>
            </a:r>
          </a:p>
          <a:p>
            <a:r>
              <a:rPr lang="en-US" dirty="0" smtClean="0">
                <a:solidFill>
                  <a:schemeClr val="tx1"/>
                </a:solidFill>
              </a:rPr>
              <a:t>It is a new way to refer a method by its name instead of calling it directly</a:t>
            </a:r>
          </a:p>
          <a:p>
            <a:r>
              <a:rPr lang="en-US" dirty="0" smtClean="0">
                <a:solidFill>
                  <a:schemeClr val="tx1"/>
                </a:solidFill>
              </a:rPr>
              <a:t>Consider the below lambda expression, which call </a:t>
            </a:r>
            <a:r>
              <a:rPr lang="en-US" dirty="0" err="1" smtClean="0">
                <a:solidFill>
                  <a:schemeClr val="tx1"/>
                </a:solidFill>
              </a:rPr>
              <a:t>println</a:t>
            </a:r>
            <a:r>
              <a:rPr lang="en-US" dirty="0" smtClean="0">
                <a:solidFill>
                  <a:schemeClr val="tx1"/>
                </a:solidFill>
              </a:rPr>
              <a:t> method of </a:t>
            </a:r>
            <a:r>
              <a:rPr lang="en-US" dirty="0" err="1" smtClean="0">
                <a:solidFill>
                  <a:schemeClr val="tx1"/>
                </a:solidFill>
              </a:rPr>
              <a:t>System.out</a:t>
            </a:r>
            <a:r>
              <a:rPr lang="en-US" dirty="0" smtClean="0">
                <a:solidFill>
                  <a:schemeClr val="tx1"/>
                </a:solidFill>
              </a:rPr>
              <a:t> object:</a:t>
            </a:r>
          </a:p>
          <a:p>
            <a:endParaRPr lang="en-US" dirty="0">
              <a:solidFill>
                <a:schemeClr val="tx1"/>
              </a:solidFill>
            </a:endParaRPr>
          </a:p>
          <a:p>
            <a:endParaRPr lang="en-US" dirty="0" smtClean="0">
              <a:solidFill>
                <a:schemeClr val="tx1"/>
              </a:solidFill>
            </a:endParaRPr>
          </a:p>
          <a:p>
            <a:endParaRPr lang="en-US" dirty="0">
              <a:solidFill>
                <a:schemeClr val="tx1"/>
              </a:solidFill>
            </a:endParaRPr>
          </a:p>
          <a:p>
            <a:r>
              <a:rPr lang="en-US" dirty="0" smtClean="0">
                <a:solidFill>
                  <a:schemeClr val="tx1"/>
                </a:solidFill>
              </a:rPr>
              <a:t>Such lambda expressions are candidate for method references as it just calling a method for some functionality</a:t>
            </a:r>
          </a:p>
          <a:p>
            <a:r>
              <a:rPr lang="en-US" dirty="0" smtClean="0">
                <a:solidFill>
                  <a:schemeClr val="tx1"/>
                </a:solidFill>
              </a:rPr>
              <a:t>The same expression can be written as with method reference:</a:t>
            </a:r>
          </a:p>
        </p:txBody>
      </p:sp>
      <p:sp>
        <p:nvSpPr>
          <p:cNvPr id="8" name="AutoShape 4"/>
          <p:cNvSpPr>
            <a:spLocks noChangeArrowheads="1"/>
          </p:cNvSpPr>
          <p:nvPr/>
        </p:nvSpPr>
        <p:spPr bwMode="auto">
          <a:xfrm>
            <a:off x="918250" y="3451212"/>
            <a:ext cx="7267808" cy="682172"/>
          </a:xfrm>
          <a:prstGeom prst="roundRect">
            <a:avLst>
              <a:gd name="adj" fmla="val 10129"/>
            </a:avLst>
          </a:prstGeom>
          <a:ln>
            <a:headEnd/>
            <a:tailEnd/>
          </a:ln>
        </p:spPr>
        <p:style>
          <a:lnRef idx="2">
            <a:schemeClr val="dk1"/>
          </a:lnRef>
          <a:fillRef idx="1">
            <a:schemeClr val="lt1"/>
          </a:fillRef>
          <a:effectRef idx="0">
            <a:schemeClr val="dk1"/>
          </a:effectRef>
          <a:fontRef idx="minor">
            <a:schemeClr val="dk1"/>
          </a:fontRef>
        </p:style>
        <p:txBody>
          <a:bodyPr anchor="ctr"/>
          <a:lstStyle/>
          <a:p>
            <a:pPr>
              <a:lnSpc>
                <a:spcPct val="135000"/>
              </a:lnSpc>
            </a:pPr>
            <a:r>
              <a:rPr lang="en-US" dirty="0">
                <a:solidFill>
                  <a:schemeClr val="tx1"/>
                </a:solidFill>
                <a:latin typeface="+mj-lt"/>
                <a:cs typeface="Arial" pitchFamily="34" charset="0"/>
              </a:rPr>
              <a:t>Consumer&lt;String&gt; consumer = (String </a:t>
            </a:r>
            <a:r>
              <a:rPr lang="en-US" dirty="0" err="1">
                <a:solidFill>
                  <a:schemeClr val="tx1"/>
                </a:solidFill>
                <a:latin typeface="+mj-lt"/>
                <a:cs typeface="Arial" pitchFamily="34" charset="0"/>
              </a:rPr>
              <a:t>str</a:t>
            </a:r>
            <a:r>
              <a:rPr lang="en-US" dirty="0">
                <a:solidFill>
                  <a:schemeClr val="tx1"/>
                </a:solidFill>
                <a:latin typeface="+mj-lt"/>
                <a:cs typeface="Arial" pitchFamily="34" charset="0"/>
              </a:rPr>
              <a:t>)-&gt; </a:t>
            </a:r>
            <a:r>
              <a:rPr lang="en-US" dirty="0" err="1">
                <a:solidFill>
                  <a:schemeClr val="tx1"/>
                </a:solidFill>
                <a:latin typeface="+mj-lt"/>
                <a:cs typeface="Arial" pitchFamily="34" charset="0"/>
              </a:rPr>
              <a:t>System.out.println</a:t>
            </a:r>
            <a:r>
              <a:rPr lang="en-US" dirty="0">
                <a:solidFill>
                  <a:schemeClr val="tx1"/>
                </a:solidFill>
                <a:latin typeface="+mj-lt"/>
                <a:cs typeface="Arial" pitchFamily="34" charset="0"/>
              </a:rPr>
              <a:t>(</a:t>
            </a:r>
            <a:r>
              <a:rPr lang="en-US" dirty="0" err="1">
                <a:solidFill>
                  <a:schemeClr val="tx1"/>
                </a:solidFill>
                <a:latin typeface="+mj-lt"/>
                <a:cs typeface="Arial" pitchFamily="34" charset="0"/>
              </a:rPr>
              <a:t>str</a:t>
            </a:r>
            <a:r>
              <a:rPr lang="en-US" dirty="0" smtClean="0">
                <a:solidFill>
                  <a:schemeClr val="tx1"/>
                </a:solidFill>
                <a:latin typeface="+mj-lt"/>
                <a:cs typeface="Arial" pitchFamily="34" charset="0"/>
              </a:rPr>
              <a:t>);</a:t>
            </a:r>
            <a:endParaRPr lang="en-US" dirty="0">
              <a:solidFill>
                <a:schemeClr val="tx1"/>
              </a:solidFill>
              <a:latin typeface="+mj-lt"/>
              <a:cs typeface="Arial" pitchFamily="34" charset="0"/>
            </a:endParaRPr>
          </a:p>
        </p:txBody>
      </p:sp>
      <p:sp>
        <p:nvSpPr>
          <p:cNvPr id="9" name="AutoShape 4"/>
          <p:cNvSpPr>
            <a:spLocks noChangeArrowheads="1"/>
          </p:cNvSpPr>
          <p:nvPr/>
        </p:nvSpPr>
        <p:spPr bwMode="auto">
          <a:xfrm>
            <a:off x="918250" y="5541056"/>
            <a:ext cx="7267808" cy="682172"/>
          </a:xfrm>
          <a:prstGeom prst="roundRect">
            <a:avLst>
              <a:gd name="adj" fmla="val 10129"/>
            </a:avLst>
          </a:prstGeom>
          <a:ln>
            <a:headEnd/>
            <a:tailEnd/>
          </a:ln>
        </p:spPr>
        <p:style>
          <a:lnRef idx="2">
            <a:schemeClr val="dk1"/>
          </a:lnRef>
          <a:fillRef idx="1">
            <a:schemeClr val="lt1"/>
          </a:fillRef>
          <a:effectRef idx="0">
            <a:schemeClr val="dk1"/>
          </a:effectRef>
          <a:fontRef idx="minor">
            <a:schemeClr val="dk1"/>
          </a:fontRef>
        </p:style>
        <p:txBody>
          <a:bodyPr anchor="ctr"/>
          <a:lstStyle/>
          <a:p>
            <a:pPr>
              <a:lnSpc>
                <a:spcPct val="135000"/>
              </a:lnSpc>
            </a:pPr>
            <a:r>
              <a:rPr lang="en-US" dirty="0">
                <a:solidFill>
                  <a:schemeClr val="tx1"/>
                </a:solidFill>
                <a:latin typeface="+mj-lt"/>
                <a:cs typeface="Arial" pitchFamily="34" charset="0"/>
              </a:rPr>
              <a:t>Consumer&lt;String&gt; consumer = </a:t>
            </a:r>
            <a:r>
              <a:rPr lang="en-US" dirty="0" err="1" smtClean="0">
                <a:solidFill>
                  <a:schemeClr val="tx1"/>
                </a:solidFill>
                <a:latin typeface="+mj-lt"/>
                <a:cs typeface="Arial" pitchFamily="34" charset="0"/>
              </a:rPr>
              <a:t>System.out</a:t>
            </a:r>
            <a:r>
              <a:rPr lang="en-US" dirty="0" smtClean="0">
                <a:solidFill>
                  <a:schemeClr val="tx1"/>
                </a:solidFill>
                <a:latin typeface="+mj-lt"/>
                <a:cs typeface="Arial" pitchFamily="34" charset="0"/>
              </a:rPr>
              <a:t> </a:t>
            </a:r>
            <a:r>
              <a:rPr lang="en-US" b="1" dirty="0" smtClean="0">
                <a:solidFill>
                  <a:schemeClr val="tx1"/>
                </a:solidFill>
                <a:latin typeface="+mj-lt"/>
                <a:cs typeface="Arial" pitchFamily="34" charset="0"/>
              </a:rPr>
              <a:t>::</a:t>
            </a:r>
            <a:r>
              <a:rPr lang="en-US" dirty="0" smtClean="0">
                <a:solidFill>
                  <a:schemeClr val="tx1"/>
                </a:solidFill>
                <a:latin typeface="+mj-lt"/>
                <a:cs typeface="Arial" pitchFamily="34" charset="0"/>
              </a:rPr>
              <a:t> </a:t>
            </a:r>
            <a:r>
              <a:rPr lang="en-US" dirty="0" err="1" smtClean="0">
                <a:solidFill>
                  <a:schemeClr val="tx1"/>
                </a:solidFill>
                <a:latin typeface="+mj-lt"/>
                <a:cs typeface="Arial" pitchFamily="34" charset="0"/>
              </a:rPr>
              <a:t>println</a:t>
            </a:r>
            <a:r>
              <a:rPr lang="en-US" dirty="0" smtClean="0">
                <a:solidFill>
                  <a:schemeClr val="tx1"/>
                </a:solidFill>
                <a:latin typeface="+mj-lt"/>
                <a:cs typeface="Arial" pitchFamily="34" charset="0"/>
              </a:rPr>
              <a:t>;</a:t>
            </a:r>
            <a:endParaRPr lang="en-US" dirty="0">
              <a:solidFill>
                <a:schemeClr val="tx1"/>
              </a:solidFill>
              <a:latin typeface="+mj-lt"/>
              <a:cs typeface="Arial" pitchFamily="34" charset="0"/>
            </a:endParaRPr>
          </a:p>
        </p:txBody>
      </p:sp>
    </p:spTree>
    <p:extLst>
      <p:ext uri="{BB962C8B-B14F-4D97-AF65-F5344CB8AC3E}">
        <p14:creationId xmlns="" xmlns:p14="http://schemas.microsoft.com/office/powerpoint/2010/main" val="208101620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568" name="Rectangle 80"/>
          <p:cNvSpPr>
            <a:spLocks noGrp="1"/>
          </p:cNvSpPr>
          <p:nvPr>
            <p:ph type="title"/>
          </p:nvPr>
        </p:nvSpPr>
        <p:spPr/>
        <p:txBody>
          <a:bodyPr/>
          <a:lstStyle/>
          <a:p>
            <a:r>
              <a:rPr lang="en-US" sz="1200" dirty="0" smtClean="0"/>
              <a:t>21.5: Method reference </a:t>
            </a:r>
            <a:r>
              <a:rPr lang="en-US" sz="1200" b="1" dirty="0"/>
              <a:t/>
            </a:r>
            <a:br>
              <a:rPr lang="en-US" sz="1200" b="1" dirty="0"/>
            </a:br>
            <a:r>
              <a:rPr lang="en-US" dirty="0"/>
              <a:t>Demo</a:t>
            </a:r>
          </a:p>
        </p:txBody>
      </p:sp>
      <p:sp>
        <p:nvSpPr>
          <p:cNvPr id="319569" name="Rectangle 81"/>
          <p:cNvSpPr>
            <a:spLocks noGrp="1"/>
          </p:cNvSpPr>
          <p:nvPr>
            <p:ph idx="1"/>
          </p:nvPr>
        </p:nvSpPr>
        <p:spPr/>
        <p:txBody>
          <a:bodyPr/>
          <a:lstStyle/>
          <a:p>
            <a:r>
              <a:rPr lang="en-US" dirty="0">
                <a:solidFill>
                  <a:schemeClr val="tx1"/>
                </a:solidFill>
              </a:rPr>
              <a:t>Execute the :</a:t>
            </a:r>
          </a:p>
          <a:p>
            <a:pPr lvl="1"/>
            <a:r>
              <a:rPr lang="en-US" dirty="0" err="1" smtClean="0">
                <a:solidFill>
                  <a:schemeClr val="tx1"/>
                </a:solidFill>
              </a:rPr>
              <a:t>MethodReference</a:t>
            </a:r>
            <a:endParaRPr lang="en-US" dirty="0">
              <a:solidFill>
                <a:schemeClr val="tx1"/>
              </a:solidFill>
            </a:endParaRPr>
          </a:p>
        </p:txBody>
      </p:sp>
    </p:spTree>
    <p:extLst>
      <p:ext uri="{BB962C8B-B14F-4D97-AF65-F5344CB8AC3E}">
        <p14:creationId xmlns="" xmlns:p14="http://schemas.microsoft.com/office/powerpoint/2010/main" val="234125759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5" name="Rectangle 7"/>
          <p:cNvSpPr>
            <a:spLocks noGrp="1"/>
          </p:cNvSpPr>
          <p:nvPr>
            <p:ph type="title"/>
          </p:nvPr>
        </p:nvSpPr>
        <p:spPr/>
        <p:txBody>
          <a:bodyPr>
            <a:noAutofit/>
          </a:bodyPr>
          <a:lstStyle/>
          <a:p>
            <a:r>
              <a:rPr lang="en-US" dirty="0"/>
              <a:t>Summary</a:t>
            </a:r>
          </a:p>
        </p:txBody>
      </p:sp>
      <p:sp>
        <p:nvSpPr>
          <p:cNvPr id="217096" name="Rectangle 8"/>
          <p:cNvSpPr>
            <a:spLocks noGrp="1"/>
          </p:cNvSpPr>
          <p:nvPr>
            <p:ph idx="1"/>
          </p:nvPr>
        </p:nvSpPr>
        <p:spPr/>
        <p:txBody>
          <a:bodyPr/>
          <a:lstStyle/>
          <a:p>
            <a:r>
              <a:rPr lang="en-US" dirty="0">
                <a:solidFill>
                  <a:schemeClr val="tx1"/>
                </a:solidFill>
              </a:rPr>
              <a:t>In this lesson, you have learnt: </a:t>
            </a:r>
          </a:p>
          <a:p>
            <a:pPr lvl="1"/>
            <a:r>
              <a:rPr lang="en-US" dirty="0" smtClean="0">
                <a:solidFill>
                  <a:schemeClr val="tx1"/>
                </a:solidFill>
              </a:rPr>
              <a:t>Writing </a:t>
            </a:r>
            <a:r>
              <a:rPr lang="en-US" dirty="0">
                <a:solidFill>
                  <a:schemeClr val="tx1"/>
                </a:solidFill>
              </a:rPr>
              <a:t>Lambda Expressions</a:t>
            </a:r>
          </a:p>
          <a:p>
            <a:pPr lvl="1"/>
            <a:r>
              <a:rPr lang="en-US" dirty="0" smtClean="0">
                <a:solidFill>
                  <a:schemeClr val="tx1"/>
                </a:solidFill>
              </a:rPr>
              <a:t>Functional </a:t>
            </a:r>
            <a:r>
              <a:rPr lang="en-US" dirty="0">
                <a:solidFill>
                  <a:schemeClr val="tx1"/>
                </a:solidFill>
              </a:rPr>
              <a:t>Interfaces</a:t>
            </a:r>
          </a:p>
          <a:p>
            <a:pPr lvl="1"/>
            <a:r>
              <a:rPr lang="en-US" dirty="0" smtClean="0">
                <a:solidFill>
                  <a:schemeClr val="tx1"/>
                </a:solidFill>
              </a:rPr>
              <a:t>Method reference</a:t>
            </a:r>
            <a:endParaRPr lang="en-US" dirty="0">
              <a:solidFill>
                <a:schemeClr val="tx1"/>
              </a:solidFill>
            </a:endParaRPr>
          </a:p>
        </p:txBody>
      </p:sp>
    </p:spTree>
    <p:extLst>
      <p:ext uri="{BB962C8B-B14F-4D97-AF65-F5344CB8AC3E}">
        <p14:creationId xmlns="" xmlns:p14="http://schemas.microsoft.com/office/powerpoint/2010/main" val="407190131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43" name="Rectangle 7"/>
          <p:cNvSpPr>
            <a:spLocks noGrp="1"/>
          </p:cNvSpPr>
          <p:nvPr>
            <p:ph type="title"/>
          </p:nvPr>
        </p:nvSpPr>
        <p:spPr/>
        <p:txBody>
          <a:bodyPr>
            <a:noAutofit/>
          </a:bodyPr>
          <a:lstStyle/>
          <a:p>
            <a:r>
              <a:rPr lang="en-US" dirty="0" smtClean="0"/>
              <a:t>Review </a:t>
            </a:r>
            <a:r>
              <a:rPr lang="en-US" dirty="0"/>
              <a:t>Question</a:t>
            </a:r>
          </a:p>
        </p:txBody>
      </p:sp>
      <p:sp>
        <p:nvSpPr>
          <p:cNvPr id="219144" name="Rectangle 8"/>
          <p:cNvSpPr>
            <a:spLocks noGrp="1"/>
          </p:cNvSpPr>
          <p:nvPr>
            <p:ph idx="1"/>
          </p:nvPr>
        </p:nvSpPr>
        <p:spPr/>
        <p:txBody>
          <a:bodyPr/>
          <a:lstStyle/>
          <a:p>
            <a:r>
              <a:rPr lang="en-US" dirty="0">
                <a:solidFill>
                  <a:schemeClr val="tx1"/>
                </a:solidFill>
              </a:rPr>
              <a:t>Question 1 :</a:t>
            </a:r>
            <a:r>
              <a:rPr lang="en-US" b="0" dirty="0">
                <a:solidFill>
                  <a:schemeClr val="tx1"/>
                </a:solidFill>
              </a:rPr>
              <a:t> </a:t>
            </a:r>
            <a:r>
              <a:rPr lang="en-US" dirty="0">
                <a:solidFill>
                  <a:schemeClr val="tx1"/>
                </a:solidFill>
              </a:rPr>
              <a:t>Which </a:t>
            </a:r>
            <a:r>
              <a:rPr lang="en-US" dirty="0" smtClean="0">
                <a:solidFill>
                  <a:schemeClr val="tx1"/>
                </a:solidFill>
              </a:rPr>
              <a:t>of the following Lambda expressions are valid to perform addition of two numbers?</a:t>
            </a:r>
            <a:endParaRPr lang="en-US" dirty="0">
              <a:solidFill>
                <a:schemeClr val="tx1"/>
              </a:solidFill>
            </a:endParaRPr>
          </a:p>
          <a:p>
            <a:pPr lvl="1"/>
            <a:r>
              <a:rPr lang="en-US" b="1" dirty="0">
                <a:solidFill>
                  <a:schemeClr val="tx1"/>
                </a:solidFill>
              </a:rPr>
              <a:t> Option 1 : </a:t>
            </a:r>
            <a:r>
              <a:rPr lang="en-US" dirty="0" smtClean="0">
                <a:solidFill>
                  <a:schemeClr val="tx1"/>
                </a:solidFill>
              </a:rPr>
              <a:t>(x, y) -&gt; x +y;</a:t>
            </a:r>
            <a:endParaRPr lang="en-US" dirty="0">
              <a:solidFill>
                <a:schemeClr val="tx1"/>
              </a:solidFill>
            </a:endParaRPr>
          </a:p>
          <a:p>
            <a:pPr lvl="1"/>
            <a:r>
              <a:rPr lang="en-US" b="1" dirty="0">
                <a:solidFill>
                  <a:schemeClr val="tx1"/>
                </a:solidFill>
              </a:rPr>
              <a:t> Option 2 : </a:t>
            </a:r>
            <a:r>
              <a:rPr lang="en-US" dirty="0" smtClean="0">
                <a:solidFill>
                  <a:schemeClr val="tx1"/>
                </a:solidFill>
              </a:rPr>
              <a:t>(Integer </a:t>
            </a:r>
            <a:r>
              <a:rPr lang="en-US" dirty="0" err="1" smtClean="0">
                <a:solidFill>
                  <a:schemeClr val="tx1"/>
                </a:solidFill>
              </a:rPr>
              <a:t>x,Integer</a:t>
            </a:r>
            <a:r>
              <a:rPr lang="en-US" dirty="0" smtClean="0">
                <a:solidFill>
                  <a:schemeClr val="tx1"/>
                </a:solidFill>
              </a:rPr>
              <a:t> y) - &gt; {return </a:t>
            </a:r>
            <a:r>
              <a:rPr lang="en-US" dirty="0" err="1" smtClean="0">
                <a:solidFill>
                  <a:schemeClr val="tx1"/>
                </a:solidFill>
              </a:rPr>
              <a:t>x+y</a:t>
            </a:r>
            <a:r>
              <a:rPr lang="en-US" dirty="0" smtClean="0">
                <a:solidFill>
                  <a:schemeClr val="tx1"/>
                </a:solidFill>
              </a:rPr>
              <a:t>;} </a:t>
            </a:r>
            <a:endParaRPr lang="en-US" dirty="0">
              <a:solidFill>
                <a:schemeClr val="tx1"/>
              </a:solidFill>
            </a:endParaRPr>
          </a:p>
          <a:p>
            <a:pPr lvl="1"/>
            <a:r>
              <a:rPr lang="en-US" b="1" dirty="0">
                <a:solidFill>
                  <a:schemeClr val="tx1"/>
                </a:solidFill>
              </a:rPr>
              <a:t> Option 3 : </a:t>
            </a:r>
            <a:r>
              <a:rPr lang="en-US" b="1" dirty="0" smtClean="0">
                <a:solidFill>
                  <a:schemeClr val="tx1"/>
                </a:solidFill>
              </a:rPr>
              <a:t>(</a:t>
            </a:r>
            <a:r>
              <a:rPr lang="en-US" dirty="0" smtClean="0">
                <a:solidFill>
                  <a:schemeClr val="tx1"/>
                </a:solidFill>
              </a:rPr>
              <a:t>Integer x, Integer y) -&gt; (x + y);</a:t>
            </a:r>
          </a:p>
          <a:p>
            <a:pPr lvl="1"/>
            <a:r>
              <a:rPr lang="en-US" b="1" dirty="0" smtClean="0">
                <a:solidFill>
                  <a:schemeClr val="tx1"/>
                </a:solidFill>
              </a:rPr>
              <a:t>Option 4</a:t>
            </a:r>
            <a:r>
              <a:rPr lang="en-US" dirty="0" smtClean="0">
                <a:solidFill>
                  <a:schemeClr val="tx1"/>
                </a:solidFill>
              </a:rPr>
              <a:t>: All of above</a:t>
            </a:r>
            <a:endParaRPr lang="en-US" dirty="0">
              <a:solidFill>
                <a:schemeClr val="tx1"/>
              </a:solidFill>
            </a:endParaRPr>
          </a:p>
          <a:p>
            <a:r>
              <a:rPr lang="en-US" dirty="0">
                <a:solidFill>
                  <a:schemeClr val="tx1"/>
                </a:solidFill>
              </a:rPr>
              <a:t>Question 2 :</a:t>
            </a:r>
            <a:r>
              <a:rPr lang="en-US" b="0" dirty="0">
                <a:solidFill>
                  <a:schemeClr val="tx1"/>
                </a:solidFill>
              </a:rPr>
              <a:t> </a:t>
            </a:r>
            <a:r>
              <a:rPr lang="en-US" dirty="0">
                <a:solidFill>
                  <a:schemeClr val="tx1"/>
                </a:solidFill>
              </a:rPr>
              <a:t>____ is </a:t>
            </a:r>
            <a:r>
              <a:rPr lang="en-US" dirty="0" smtClean="0">
                <a:solidFill>
                  <a:schemeClr val="tx1"/>
                </a:solidFill>
              </a:rPr>
              <a:t>a predicate </a:t>
            </a:r>
            <a:r>
              <a:rPr lang="en-US" dirty="0">
                <a:solidFill>
                  <a:schemeClr val="tx1"/>
                </a:solidFill>
              </a:rPr>
              <a:t>of two arguments. </a:t>
            </a:r>
            <a:endParaRPr lang="en-US" dirty="0" smtClean="0">
              <a:solidFill>
                <a:schemeClr val="tx1"/>
              </a:solidFill>
            </a:endParaRPr>
          </a:p>
          <a:p>
            <a:r>
              <a:rPr lang="en-US" dirty="0" smtClean="0">
                <a:solidFill>
                  <a:schemeClr val="tx1"/>
                </a:solidFill>
              </a:rPr>
              <a:t>Question </a:t>
            </a:r>
            <a:r>
              <a:rPr lang="en-US" dirty="0">
                <a:solidFill>
                  <a:schemeClr val="tx1"/>
                </a:solidFill>
              </a:rPr>
              <a:t>3 :</a:t>
            </a:r>
            <a:r>
              <a:rPr lang="en-US" b="0" dirty="0" smtClean="0">
                <a:solidFill>
                  <a:schemeClr val="tx1"/>
                </a:solidFill>
              </a:rPr>
              <a:t> </a:t>
            </a:r>
            <a:r>
              <a:rPr lang="en-US" dirty="0" smtClean="0">
                <a:solidFill>
                  <a:schemeClr val="tx1"/>
                </a:solidFill>
              </a:rPr>
              <a:t>A method reference is shorthand to create a lambda expression using an existing method.</a:t>
            </a:r>
          </a:p>
          <a:p>
            <a:pPr lvl="1"/>
            <a:r>
              <a:rPr lang="en-US" dirty="0" smtClean="0">
                <a:solidFill>
                  <a:schemeClr val="tx1"/>
                </a:solidFill>
              </a:rPr>
              <a:t>True/False</a:t>
            </a:r>
            <a:endParaRPr lang="en-US" dirty="0">
              <a:solidFill>
                <a:schemeClr val="tx1"/>
              </a:solidFill>
            </a:endParaRPr>
          </a:p>
          <a:p>
            <a:endParaRPr lang="en-US" dirty="0">
              <a:solidFill>
                <a:schemeClr val="tx1"/>
              </a:solidFill>
            </a:endParaRPr>
          </a:p>
        </p:txBody>
      </p:sp>
    </p:spTree>
    <p:extLst>
      <p:ext uri="{BB962C8B-B14F-4D97-AF65-F5344CB8AC3E}">
        <p14:creationId xmlns="" xmlns:p14="http://schemas.microsoft.com/office/powerpoint/2010/main" val="2709380137"/>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u8VTg_P6rkuq_fbZG2oYXw"/>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PHldxlhBv0miWYXN6H8BT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xzY4oecJCE2aPB.u6loWPw"/>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hk.3W3rhiEqWtBDEsi7Xg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zTl75Tp2nEy_4PpazGLtVA"/>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8_pk8PYzpk.FktMHhDaTF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rciOYA.RlUiY0_0bhJg.jg"/>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tIjPmYduDEihDAvnsmSINQ"/>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MCiS0.yx0EOD8F1j3NQrHQ"/>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zz079BM2o06hslZIU5JQRQ"/>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b7lR2ZPdT0GiqzvYZsxoow"/>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pDDnGmnlJWUybweSHRV5zMg"/>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gQ5iGtRqU02KNLCmPGzp4A"/>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Dc8wFtNDQEWdRtOXF1QyRg"/>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pMtFIJDhqukmiZrrs7RIxOQ"/>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pBBk8lAE_1EizYsNCWPJyzQ"/>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pLSf6F_6IvUOzE1MWebP3wg"/>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plIkCAESggUqrdbLfjv5zDQ"/>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pwYnDl6hGIEiK2JQntAZnxg"/>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2_Corporate Presentation Template (4x3 - Normal)">
  <a:themeElements>
    <a:clrScheme name="Capgemini">
      <a:dk1>
        <a:srgbClr val="00264A"/>
      </a:dk1>
      <a:lt1>
        <a:sysClr val="window" lastClr="FFFFFF"/>
      </a:lt1>
      <a:dk2>
        <a:srgbClr val="9F958F"/>
      </a:dk2>
      <a:lt2>
        <a:srgbClr val="909090"/>
      </a:lt2>
      <a:accent1>
        <a:srgbClr val="F9BE01"/>
      </a:accent1>
      <a:accent2>
        <a:srgbClr val="ED771A"/>
      </a:accent2>
      <a:accent3>
        <a:srgbClr val="B70132"/>
      </a:accent3>
      <a:accent4>
        <a:srgbClr val="691E7C"/>
      </a:accent4>
      <a:accent5>
        <a:srgbClr val="0098CC"/>
      </a:accent5>
      <a:accent6>
        <a:srgbClr val="BDBD00"/>
      </a:accent6>
      <a:hlink>
        <a:srgbClr val="7DAFA5"/>
      </a:hlink>
      <a:folHlink>
        <a:srgbClr val="BA0065"/>
      </a:folHlink>
    </a:clrScheme>
    <a:fontScheme name="Capgemini">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solidFill>
            <a:schemeClr val="tx2"/>
          </a:solidFill>
        </a:ln>
      </a:spPr>
      <a:bodyPr rtlCol="0" anchor="ctr"/>
      <a:lstStyle>
        <a:defPPr algn="ctr">
          <a:defRPr sz="2400" dirty="0" err="1" smtClean="0">
            <a:solidFill>
              <a:schemeClr val="tx2">
                <a:lumMod val="50000"/>
              </a:schemeClr>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prstDash val="solid"/>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1400" dirty="0" err="1" smtClean="0">
            <a:solidFill>
              <a:schemeClr val="tx2">
                <a:lumMod val="50000"/>
              </a:schemeClr>
            </a:solidFill>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64F797F9BD2124B9B89E1787624A7F8" ma:contentTypeVersion="12" ma:contentTypeDescription="Create a new document." ma:contentTypeScope="" ma:versionID="db045e7d1992db9cfc8b663ee4dda2d2">
  <xsd:schema xmlns:xsd="http://www.w3.org/2001/XMLSchema" xmlns:xs="http://www.w3.org/2001/XMLSchema" xmlns:p="http://schemas.microsoft.com/office/2006/metadata/properties" xmlns:ns2="http://schemas.microsoft.com/sharepoint/v3/fields" xmlns:ns3="26bed2a0-a239-4228-bd8e-b46f54fc12da" targetNamespace="http://schemas.microsoft.com/office/2006/metadata/properties" ma:root="true" ma:fieldsID="a2bd43f3c01a0467341ff5ba4dd99e21" ns2:_="" ns3:_="">
    <xsd:import namespace="http://schemas.microsoft.com/sharepoint/v3/fields"/>
    <xsd:import namespace="26bed2a0-a239-4228-bd8e-b46f54fc12da"/>
    <xsd:element name="properties">
      <xsd:complexType>
        <xsd:sequence>
          <xsd:element name="documentManagement">
            <xsd:complexType>
              <xsd:all>
                <xsd:element ref="ns2:_Version" minOccurs="0"/>
                <xsd:element ref="ns3:Level"/>
                <xsd:element ref="ns3:Category"/>
                <xsd:element ref="ns2:_DCDateModified" minOccurs="0"/>
                <xsd:element ref="ns3:Material_x0020_Type"/>
                <xsd:element ref="ns3:MediaServiceMetadata" minOccurs="0"/>
                <xsd:element ref="ns3:MediaServiceFastMetadata" minOccurs="0"/>
                <xsd:element ref="ns3:MediaServiceDateTaken"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Version" ma:index="8" nillable="true" ma:displayName="Version" ma:internalName="_Version">
      <xsd:simpleType>
        <xsd:restriction base="dms:Text"/>
      </xsd:simpleType>
    </xsd:element>
    <xsd:element name="_DCDateModified" ma:index="11" nillable="true" ma:displayName="Date Modified" ma:description="The date on which this resource was last modified" ma:format="DateTime" ma:internalName="_DCDateModified">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26bed2a0-a239-4228-bd8e-b46f54fc12da" elementFormDefault="qualified">
    <xsd:import namespace="http://schemas.microsoft.com/office/2006/documentManagement/types"/>
    <xsd:import namespace="http://schemas.microsoft.com/office/infopath/2007/PartnerControls"/>
    <xsd:element name="Level" ma:index="9" ma:displayName="Level" ma:format="Dropdown" ma:internalName="Level">
      <xsd:simpleType>
        <xsd:restriction base="dms:Choice">
          <xsd:enumeration value="L1"/>
          <xsd:enumeration value="L2"/>
          <xsd:enumeration value="L3"/>
          <xsd:enumeration value="L4"/>
          <xsd:enumeration value="Common"/>
        </xsd:restriction>
      </xsd:simpleType>
    </xsd:element>
    <xsd:element name="Category" ma:index="10" ma:displayName="Category" ma:default="Module Artifact" ma:format="Dropdown" ma:internalName="Category">
      <xsd:simpleType>
        <xsd:restriction base="dms:Choice">
          <xsd:enumeration value="Module Artifact"/>
          <xsd:enumeration value="Assessment Component"/>
        </xsd:restriction>
      </xsd:simpleType>
    </xsd:element>
    <xsd:element name="Material_x0020_Type" ma:index="12" ma:displayName="Material Type" ma:default="Class book" ma:format="Dropdown" ma:internalName="Material_x0020_Type">
      <xsd:simpleType>
        <xsd:restriction base="dms:Choice">
          <xsd:enumeration value="Demos"/>
          <xsd:enumeration value="Extra Example"/>
          <xsd:enumeration value="Extra Material"/>
          <xsd:enumeration value="Suggestions"/>
          <xsd:enumeration value="General"/>
          <xsd:enumeration value="Module Test Practical"/>
          <xsd:enumeration value="Module Test Theory"/>
          <xsd:enumeration value="Quiz"/>
          <xsd:enumeration value="Class book"/>
          <xsd:enumeration value="Lab book"/>
          <xsd:enumeration value="Recordings"/>
        </xsd:restriction>
      </xsd:simpleType>
    </xsd:element>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Version xmlns="http://schemas.microsoft.com/sharepoint/v3/fields" xsi:nil="true"/>
    <_DCDateModified xmlns="http://schemas.microsoft.com/sharepoint/v3/fields" xsi:nil="true"/>
    <Material_x0020_Type xmlns="26bed2a0-a239-4228-bd8e-b46f54fc12da">Class book</Material_x0020_Type>
    <Category xmlns="26bed2a0-a239-4228-bd8e-b46f54fc12da">Module Artifact</Category>
    <Level xmlns="26bed2a0-a239-4228-bd8e-b46f54fc12da">L1</Level>
  </documentManagement>
</p:properties>
</file>

<file path=customXml/itemProps1.xml><?xml version="1.0" encoding="utf-8"?>
<ds:datastoreItem xmlns:ds="http://schemas.openxmlformats.org/officeDocument/2006/customXml" ds:itemID="{49AEF291-C811-4EA3-AB8B-84D26DE2542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fields"/>
    <ds:schemaRef ds:uri="26bed2a0-a239-4228-bd8e-b46f54fc12d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B673CDC-8BE6-4391-ABD9-A817C61AB8C9}">
  <ds:schemaRefs>
    <ds:schemaRef ds:uri="http://schemas.microsoft.com/sharepoint/v3/contenttype/forms"/>
  </ds:schemaRefs>
</ds:datastoreItem>
</file>

<file path=customXml/itemProps3.xml><?xml version="1.0" encoding="utf-8"?>
<ds:datastoreItem xmlns:ds="http://schemas.openxmlformats.org/officeDocument/2006/customXml" ds:itemID="{7C1830C8-F522-4AF4-83DD-915E4EE23EB4}">
  <ds:schemaRefs>
    <ds:schemaRef ds:uri="http://schemas.microsoft.com/office/2006/metadata/properties"/>
    <ds:schemaRef ds:uri="http://schemas.microsoft.com/office/infopath/2007/PartnerControls"/>
    <ds:schemaRef ds:uri="http://schemas.microsoft.com/sharepoint/v3/fields"/>
    <ds:schemaRef ds:uri="26bed2a0-a239-4228-bd8e-b46f54fc12da"/>
  </ds:schemaRefs>
</ds:datastoreItem>
</file>

<file path=docProps/app.xml><?xml version="1.0" encoding="utf-8"?>
<Properties xmlns="http://schemas.openxmlformats.org/officeDocument/2006/extended-properties" xmlns:vt="http://schemas.openxmlformats.org/officeDocument/2006/docPropsVTypes">
  <Template/>
  <TotalTime>5835</TotalTime>
  <Words>2100</Words>
  <Application>Microsoft Office PowerPoint</Application>
  <PresentationFormat>On-screen Show (4:3)</PresentationFormat>
  <Paragraphs>395</Paragraphs>
  <Slides>21</Slides>
  <Notes>21</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21</vt:i4>
      </vt:variant>
    </vt:vector>
  </HeadingPairs>
  <TitlesOfParts>
    <vt:vector size="23" baseType="lpstr">
      <vt:lpstr>2_Corporate Presentation Template (4x3 - Normal)</vt:lpstr>
      <vt:lpstr>think-cell Slide</vt:lpstr>
      <vt:lpstr>Core Java 8 and Development Tools</vt:lpstr>
      <vt:lpstr>Lesson Objectives</vt:lpstr>
      <vt:lpstr>21.1: Introduction to Functional Interface Functional Interface</vt:lpstr>
      <vt:lpstr>21.1: Introduction to Functional Interface Functional Interface : Example </vt:lpstr>
      <vt:lpstr>21.1: Introduction to Functional Interface Functional Interface : Implementation </vt:lpstr>
      <vt:lpstr>21.1: Introduction to Functional Interface Functional Interface : Implementation</vt:lpstr>
      <vt:lpstr>21.2: Writing Lambda Expressions Lambda Expression</vt:lpstr>
      <vt:lpstr>21.2: Writing Lambda Expressions Lambda Expression</vt:lpstr>
      <vt:lpstr>21.2: Lambda Expressions and Functional Interface  Demo</vt:lpstr>
      <vt:lpstr>21.3: Builtin Functional Interfaces Built-in Functional Interfaces</vt:lpstr>
      <vt:lpstr>21.3: Builtin Functional Interfaces Supplier</vt:lpstr>
      <vt:lpstr>21.3: Builtin Functional Interfaces Consumer</vt:lpstr>
      <vt:lpstr>21.3: Builtin Functional Interfaces Predicate</vt:lpstr>
      <vt:lpstr>21.3: Builtin Functional Interfaces Function</vt:lpstr>
      <vt:lpstr>21.4 : Builtin Functional Interfaces and Lambda Expressions Lambda Expression for Function Interfaces</vt:lpstr>
      <vt:lpstr>21.4 : Builtin Functional Interfaces and Lambda Expressions Using Built-in Functional Interfaces</vt:lpstr>
      <vt:lpstr>21.3: Functional Interface  Demo</vt:lpstr>
      <vt:lpstr>21.5: Method Reference Method References</vt:lpstr>
      <vt:lpstr>21.5: Method reference  Demo</vt:lpstr>
      <vt:lpstr>Summary</vt:lpstr>
      <vt:lpstr>Review Question</vt:lpstr>
    </vt:vector>
  </TitlesOfParts>
  <Company>Hewlett-Packard Company</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ClassBook-LessonXX-Template IGATE</dc:title>
  <dc:creator>iGATE</dc:creator>
  <cp:lastModifiedBy>Dell</cp:lastModifiedBy>
  <cp:revision>417</cp:revision>
  <cp:lastPrinted>2016-07-14T03:25:46Z</cp:lastPrinted>
  <dcterms:created xsi:type="dcterms:W3CDTF">2012-05-18T02:59:15Z</dcterms:created>
  <dcterms:modified xsi:type="dcterms:W3CDTF">2022-09-20T07:23:12Z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Url">
    <vt:lpwstr/>
  </property>
  <property fmtid="{D5CDD505-2E9C-101B-9397-08002B2CF9AE}" pid="3" name="ContentTypeId">
    <vt:lpwstr>0x010100064F797F9BD2124B9B89E1787624A7F8</vt:lpwstr>
  </property>
  <property fmtid="{D5CDD505-2E9C-101B-9397-08002B2CF9AE}" pid="4" name="_SourceUrl">
    <vt:lpwstr/>
  </property>
</Properties>
</file>